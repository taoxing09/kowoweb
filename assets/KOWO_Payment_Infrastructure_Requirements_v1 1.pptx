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1775AF-792C-7CF3-CB3B-ECA0BDD536F0}" v="371" dt="2026-06-26T23:35:41.6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C4BFC4-3D38-49A5-BB40-B4DC398E5F15}" type="datetimeFigureOut">
              <a:t>6/26/2026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B4ACC8-723C-47E9-ABB8-C6A490F29A0B}" type="slidenum"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96847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37160"/>
            <a:ext cx="3566160" cy="3566160"/>
          </a:xfrm>
          <a:prstGeom prst="arc">
            <a:avLst/>
          </a:prstGeom>
          <a:solidFill>
            <a:srgbClr val="8DFFD3">
              <a:alpha val="8000"/>
            </a:srgbClr>
          </a:solidFill>
          <a:ln w="12700">
            <a:solidFill>
              <a:srgbClr val="8DFFD3">
                <a:alpha val="15000"/>
              </a:srgbClr>
            </a:solidFill>
            <a:prstDash val="solid"/>
          </a:ln>
        </p:spPr>
      </p:sp>
      <p:pic>
        <p:nvPicPr>
          <p:cNvPr id="3" name="Image 0" descr="/mnt/data/kowo-payment-infrastructure-pack/assets/kowo-logo-official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479842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9304" y="6217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aramond"/>
                <a:ea typeface="Jost" pitchFamily="34" charset="-122"/>
                <a:cs typeface="Jost" pitchFamily="34" charset="-120"/>
              </a:rPr>
              <a:t>KO</a:t>
            </a:r>
            <a:r>
              <a:rPr lang="en-US" sz="1400" b="1" dirty="0">
                <a:solidFill>
                  <a:srgbClr val="FFC323"/>
                </a:solidFill>
                <a:latin typeface="Garamond"/>
                <a:ea typeface="Jost" pitchFamily="34" charset="-122"/>
                <a:cs typeface="Jost" pitchFamily="34" charset="-120"/>
              </a:rPr>
              <a:t>WO</a:t>
            </a:r>
            <a:endParaRPr lang="en-US" sz="1400" dirty="0">
              <a:latin typeface="Garamond"/>
            </a:endParaRPr>
          </a:p>
        </p:txBody>
      </p:sp>
      <p:sp>
        <p:nvSpPr>
          <p:cNvPr id="5" name="Text 2"/>
          <p:cNvSpPr/>
          <p:nvPr/>
        </p:nvSpPr>
        <p:spPr>
          <a:xfrm>
            <a:off x="713232" y="1755648"/>
            <a:ext cx="6126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aramond"/>
              </a:rPr>
              <a:t>PAYMENT</a:t>
            </a:r>
            <a:endParaRPr lang="en-US" sz="4400" dirty="0">
              <a:latin typeface="Garamond"/>
            </a:endParaRPr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aramond"/>
              </a:rPr>
              <a:t>INFRASTRUCTURE</a:t>
            </a:r>
            <a:endParaRPr lang="en-US" sz="4400" dirty="0">
              <a:latin typeface="Garamond"/>
            </a:endParaRPr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aramond"/>
              </a:rPr>
              <a:t>REQUIREMENTS</a:t>
            </a:r>
            <a:endParaRPr lang="en-US" sz="4400" dirty="0">
              <a:latin typeface="Garamond"/>
            </a:endParaRPr>
          </a:p>
        </p:txBody>
      </p:sp>
      <p:sp>
        <p:nvSpPr>
          <p:cNvPr id="6" name="Text 3"/>
          <p:cNvSpPr/>
          <p:nvPr/>
        </p:nvSpPr>
        <p:spPr>
          <a:xfrm>
            <a:off x="749808" y="406908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CFE6DA"/>
                </a:solidFill>
                <a:latin typeface="Garamond"/>
              </a:rPr>
              <a:t>Wallet-based payment model for community finance, user fund segregation and platform commission settlement.</a:t>
            </a:r>
            <a:endParaRPr lang="en-US" sz="1500" dirty="0">
              <a:latin typeface="Garamond"/>
            </a:endParaRPr>
          </a:p>
        </p:txBody>
      </p:sp>
      <p:sp>
        <p:nvSpPr>
          <p:cNvPr id="7" name="Shape 4"/>
          <p:cNvSpPr/>
          <p:nvPr/>
        </p:nvSpPr>
        <p:spPr>
          <a:xfrm>
            <a:off x="749808" y="4846320"/>
            <a:ext cx="1097280" cy="310896"/>
          </a:xfrm>
          <a:prstGeom prst="roundRect">
            <a:avLst>
              <a:gd name="adj" fmla="val 35294"/>
            </a:avLst>
          </a:prstGeom>
          <a:solidFill>
            <a:srgbClr val="214F3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9536" y="4928616"/>
            <a:ext cx="8778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DFFD3"/>
                </a:solidFill>
                <a:latin typeface="Garamond"/>
              </a:rPr>
              <a:t>Version 1.0</a:t>
            </a:r>
            <a:endParaRPr lang="en-US" sz="850" dirty="0">
              <a:latin typeface="Garamond"/>
            </a:endParaRPr>
          </a:p>
        </p:txBody>
      </p:sp>
      <p:sp>
        <p:nvSpPr>
          <p:cNvPr id="9" name="Shape 6"/>
          <p:cNvSpPr/>
          <p:nvPr/>
        </p:nvSpPr>
        <p:spPr>
          <a:xfrm>
            <a:off x="1956816" y="4846320"/>
            <a:ext cx="1298448" cy="310896"/>
          </a:xfrm>
          <a:prstGeom prst="roundRect">
            <a:avLst>
              <a:gd name="adj" fmla="val 35294"/>
            </a:avLst>
          </a:prstGeom>
          <a:solidFill>
            <a:srgbClr val="214F3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066544" y="4928616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DFFD3"/>
                </a:solidFill>
                <a:latin typeface="Garamond"/>
              </a:rPr>
              <a:t>Partner-facing</a:t>
            </a:r>
            <a:endParaRPr lang="en-US" sz="850" dirty="0">
              <a:latin typeface="Garamond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364992" y="4846320"/>
            <a:ext cx="1170432" cy="310896"/>
          </a:xfrm>
          <a:prstGeom prst="roundRect">
            <a:avLst>
              <a:gd name="adj" fmla="val 35294"/>
            </a:avLst>
          </a:prstGeom>
          <a:solidFill>
            <a:srgbClr val="214F3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74720" y="4928616"/>
            <a:ext cx="9509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DFFD3"/>
                </a:solidFill>
                <a:latin typeface="Garamond"/>
              </a:rPr>
              <a:t>Confidential</a:t>
            </a:r>
            <a:endParaRPr lang="en-US" sz="850" dirty="0">
              <a:latin typeface="Garamond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49808" y="635508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8AE"/>
                </a:solidFill>
                <a:latin typeface="Garamond"/>
              </a:rPr>
              <a:t>KOWO SARL · getkowo.com · contact@getkowo.com</a:t>
            </a:r>
            <a:endParaRPr lang="en-US" sz="900" dirty="0">
              <a:latin typeface="Garamo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kowo-payment-infrastructure-pack/assets/kowo-logo-official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47472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4023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B2B"/>
                </a:solidFill>
                <a:latin typeface="Garamond"/>
                <a:ea typeface="Jost" pitchFamily="34" charset="-122"/>
                <a:cs typeface="Jost" pitchFamily="34" charset="-120"/>
              </a:rPr>
              <a:t>KO</a:t>
            </a:r>
            <a:r>
              <a:rPr lang="en-US" sz="1400" b="1" dirty="0">
                <a:solidFill>
                  <a:srgbClr val="FFC323"/>
                </a:solidFill>
                <a:latin typeface="Garamond"/>
                <a:ea typeface="Jost" pitchFamily="34" charset="-122"/>
                <a:cs typeface="Jost" pitchFamily="34" charset="-120"/>
              </a:rPr>
              <a:t>WO</a:t>
            </a:r>
            <a:endParaRPr lang="en-US" sz="1400" dirty="0">
              <a:latin typeface="Garamond"/>
            </a:endParaRPr>
          </a:p>
        </p:txBody>
      </p:sp>
      <p:sp>
        <p:nvSpPr>
          <p:cNvPr id="4" name="Text 1"/>
          <p:cNvSpPr/>
          <p:nvPr/>
        </p:nvSpPr>
        <p:spPr>
          <a:xfrm>
            <a:off x="658368" y="78638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C323"/>
                </a:solidFill>
                <a:latin typeface="Garamond"/>
              </a:rPr>
              <a:t>01 · EXECUTIVE ASK</a:t>
            </a:r>
            <a:endParaRPr lang="en-US" sz="850" dirty="0">
              <a:latin typeface="Garamond"/>
            </a:endParaRPr>
          </a:p>
        </p:txBody>
      </p:sp>
      <p:sp>
        <p:nvSpPr>
          <p:cNvPr id="5" name="Text 2"/>
          <p:cNvSpPr/>
          <p:nvPr/>
        </p:nvSpPr>
        <p:spPr>
          <a:xfrm>
            <a:off x="640080" y="1024128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E1712"/>
                </a:solidFill>
                <a:latin typeface="Garamond"/>
              </a:rPr>
              <a:t>What KOWO needs from a payment partner</a:t>
            </a:r>
            <a:endParaRPr lang="en-US" sz="2600" dirty="0">
              <a:latin typeface="Garamond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172200" y="777240"/>
            <a:ext cx="5285232" cy="987552"/>
          </a:xfrm>
          <a:prstGeom prst="roundRect">
            <a:avLst>
              <a:gd name="adj" fmla="val 14815"/>
            </a:avLst>
          </a:prstGeom>
          <a:solidFill>
            <a:srgbClr val="FFFDF8"/>
          </a:solidFill>
          <a:ln w="12700">
            <a:solidFill>
              <a:srgbClr val="DFD8C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172200" y="777240"/>
            <a:ext cx="54864" cy="987552"/>
          </a:xfrm>
          <a:prstGeom prst="rect">
            <a:avLst/>
          </a:prstGeom>
          <a:solidFill>
            <a:srgbClr val="123B2B"/>
          </a:solidFill>
          <a:ln w="12700">
            <a:solidFill>
              <a:srgbClr val="123B2B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28232" y="978408"/>
            <a:ext cx="4773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E1712"/>
                </a:solidFill>
                <a:latin typeface="Garamond"/>
              </a:rPr>
              <a:t>Core request</a:t>
            </a:r>
            <a:endParaRPr lang="en-US" sz="1400" dirty="0">
              <a:latin typeface="Garamond"/>
            </a:endParaRPr>
          </a:p>
        </p:txBody>
      </p:sp>
      <p:sp>
        <p:nvSpPr>
          <p:cNvPr id="9" name="Text 6"/>
          <p:cNvSpPr/>
          <p:nvPr/>
        </p:nvSpPr>
        <p:spPr>
          <a:xfrm>
            <a:off x="6428232" y="1344168"/>
            <a:ext cx="4773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8766E"/>
                </a:solidFill>
                <a:latin typeface="Garamond"/>
              </a:rPr>
              <a:t>Provide wallet or ledger capabilities per user, with partner-controlled payment flows, automated commission split and auditable transaction records.</a:t>
            </a:r>
            <a:endParaRPr lang="en-US" sz="1050" dirty="0">
              <a:latin typeface="Garamond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172200" y="2057400"/>
            <a:ext cx="1645920" cy="1828800"/>
          </a:xfrm>
          <a:prstGeom prst="roundRect">
            <a:avLst>
              <a:gd name="adj" fmla="val 10000"/>
            </a:avLst>
          </a:prstGeom>
          <a:solidFill>
            <a:srgbClr val="FFFDF8"/>
          </a:solidFill>
          <a:ln w="12700">
            <a:solidFill>
              <a:srgbClr val="DFD8C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73368" y="224028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Garamond"/>
              </a:rPr>
              <a:t>👤</a:t>
            </a:r>
            <a:endParaRPr lang="en-US" sz="2000" dirty="0">
              <a:latin typeface="Garamond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858000" y="22860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E1712"/>
                </a:solidFill>
                <a:latin typeface="Garamond"/>
              </a:rPr>
              <a:t>User wallets</a:t>
            </a:r>
            <a:endParaRPr lang="en-US" sz="1300" dirty="0">
              <a:latin typeface="Garamond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400800" y="2715768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8766E"/>
                </a:solidFill>
                <a:latin typeface="Garamond"/>
              </a:rPr>
              <a:t>Each user has an individual wallet/account or segregated balance.</a:t>
            </a:r>
            <a:endParaRPr lang="en-US" sz="960" dirty="0">
              <a:latin typeface="Garamond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8001000" y="2057400"/>
            <a:ext cx="1645920" cy="1828800"/>
          </a:xfrm>
          <a:prstGeom prst="roundRect">
            <a:avLst>
              <a:gd name="adj" fmla="val 10000"/>
            </a:avLst>
          </a:prstGeom>
          <a:solidFill>
            <a:srgbClr val="FFFDF8"/>
          </a:solidFill>
          <a:ln w="12700">
            <a:solidFill>
              <a:srgbClr val="DFD8C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02168" y="224028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Garamond"/>
              </a:rPr>
              <a:t>🔒</a:t>
            </a:r>
            <a:endParaRPr lang="en-US" sz="2000" dirty="0">
              <a:latin typeface="Garamond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8686800" y="22860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E1712"/>
                </a:solidFill>
                <a:latin typeface="Garamond"/>
              </a:rPr>
              <a:t>Locked balance</a:t>
            </a:r>
            <a:endParaRPr lang="en-US" sz="1300" dirty="0">
              <a:latin typeface="Garamond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8229600" y="2715768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8766E"/>
                </a:solidFill>
                <a:latin typeface="Garamond"/>
              </a:rPr>
              <a:t>Caution/deposit can be held by the regulated partner, not KOWO.</a:t>
            </a:r>
            <a:endParaRPr lang="en-US" sz="960" dirty="0">
              <a:latin typeface="Garamond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9829800" y="2057400"/>
            <a:ext cx="1645920" cy="1828800"/>
          </a:xfrm>
          <a:prstGeom prst="roundRect">
            <a:avLst>
              <a:gd name="adj" fmla="val 10000"/>
            </a:avLst>
          </a:prstGeom>
          <a:solidFill>
            <a:srgbClr val="FFFDF8"/>
          </a:solidFill>
          <a:ln w="12700">
            <a:solidFill>
              <a:srgbClr val="DFD8C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030968" y="224028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Garamond"/>
              </a:rPr>
              <a:t>％</a:t>
            </a:r>
            <a:endParaRPr lang="en-US" sz="2000" dirty="0">
              <a:latin typeface="Garamond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10515600" y="22860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E1712"/>
                </a:solidFill>
                <a:latin typeface="Garamond"/>
              </a:rPr>
              <a:t>Fee split</a:t>
            </a:r>
            <a:endParaRPr lang="en-US" sz="1300" dirty="0">
              <a:latin typeface="Garamond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10058400" y="2715768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8766E"/>
                </a:solidFill>
                <a:latin typeface="Garamond"/>
              </a:rPr>
              <a:t>KOWO commission is collected automatically and separately.</a:t>
            </a:r>
            <a:endParaRPr lang="en-US" sz="960" dirty="0">
              <a:latin typeface="Garamond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6172200" y="4160520"/>
            <a:ext cx="1645920" cy="1600200"/>
          </a:xfrm>
          <a:prstGeom prst="roundRect">
            <a:avLst>
              <a:gd name="adj" fmla="val 10286"/>
            </a:avLst>
          </a:prstGeom>
          <a:solidFill>
            <a:srgbClr val="FFFDF8"/>
          </a:solidFill>
          <a:ln w="12700">
            <a:solidFill>
              <a:srgbClr val="DFD8C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373368" y="434340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Garamond"/>
              </a:rPr>
              <a:t>📄</a:t>
            </a:r>
            <a:endParaRPr lang="en-US" sz="2000" dirty="0">
              <a:latin typeface="Garamond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6858000" y="43891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E1712"/>
                </a:solidFill>
                <a:latin typeface="Garamond"/>
              </a:rPr>
              <a:t>Traceability</a:t>
            </a:r>
            <a:endParaRPr lang="en-US" sz="1300" dirty="0">
              <a:latin typeface="Garamond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6400800" y="4818888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8766E"/>
                </a:solidFill>
                <a:latin typeface="Garamond"/>
              </a:rPr>
              <a:t>Ledger, webhooks, reconciliation and audit exports.</a:t>
            </a:r>
            <a:endParaRPr lang="en-US" sz="960" dirty="0">
              <a:latin typeface="Garamond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8001000" y="4160520"/>
            <a:ext cx="1645920" cy="1600200"/>
          </a:xfrm>
          <a:prstGeom prst="roundRect">
            <a:avLst>
              <a:gd name="adj" fmla="val 10286"/>
            </a:avLst>
          </a:prstGeom>
          <a:solidFill>
            <a:srgbClr val="FFFDF8"/>
          </a:solidFill>
          <a:ln w="12700">
            <a:solidFill>
              <a:srgbClr val="DFD8C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202168" y="434340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Garamond"/>
              </a:rPr>
              <a:t>🛡️</a:t>
            </a:r>
            <a:endParaRPr lang="en-US" sz="2000" dirty="0">
              <a:latin typeface="Garamond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8686800" y="43891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E1712"/>
                </a:solidFill>
                <a:latin typeface="Garamond"/>
              </a:rPr>
              <a:t>Compliance</a:t>
            </a:r>
            <a:endParaRPr lang="en-US" sz="1300" dirty="0">
              <a:latin typeface="Garamond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8229600" y="4818888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8766E"/>
                </a:solidFill>
                <a:latin typeface="Garamond"/>
              </a:rPr>
              <a:t>KYC/AML rules aligned with partner obligations.</a:t>
            </a:r>
            <a:endParaRPr lang="en-US" sz="960" dirty="0">
              <a:latin typeface="Garamond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9829800" y="4160520"/>
            <a:ext cx="1645920" cy="1600200"/>
          </a:xfrm>
          <a:prstGeom prst="roundRect">
            <a:avLst>
              <a:gd name="adj" fmla="val 10286"/>
            </a:avLst>
          </a:prstGeom>
          <a:solidFill>
            <a:srgbClr val="FFFDF8"/>
          </a:solidFill>
          <a:ln w="12700">
            <a:solidFill>
              <a:srgbClr val="DFD8C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0030968" y="434340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Garamond"/>
              </a:rPr>
              <a:t>⚙️</a:t>
            </a:r>
            <a:endParaRPr lang="en-US" sz="2000" dirty="0">
              <a:latin typeface="Garamond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10515600" y="43891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E1712"/>
                </a:solidFill>
                <a:latin typeface="Garamond"/>
              </a:rPr>
              <a:t>API-first</a:t>
            </a:r>
            <a:endParaRPr lang="en-US" sz="1300" dirty="0">
              <a:latin typeface="Garamond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10058400" y="4818888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8766E"/>
                </a:solidFill>
                <a:latin typeface="Garamond"/>
              </a:rPr>
              <a:t>Clear APIs for funding, holds, payouts and events.</a:t>
            </a:r>
            <a:endParaRPr lang="en-US" sz="960" dirty="0">
              <a:latin typeface="Garamond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502920" y="644652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8766E"/>
                </a:solidFill>
                <a:latin typeface="Garamond"/>
              </a:rPr>
              <a:t>Payment Infrastructure Requirements</a:t>
            </a:r>
            <a:endParaRPr lang="en-US" sz="850" dirty="0">
              <a:latin typeface="Garamond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8766E"/>
                </a:solidFill>
                <a:latin typeface="Garamond"/>
              </a:rPr>
              <a:t>02</a:t>
            </a:r>
            <a:endParaRPr lang="en-US" sz="850" dirty="0">
              <a:latin typeface="Garamo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3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kowo-payment-infrastructure-pack/assets/kowo-logo-official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47472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4023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aramond"/>
                <a:ea typeface="Jost" pitchFamily="34" charset="-122"/>
                <a:cs typeface="Jost" pitchFamily="34" charset="-120"/>
              </a:rPr>
              <a:t>KO</a:t>
            </a:r>
            <a:r>
              <a:rPr lang="en-US" sz="1400" b="1" dirty="0">
                <a:solidFill>
                  <a:srgbClr val="FFC323"/>
                </a:solidFill>
                <a:latin typeface="Garamond"/>
                <a:ea typeface="Jost" pitchFamily="34" charset="-122"/>
                <a:cs typeface="Jost" pitchFamily="34" charset="-120"/>
              </a:rPr>
              <a:t>WO</a:t>
            </a:r>
            <a:endParaRPr lang="en-US" sz="1400" dirty="0">
              <a:latin typeface="Garamond"/>
            </a:endParaRPr>
          </a:p>
        </p:txBody>
      </p:sp>
      <p:sp>
        <p:nvSpPr>
          <p:cNvPr id="4" name="Text 1"/>
          <p:cNvSpPr/>
          <p:nvPr/>
        </p:nvSpPr>
        <p:spPr>
          <a:xfrm>
            <a:off x="658368" y="78638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C323"/>
                </a:solidFill>
                <a:latin typeface="Garamond"/>
              </a:rPr>
              <a:t>02 · GUIDING PRINCIPLE</a:t>
            </a:r>
            <a:endParaRPr lang="en-US" sz="850" dirty="0">
              <a:latin typeface="Garamond"/>
            </a:endParaRPr>
          </a:p>
        </p:txBody>
      </p:sp>
      <p:sp>
        <p:nvSpPr>
          <p:cNvPr id="5" name="Text 2"/>
          <p:cNvSpPr/>
          <p:nvPr/>
        </p:nvSpPr>
        <p:spPr>
          <a:xfrm>
            <a:off x="640080" y="1024128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aramond"/>
              </a:rPr>
              <a:t>No commingling of user funds</a:t>
            </a:r>
            <a:endParaRPr lang="en-US" sz="2600" dirty="0">
              <a:latin typeface="Garamond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85800" y="3017520"/>
            <a:ext cx="3291840" cy="1097280"/>
          </a:xfrm>
          <a:prstGeom prst="roundRect">
            <a:avLst>
              <a:gd name="adj" fmla="val 13333"/>
            </a:avLst>
          </a:prstGeom>
          <a:solidFill>
            <a:srgbClr val="1C563E"/>
          </a:solidFill>
          <a:ln w="12700">
            <a:solidFill>
              <a:srgbClr val="2C765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3017520"/>
            <a:ext cx="54864" cy="1097280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41832" y="3218688"/>
            <a:ext cx="2779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aramond"/>
              </a:rPr>
              <a:t>Rejected model</a:t>
            </a:r>
            <a:endParaRPr lang="en-US" sz="1400" dirty="0">
              <a:latin typeface="Garamond"/>
            </a:endParaRPr>
          </a:p>
        </p:txBody>
      </p:sp>
      <p:sp>
        <p:nvSpPr>
          <p:cNvPr id="9" name="Text 6"/>
          <p:cNvSpPr/>
          <p:nvPr/>
        </p:nvSpPr>
        <p:spPr>
          <a:xfrm>
            <a:off x="941832" y="3584448"/>
            <a:ext cx="2779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CAD7CF"/>
                </a:solidFill>
                <a:latin typeface="Garamond"/>
              </a:rPr>
              <a:t>All contributions arrive on a single KOWO merchant account, then KOWO redistributes later.</a:t>
            </a:r>
            <a:endParaRPr lang="en-US" sz="1050" dirty="0">
              <a:latin typeface="Garamond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434840" y="3017520"/>
            <a:ext cx="3291840" cy="1097280"/>
          </a:xfrm>
          <a:prstGeom prst="roundRect">
            <a:avLst>
              <a:gd name="adj" fmla="val 13333"/>
            </a:avLst>
          </a:prstGeom>
          <a:solidFill>
            <a:srgbClr val="1C563E"/>
          </a:solidFill>
          <a:ln w="12700">
            <a:solidFill>
              <a:srgbClr val="2C765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434840" y="3017520"/>
            <a:ext cx="54864" cy="1097280"/>
          </a:xfrm>
          <a:prstGeom prst="rect">
            <a:avLst/>
          </a:prstGeom>
          <a:solidFill>
            <a:srgbClr val="8DFFD3"/>
          </a:solidFill>
          <a:ln w="12700">
            <a:solidFill>
              <a:srgbClr val="8DFFD3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90872" y="3218688"/>
            <a:ext cx="2779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aramond"/>
              </a:rPr>
              <a:t>Target model</a:t>
            </a:r>
            <a:endParaRPr lang="en-US" sz="1400" dirty="0">
              <a:latin typeface="Garamond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690872" y="3584448"/>
            <a:ext cx="2779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CAD7CF"/>
                </a:solidFill>
                <a:latin typeface="Garamond"/>
              </a:rPr>
              <a:t>Funds are maintained in user wallets/segregated balances managed by the regulated partner.</a:t>
            </a:r>
            <a:endParaRPr lang="en-US" sz="1050" dirty="0">
              <a:latin typeface="Garamond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8183880" y="3017520"/>
            <a:ext cx="3291840" cy="1097280"/>
          </a:xfrm>
          <a:prstGeom prst="roundRect">
            <a:avLst>
              <a:gd name="adj" fmla="val 13333"/>
            </a:avLst>
          </a:prstGeom>
          <a:solidFill>
            <a:srgbClr val="1C563E"/>
          </a:solidFill>
          <a:ln w="12700">
            <a:solidFill>
              <a:srgbClr val="2C765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183880" y="3017520"/>
            <a:ext cx="54864" cy="1097280"/>
          </a:xfrm>
          <a:prstGeom prst="rect">
            <a:avLst/>
          </a:prstGeom>
          <a:solidFill>
            <a:srgbClr val="FFC323"/>
          </a:solidFill>
          <a:ln w="12700">
            <a:solidFill>
              <a:srgbClr val="FFC323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39912" y="3218688"/>
            <a:ext cx="2779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aramond"/>
              </a:rPr>
              <a:t>Platform revenue</a:t>
            </a:r>
            <a:endParaRPr lang="en-US" sz="1400" dirty="0">
              <a:latin typeface="Garamond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8439912" y="3584448"/>
            <a:ext cx="2779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CAD7CF"/>
                </a:solidFill>
                <a:latin typeface="Garamond"/>
              </a:rPr>
              <a:t>KOWO commission is automatically deducted and settled to KOWO’s wallet/account.</a:t>
            </a:r>
            <a:endParaRPr lang="en-US" sz="1050" dirty="0">
              <a:latin typeface="Garamond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94944" y="57150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aramond"/>
              </a:rPr>
              <a:t>Design objective: make the financial flow understandable before it becomes large.</a:t>
            </a:r>
            <a:endParaRPr lang="en-US" sz="1800" dirty="0">
              <a:latin typeface="Garamond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502920" y="644652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9B8AE"/>
                </a:solidFill>
                <a:latin typeface="Garamond"/>
              </a:rPr>
              <a:t>Payment Infrastructure Requirements</a:t>
            </a:r>
            <a:endParaRPr lang="en-US" sz="850" dirty="0">
              <a:latin typeface="Garamond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9B8AE"/>
                </a:solidFill>
                <a:latin typeface="Garamond"/>
              </a:rPr>
              <a:t>03</a:t>
            </a:r>
            <a:endParaRPr lang="en-US" sz="850" dirty="0">
              <a:latin typeface="Garamo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kowo-payment-infrastructure-pack/assets/kowo-logo-official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47472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4023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B2B"/>
                </a:solidFill>
                <a:latin typeface="Garamond"/>
                <a:ea typeface="Jost" pitchFamily="34" charset="-122"/>
                <a:cs typeface="Jost" pitchFamily="34" charset="-120"/>
              </a:rPr>
              <a:t>KO</a:t>
            </a:r>
            <a:r>
              <a:rPr lang="en-US" sz="1400" b="1" dirty="0">
                <a:solidFill>
                  <a:srgbClr val="FFC323"/>
                </a:solidFill>
                <a:latin typeface="Garamond"/>
                <a:ea typeface="Jost" pitchFamily="34" charset="-122"/>
                <a:cs typeface="Jost" pitchFamily="34" charset="-120"/>
              </a:rPr>
              <a:t>WO</a:t>
            </a:r>
            <a:endParaRPr lang="en-US" sz="1400" dirty="0">
              <a:latin typeface="Garamond"/>
            </a:endParaRPr>
          </a:p>
        </p:txBody>
      </p:sp>
      <p:sp>
        <p:nvSpPr>
          <p:cNvPr id="4" name="Text 1"/>
          <p:cNvSpPr/>
          <p:nvPr/>
        </p:nvSpPr>
        <p:spPr>
          <a:xfrm>
            <a:off x="658368" y="78638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C323"/>
                </a:solidFill>
                <a:latin typeface="Garamond"/>
              </a:rPr>
              <a:t>03 · TARGET WALLET MODEL</a:t>
            </a:r>
            <a:endParaRPr lang="en-US" sz="850" dirty="0">
              <a:latin typeface="Garamond"/>
            </a:endParaRPr>
          </a:p>
        </p:txBody>
      </p:sp>
      <p:sp>
        <p:nvSpPr>
          <p:cNvPr id="5" name="Text 2"/>
          <p:cNvSpPr/>
          <p:nvPr/>
        </p:nvSpPr>
        <p:spPr>
          <a:xfrm>
            <a:off x="640080" y="1024128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E1712"/>
                </a:solidFill>
                <a:latin typeface="Garamond"/>
              </a:rPr>
              <a:t>Segregated user balances with platform commission</a:t>
            </a:r>
            <a:endParaRPr lang="en-US" sz="2600" dirty="0">
              <a:latin typeface="Garamond"/>
            </a:endParaRPr>
          </a:p>
        </p:txBody>
      </p:sp>
      <p:sp>
        <p:nvSpPr>
          <p:cNvPr id="6" name="Shape 3"/>
          <p:cNvSpPr/>
          <p:nvPr/>
        </p:nvSpPr>
        <p:spPr>
          <a:xfrm>
            <a:off x="2194560" y="2926080"/>
            <a:ext cx="1508760" cy="0"/>
          </a:xfrm>
          <a:prstGeom prst="line">
            <a:avLst/>
          </a:prstGeom>
          <a:noFill/>
          <a:ln w="12700">
            <a:solidFill>
              <a:srgbClr val="FFC323"/>
            </a:solidFill>
            <a:prstDash val="solid"/>
            <a:headEnd type="none"/>
            <a:tailEnd type="triangle"/>
          </a:ln>
        </p:spPr>
      </p:sp>
      <p:sp>
        <p:nvSpPr>
          <p:cNvPr id="7" name="Shape 4"/>
          <p:cNvSpPr/>
          <p:nvPr/>
        </p:nvSpPr>
        <p:spPr>
          <a:xfrm>
            <a:off x="4663440" y="2926080"/>
            <a:ext cx="1508760" cy="0"/>
          </a:xfrm>
          <a:prstGeom prst="line">
            <a:avLst/>
          </a:prstGeom>
          <a:noFill/>
          <a:ln w="12700">
            <a:solidFill>
              <a:srgbClr val="FFC323"/>
            </a:solidFill>
            <a:prstDash val="solid"/>
            <a:headEnd type="none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7178040" y="2926080"/>
            <a:ext cx="1508760" cy="0"/>
          </a:xfrm>
          <a:prstGeom prst="line">
            <a:avLst/>
          </a:prstGeom>
          <a:noFill/>
          <a:ln w="12700">
            <a:solidFill>
              <a:srgbClr val="FFC323"/>
            </a:solidFill>
            <a:prstDash val="solid"/>
            <a:headEnd type="none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9098280" y="3703320"/>
            <a:ext cx="0" cy="960120"/>
          </a:xfrm>
          <a:prstGeom prst="line">
            <a:avLst/>
          </a:prstGeom>
          <a:noFill/>
          <a:ln w="12700">
            <a:solidFill>
              <a:srgbClr val="123B2B"/>
            </a:solidFill>
            <a:prstDash val="solid"/>
            <a:headEnd type="none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6492240" y="3703320"/>
            <a:ext cx="0" cy="960120"/>
          </a:xfrm>
          <a:prstGeom prst="line">
            <a:avLst/>
          </a:prstGeom>
          <a:noFill/>
          <a:ln w="12700">
            <a:solidFill>
              <a:srgbClr val="FFC323"/>
            </a:solidFill>
            <a:prstDash val="solid"/>
            <a:headEnd type="none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777240" y="2212848"/>
            <a:ext cx="1371600" cy="1417320"/>
          </a:xfrm>
          <a:prstGeom prst="roundRect">
            <a:avLst>
              <a:gd name="adj" fmla="val 10667"/>
            </a:avLst>
          </a:prstGeom>
          <a:solidFill>
            <a:srgbClr val="F2F7F4"/>
          </a:solidFill>
          <a:ln w="12700">
            <a:solidFill>
              <a:srgbClr val="DFD8C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33272" y="2414016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E1712"/>
                </a:solidFill>
                <a:latin typeface="Garamond"/>
              </a:rPr>
              <a:t>User A</a:t>
            </a:r>
            <a:endParaRPr lang="en-US" sz="1400" dirty="0">
              <a:latin typeface="Garamond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033272" y="2779776"/>
            <a:ext cx="85953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8766E"/>
                </a:solidFill>
                <a:latin typeface="Garamond"/>
              </a:rPr>
              <a:t>Wallet A</a:t>
            </a:r>
            <a:endParaRPr lang="en-US" sz="1050" dirty="0">
              <a:latin typeface="Garamond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68766E"/>
                </a:solidFill>
                <a:latin typeface="Garamond"/>
              </a:rPr>
              <a:t>Partner-managed</a:t>
            </a:r>
            <a:endParaRPr lang="en-US" sz="1050" dirty="0">
              <a:latin typeface="Garamond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2606040" y="2212848"/>
            <a:ext cx="1371600" cy="1417320"/>
          </a:xfrm>
          <a:prstGeom prst="roundRect">
            <a:avLst>
              <a:gd name="adj" fmla="val 10667"/>
            </a:avLst>
          </a:prstGeom>
          <a:solidFill>
            <a:srgbClr val="F2F7F4"/>
          </a:solidFill>
          <a:ln w="12700">
            <a:solidFill>
              <a:srgbClr val="DFD8C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862072" y="2414016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E1712"/>
                </a:solidFill>
                <a:latin typeface="Garamond"/>
              </a:rPr>
              <a:t>User B</a:t>
            </a:r>
            <a:endParaRPr lang="en-US" sz="1400" dirty="0">
              <a:latin typeface="Garamond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2862072" y="2779776"/>
            <a:ext cx="85953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8766E"/>
                </a:solidFill>
                <a:latin typeface="Garamond"/>
              </a:rPr>
              <a:t>Wallet B</a:t>
            </a:r>
            <a:endParaRPr lang="en-US" sz="1050" dirty="0">
              <a:latin typeface="Garamond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68766E"/>
                </a:solidFill>
                <a:latin typeface="Garamond"/>
              </a:rPr>
              <a:t>Partner-managed</a:t>
            </a:r>
            <a:endParaRPr lang="en-US" sz="1050" dirty="0">
              <a:latin typeface="Garamond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4434840" y="2212848"/>
            <a:ext cx="1371600" cy="1417320"/>
          </a:xfrm>
          <a:prstGeom prst="roundRect">
            <a:avLst>
              <a:gd name="adj" fmla="val 10667"/>
            </a:avLst>
          </a:prstGeom>
          <a:solidFill>
            <a:srgbClr val="F2F7F4"/>
          </a:solidFill>
          <a:ln w="12700">
            <a:solidFill>
              <a:srgbClr val="DFD8C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90872" y="2414016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E1712"/>
                </a:solidFill>
                <a:latin typeface="Garamond"/>
              </a:rPr>
              <a:t>User C</a:t>
            </a:r>
            <a:endParaRPr lang="en-US" sz="1400" dirty="0">
              <a:latin typeface="Garamond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4690872" y="2779776"/>
            <a:ext cx="85953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8766E"/>
                </a:solidFill>
                <a:latin typeface="Garamond"/>
              </a:rPr>
              <a:t>Wallet C</a:t>
            </a:r>
            <a:endParaRPr lang="en-US" sz="1050" dirty="0">
              <a:latin typeface="Garamond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68766E"/>
                </a:solidFill>
                <a:latin typeface="Garamond"/>
              </a:rPr>
              <a:t>Partner-managed</a:t>
            </a:r>
            <a:endParaRPr lang="en-US" sz="1050" dirty="0">
              <a:latin typeface="Garamond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6263640" y="2212848"/>
            <a:ext cx="1417320" cy="1417320"/>
          </a:xfrm>
          <a:prstGeom prst="roundRect">
            <a:avLst>
              <a:gd name="adj" fmla="val 10323"/>
            </a:avLst>
          </a:prstGeom>
          <a:solidFill>
            <a:srgbClr val="FFF8E1"/>
          </a:solidFill>
          <a:ln w="12700">
            <a:solidFill>
              <a:srgbClr val="DFD8C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263640" y="2212848"/>
            <a:ext cx="54864" cy="1417320"/>
          </a:xfrm>
          <a:prstGeom prst="rect">
            <a:avLst/>
          </a:prstGeom>
          <a:solidFill>
            <a:srgbClr val="FFC323"/>
          </a:solidFill>
          <a:ln w="12700">
            <a:solidFill>
              <a:srgbClr val="FFC323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19672" y="2414016"/>
            <a:ext cx="905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E1712"/>
                </a:solidFill>
                <a:latin typeface="Garamond"/>
              </a:rPr>
              <a:t>Group rules</a:t>
            </a:r>
            <a:endParaRPr lang="en-US" sz="1400" dirty="0">
              <a:latin typeface="Garamond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6519672" y="2779776"/>
            <a:ext cx="90525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8766E"/>
                </a:solidFill>
                <a:latin typeface="Garamond"/>
              </a:rPr>
              <a:t>Contribution schedule</a:t>
            </a:r>
            <a:endParaRPr lang="en-US" sz="1050" dirty="0">
              <a:latin typeface="Garamond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68766E"/>
                </a:solidFill>
                <a:latin typeface="Garamond"/>
              </a:rPr>
              <a:t>Rotation order</a:t>
            </a:r>
            <a:endParaRPr lang="en-US" sz="1050" dirty="0">
              <a:latin typeface="Garamond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8229600" y="2212848"/>
            <a:ext cx="1874520" cy="1417320"/>
          </a:xfrm>
          <a:prstGeom prst="roundRect">
            <a:avLst>
              <a:gd name="adj" fmla="val 10323"/>
            </a:avLst>
          </a:prstGeom>
          <a:solidFill>
            <a:srgbClr val="F2F7F4"/>
          </a:solidFill>
          <a:ln w="12700">
            <a:solidFill>
              <a:srgbClr val="DFD8C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229600" y="2212848"/>
            <a:ext cx="54864" cy="1417320"/>
          </a:xfrm>
          <a:prstGeom prst="rect">
            <a:avLst/>
          </a:prstGeom>
          <a:solidFill>
            <a:srgbClr val="123B2B"/>
          </a:solidFill>
          <a:ln w="12700">
            <a:solidFill>
              <a:srgbClr val="123B2B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485632" y="2414016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E1712"/>
                </a:solidFill>
                <a:latin typeface="Garamond"/>
              </a:rPr>
              <a:t>Beneficiary</a:t>
            </a:r>
            <a:endParaRPr lang="en-US" sz="1400" dirty="0">
              <a:latin typeface="Garamond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8485632" y="2779776"/>
            <a:ext cx="136245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8766E"/>
                </a:solidFill>
                <a:latin typeface="Garamond"/>
              </a:rPr>
              <a:t>Payout executed by partner</a:t>
            </a:r>
            <a:endParaRPr lang="en-US" sz="1050" dirty="0">
              <a:latin typeface="Garamond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8183880" y="4617720"/>
            <a:ext cx="1828800" cy="914400"/>
          </a:xfrm>
          <a:prstGeom prst="roundRect">
            <a:avLst>
              <a:gd name="adj" fmla="val 16000"/>
            </a:avLst>
          </a:prstGeom>
          <a:solidFill>
            <a:srgbClr val="FFF8E1"/>
          </a:solidFill>
          <a:ln w="12700">
            <a:solidFill>
              <a:srgbClr val="DFD8C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183880" y="4617720"/>
            <a:ext cx="54864" cy="914400"/>
          </a:xfrm>
          <a:prstGeom prst="rect">
            <a:avLst/>
          </a:prstGeom>
          <a:solidFill>
            <a:srgbClr val="FFC323"/>
          </a:solidFill>
          <a:ln w="12700">
            <a:solidFill>
              <a:srgbClr val="FFC323">
                <a:alpha val="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439912" y="4818888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E1712"/>
                </a:solidFill>
                <a:latin typeface="Garamond"/>
              </a:rPr>
              <a:t>KOWO</a:t>
            </a:r>
            <a:endParaRPr lang="en-US" sz="1400" dirty="0">
              <a:latin typeface="Garamond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8439912" y="5184648"/>
            <a:ext cx="1316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8766E"/>
                </a:solidFill>
                <a:latin typeface="Garamond"/>
              </a:rPr>
              <a:t>Commission only</a:t>
            </a:r>
            <a:endParaRPr lang="en-US" sz="1050" dirty="0">
              <a:latin typeface="Garamond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777240" y="5806440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8766E"/>
                </a:solidFill>
                <a:latin typeface="Garamond"/>
              </a:rPr>
              <a:t>KOWO orchestrates rules and UX. The regulated partner holds, moves and records the funds.</a:t>
            </a:r>
            <a:endParaRPr lang="en-US" sz="1250" dirty="0">
              <a:latin typeface="Garamond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502920" y="644652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8766E"/>
                </a:solidFill>
                <a:latin typeface="Garamond"/>
              </a:rPr>
              <a:t>Payment Infrastructure Requirements</a:t>
            </a:r>
            <a:endParaRPr lang="en-US" sz="850" dirty="0">
              <a:latin typeface="Garamond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8766E"/>
                </a:solidFill>
                <a:latin typeface="Garamond"/>
              </a:rPr>
              <a:t>04</a:t>
            </a:r>
            <a:endParaRPr lang="en-US" sz="850" dirty="0">
              <a:latin typeface="Garamo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kowo-payment-infrastructure-pack/assets/kowo-logo-official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47472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4023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B2B"/>
                </a:solidFill>
                <a:latin typeface="Garamond"/>
                <a:ea typeface="Jost" pitchFamily="34" charset="-122"/>
                <a:cs typeface="Jost" pitchFamily="34" charset="-120"/>
              </a:rPr>
              <a:t>KO</a:t>
            </a:r>
            <a:r>
              <a:rPr lang="en-US" sz="1400" b="1" dirty="0">
                <a:solidFill>
                  <a:srgbClr val="FFC323"/>
                </a:solidFill>
                <a:latin typeface="Garamond"/>
                <a:ea typeface="Jost" pitchFamily="34" charset="-122"/>
                <a:cs typeface="Jost" pitchFamily="34" charset="-120"/>
              </a:rPr>
              <a:t>WO</a:t>
            </a:r>
            <a:endParaRPr lang="en-US" sz="1400" dirty="0">
              <a:latin typeface="Garamond"/>
            </a:endParaRPr>
          </a:p>
        </p:txBody>
      </p:sp>
      <p:sp>
        <p:nvSpPr>
          <p:cNvPr id="4" name="Text 1"/>
          <p:cNvSpPr/>
          <p:nvPr/>
        </p:nvSpPr>
        <p:spPr>
          <a:xfrm>
            <a:off x="658368" y="78638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C323"/>
                </a:solidFill>
                <a:latin typeface="Garamond"/>
              </a:rPr>
              <a:t>04 · SUPPORTED USE CASES</a:t>
            </a:r>
            <a:endParaRPr lang="en-US" sz="850" dirty="0">
              <a:latin typeface="Garamond"/>
            </a:endParaRPr>
          </a:p>
        </p:txBody>
      </p:sp>
      <p:sp>
        <p:nvSpPr>
          <p:cNvPr id="5" name="Text 2"/>
          <p:cNvSpPr/>
          <p:nvPr/>
        </p:nvSpPr>
        <p:spPr>
          <a:xfrm>
            <a:off x="640080" y="1024128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E1712"/>
                </a:solidFill>
                <a:latin typeface="Garamond"/>
              </a:rPr>
              <a:t>The model must cover KOWO’s current and near-term product</a:t>
            </a:r>
            <a:endParaRPr lang="en-US" sz="2600" dirty="0">
              <a:latin typeface="Garamond"/>
            </a:endParaRPr>
          </a:p>
        </p:txBody>
      </p:sp>
      <p:sp>
        <p:nvSpPr>
          <p:cNvPr id="6" name="Shape 3"/>
          <p:cNvSpPr/>
          <p:nvPr/>
        </p:nvSpPr>
        <p:spPr>
          <a:xfrm>
            <a:off x="731520" y="1874520"/>
            <a:ext cx="3154680" cy="1143000"/>
          </a:xfrm>
          <a:prstGeom prst="roundRect">
            <a:avLst>
              <a:gd name="adj" fmla="val 12800"/>
            </a:avLst>
          </a:prstGeom>
          <a:solidFill>
            <a:srgbClr val="F2F7F4"/>
          </a:solidFill>
          <a:ln w="12700">
            <a:solidFill>
              <a:srgbClr val="DFD8C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" y="1874520"/>
            <a:ext cx="54864" cy="1143000"/>
          </a:xfrm>
          <a:prstGeom prst="rect">
            <a:avLst/>
          </a:prstGeom>
          <a:solidFill>
            <a:srgbClr val="123B2B"/>
          </a:solidFill>
          <a:ln w="12700">
            <a:solidFill>
              <a:srgbClr val="123B2B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87552" y="2075688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E1712"/>
                </a:solidFill>
                <a:latin typeface="Garamond"/>
              </a:rPr>
              <a:t>Épargne collective</a:t>
            </a:r>
            <a:endParaRPr lang="en-US" sz="1400" dirty="0">
              <a:latin typeface="Garamond"/>
            </a:endParaRPr>
          </a:p>
        </p:txBody>
      </p:sp>
      <p:sp>
        <p:nvSpPr>
          <p:cNvPr id="9" name="Text 6"/>
          <p:cNvSpPr/>
          <p:nvPr/>
        </p:nvSpPr>
        <p:spPr>
          <a:xfrm>
            <a:off x="987552" y="2441448"/>
            <a:ext cx="26426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8766E"/>
                </a:solidFill>
                <a:latin typeface="Garamond"/>
              </a:rPr>
              <a:t>Recurring contributions and rotation payouts.</a:t>
            </a:r>
            <a:endParaRPr lang="en-US" sz="1050" dirty="0">
              <a:latin typeface="Garamond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434840" y="1874520"/>
            <a:ext cx="3154680" cy="1143000"/>
          </a:xfrm>
          <a:prstGeom prst="roundRect">
            <a:avLst>
              <a:gd name="adj" fmla="val 12800"/>
            </a:avLst>
          </a:prstGeom>
          <a:solidFill>
            <a:srgbClr val="FFF8E1"/>
          </a:solidFill>
          <a:ln w="12700">
            <a:solidFill>
              <a:srgbClr val="DFD8C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434840" y="1874520"/>
            <a:ext cx="54864" cy="1143000"/>
          </a:xfrm>
          <a:prstGeom prst="rect">
            <a:avLst/>
          </a:prstGeom>
          <a:solidFill>
            <a:srgbClr val="FFC323"/>
          </a:solidFill>
          <a:ln w="12700">
            <a:solidFill>
              <a:srgbClr val="FFC323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90872" y="2075688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E1712"/>
                </a:solidFill>
                <a:latin typeface="Garamond"/>
              </a:rPr>
              <a:t>Caution / guarantee hold</a:t>
            </a:r>
            <a:endParaRPr lang="en-US" sz="1400" dirty="0">
              <a:latin typeface="Garamond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690872" y="2441448"/>
            <a:ext cx="26426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8766E"/>
                </a:solidFill>
                <a:latin typeface="Garamond"/>
              </a:rPr>
              <a:t>Amount locked temporarily to reduce default risk.</a:t>
            </a:r>
            <a:endParaRPr lang="en-US" sz="1050" dirty="0">
              <a:latin typeface="Garamond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8138160" y="1874520"/>
            <a:ext cx="3154680" cy="1143000"/>
          </a:xfrm>
          <a:prstGeom prst="roundRect">
            <a:avLst>
              <a:gd name="adj" fmla="val 12800"/>
            </a:avLst>
          </a:prstGeom>
          <a:solidFill>
            <a:srgbClr val="F2F7F4"/>
          </a:solidFill>
          <a:ln w="12700">
            <a:solidFill>
              <a:srgbClr val="DFD8C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138160" y="1874520"/>
            <a:ext cx="54864" cy="1143000"/>
          </a:xfrm>
          <a:prstGeom prst="rect">
            <a:avLst/>
          </a:prstGeom>
          <a:solidFill>
            <a:srgbClr val="123B2B"/>
          </a:solidFill>
          <a:ln w="12700">
            <a:solidFill>
              <a:srgbClr val="123B2B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94192" y="2075688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E1712"/>
                </a:solidFill>
                <a:latin typeface="Garamond"/>
              </a:rPr>
              <a:t>Community projects</a:t>
            </a:r>
            <a:endParaRPr lang="en-US" sz="1400" dirty="0">
              <a:latin typeface="Garamond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8394192" y="2441448"/>
            <a:ext cx="26426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8766E"/>
                </a:solidFill>
                <a:latin typeface="Garamond"/>
              </a:rPr>
              <a:t>Contributions towards a project milestone or beneficiary.</a:t>
            </a:r>
            <a:endParaRPr lang="en-US" sz="1050" dirty="0">
              <a:latin typeface="Garamond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731520" y="3383280"/>
            <a:ext cx="3154680" cy="1143000"/>
          </a:xfrm>
          <a:prstGeom prst="roundRect">
            <a:avLst>
              <a:gd name="adj" fmla="val 12800"/>
            </a:avLst>
          </a:prstGeom>
          <a:solidFill>
            <a:srgbClr val="FFF8E1"/>
          </a:solidFill>
          <a:ln w="12700">
            <a:solidFill>
              <a:srgbClr val="DFD8C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31520" y="3383280"/>
            <a:ext cx="54864" cy="1143000"/>
          </a:xfrm>
          <a:prstGeom prst="rect">
            <a:avLst/>
          </a:prstGeom>
          <a:solidFill>
            <a:srgbClr val="FFC323"/>
          </a:solidFill>
          <a:ln w="12700">
            <a:solidFill>
              <a:srgbClr val="FFC323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87552" y="3584448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E1712"/>
                </a:solidFill>
                <a:latin typeface="Garamond"/>
              </a:rPr>
              <a:t>Donations</a:t>
            </a:r>
            <a:endParaRPr lang="en-US" sz="1400" dirty="0">
              <a:latin typeface="Garamond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987552" y="3950208"/>
            <a:ext cx="26426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8766E"/>
                </a:solidFill>
                <a:latin typeface="Garamond"/>
              </a:rPr>
              <a:t>Diaspora or local support flows towards a project/person.</a:t>
            </a:r>
            <a:endParaRPr lang="en-US" sz="1050" dirty="0">
              <a:latin typeface="Garamond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4434840" y="3383280"/>
            <a:ext cx="3154680" cy="1143000"/>
          </a:xfrm>
          <a:prstGeom prst="roundRect">
            <a:avLst>
              <a:gd name="adj" fmla="val 12800"/>
            </a:avLst>
          </a:prstGeom>
          <a:solidFill>
            <a:srgbClr val="F2F7F4"/>
          </a:solidFill>
          <a:ln w="12700">
            <a:solidFill>
              <a:srgbClr val="DFD8C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434840" y="3383280"/>
            <a:ext cx="54864" cy="1143000"/>
          </a:xfrm>
          <a:prstGeom prst="rect">
            <a:avLst/>
          </a:prstGeom>
          <a:solidFill>
            <a:srgbClr val="123B2B"/>
          </a:solidFill>
          <a:ln w="12700">
            <a:solidFill>
              <a:srgbClr val="123B2B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90872" y="3584448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E1712"/>
                </a:solidFill>
                <a:latin typeface="Garamond"/>
              </a:rPr>
              <a:t>Platform fees</a:t>
            </a:r>
            <a:endParaRPr lang="en-US" sz="1400" dirty="0">
              <a:latin typeface="Garamond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4690872" y="3950208"/>
            <a:ext cx="26426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8766E"/>
                </a:solidFill>
                <a:latin typeface="Garamond"/>
              </a:rPr>
              <a:t>Automatic commission split to KOWO.</a:t>
            </a:r>
            <a:endParaRPr lang="en-US" sz="1050" dirty="0">
              <a:latin typeface="Garamond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8138160" y="3383280"/>
            <a:ext cx="3154680" cy="1143000"/>
          </a:xfrm>
          <a:prstGeom prst="roundRect">
            <a:avLst>
              <a:gd name="adj" fmla="val 12800"/>
            </a:avLst>
          </a:prstGeom>
          <a:solidFill>
            <a:srgbClr val="FFF8E1"/>
          </a:solidFill>
          <a:ln w="12700">
            <a:solidFill>
              <a:srgbClr val="DFD8C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138160" y="3383280"/>
            <a:ext cx="54864" cy="1143000"/>
          </a:xfrm>
          <a:prstGeom prst="rect">
            <a:avLst/>
          </a:prstGeom>
          <a:solidFill>
            <a:srgbClr val="FFC323"/>
          </a:solidFill>
          <a:ln w="12700">
            <a:solidFill>
              <a:srgbClr val="FFC323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394192" y="3584448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E1712"/>
                </a:solidFill>
                <a:latin typeface="Garamond"/>
              </a:rPr>
              <a:t>Partner-led investment</a:t>
            </a:r>
            <a:endParaRPr lang="en-US" sz="1400" dirty="0">
              <a:latin typeface="Garamond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8394192" y="3950208"/>
            <a:ext cx="26426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8766E"/>
                </a:solidFill>
                <a:latin typeface="Garamond"/>
              </a:rPr>
              <a:t>Future access through regulated SGI/banks only.</a:t>
            </a:r>
            <a:endParaRPr lang="en-US" sz="1050" dirty="0">
              <a:latin typeface="Garamond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502920" y="644652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8766E"/>
                </a:solidFill>
                <a:latin typeface="Garamond"/>
              </a:rPr>
              <a:t>Payment Infrastructure Requirements</a:t>
            </a:r>
            <a:endParaRPr lang="en-US" sz="850" dirty="0">
              <a:latin typeface="Garamond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8766E"/>
                </a:solidFill>
                <a:latin typeface="Garamond"/>
              </a:rPr>
              <a:t>05</a:t>
            </a:r>
            <a:endParaRPr lang="en-US" sz="850" dirty="0">
              <a:latin typeface="Garamon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3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kowo-payment-infrastructure-pack/assets/kowo-logo-official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47472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4023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aramond"/>
                <a:ea typeface="Jost" pitchFamily="34" charset="-122"/>
                <a:cs typeface="Jost" pitchFamily="34" charset="-120"/>
              </a:rPr>
              <a:t>KO</a:t>
            </a:r>
            <a:r>
              <a:rPr lang="en-US" sz="1400" b="1" dirty="0">
                <a:solidFill>
                  <a:srgbClr val="FFC323"/>
                </a:solidFill>
                <a:latin typeface="Garamond"/>
                <a:ea typeface="Jost" pitchFamily="34" charset="-122"/>
                <a:cs typeface="Jost" pitchFamily="34" charset="-120"/>
              </a:rPr>
              <a:t>WO</a:t>
            </a:r>
            <a:endParaRPr lang="en-US" sz="1400" dirty="0">
              <a:latin typeface="Garamond"/>
            </a:endParaRPr>
          </a:p>
        </p:txBody>
      </p:sp>
      <p:sp>
        <p:nvSpPr>
          <p:cNvPr id="4" name="Text 1"/>
          <p:cNvSpPr/>
          <p:nvPr/>
        </p:nvSpPr>
        <p:spPr>
          <a:xfrm>
            <a:off x="658368" y="78638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C323"/>
                </a:solidFill>
                <a:latin typeface="Garamond"/>
              </a:rPr>
              <a:t>05 · FUNDING REQUIREMENTS</a:t>
            </a:r>
            <a:endParaRPr lang="en-US" sz="850" dirty="0">
              <a:latin typeface="Garamond"/>
            </a:endParaRPr>
          </a:p>
        </p:txBody>
      </p:sp>
      <p:sp>
        <p:nvSpPr>
          <p:cNvPr id="5" name="Text 2"/>
          <p:cNvSpPr/>
          <p:nvPr/>
        </p:nvSpPr>
        <p:spPr>
          <a:xfrm>
            <a:off x="640080" y="1024128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aramond"/>
              </a:rPr>
              <a:t>Users must fund their own wallet or balance</a:t>
            </a:r>
            <a:endParaRPr lang="en-US" sz="2600" dirty="0">
              <a:latin typeface="Garamond"/>
            </a:endParaRPr>
          </a:p>
        </p:txBody>
      </p:sp>
      <p:sp>
        <p:nvSpPr>
          <p:cNvPr id="6" name="Shape 3"/>
          <p:cNvSpPr/>
          <p:nvPr/>
        </p:nvSpPr>
        <p:spPr>
          <a:xfrm>
            <a:off x="731520" y="2834640"/>
            <a:ext cx="1828800" cy="1005840"/>
          </a:xfrm>
          <a:prstGeom prst="roundRect">
            <a:avLst>
              <a:gd name="adj" fmla="val 14545"/>
            </a:avLst>
          </a:prstGeom>
          <a:solidFill>
            <a:srgbClr val="1C563E"/>
          </a:solidFill>
          <a:ln w="12700">
            <a:solidFill>
              <a:srgbClr val="2C765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87552" y="3035808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aramond"/>
              </a:rPr>
              <a:t>1. User pays</a:t>
            </a:r>
            <a:endParaRPr lang="en-US" sz="1400" dirty="0">
              <a:latin typeface="Garamond"/>
            </a:endParaRPr>
          </a:p>
        </p:txBody>
      </p:sp>
      <p:sp>
        <p:nvSpPr>
          <p:cNvPr id="8" name="Text 5"/>
          <p:cNvSpPr/>
          <p:nvPr/>
        </p:nvSpPr>
        <p:spPr>
          <a:xfrm>
            <a:off x="987552" y="3401568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CAD7CF"/>
                </a:solidFill>
                <a:latin typeface="Garamond"/>
              </a:rPr>
              <a:t>Mobile Money, card or bank transfer.</a:t>
            </a:r>
            <a:endParaRPr lang="en-US" sz="1050" dirty="0">
              <a:latin typeface="Garamond"/>
            </a:endParaRPr>
          </a:p>
        </p:txBody>
      </p:sp>
      <p:sp>
        <p:nvSpPr>
          <p:cNvPr id="9" name="Shape 6"/>
          <p:cNvSpPr/>
          <p:nvPr/>
        </p:nvSpPr>
        <p:spPr>
          <a:xfrm>
            <a:off x="2697480" y="3337560"/>
            <a:ext cx="731520" cy="0"/>
          </a:xfrm>
          <a:prstGeom prst="line">
            <a:avLst/>
          </a:prstGeom>
          <a:noFill/>
          <a:ln w="12700">
            <a:solidFill>
              <a:srgbClr val="FFC323"/>
            </a:solidFill>
            <a:prstDash val="solid"/>
            <a:headEnd type="none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474720" y="2834640"/>
            <a:ext cx="1828800" cy="1005840"/>
          </a:xfrm>
          <a:prstGeom prst="roundRect">
            <a:avLst>
              <a:gd name="adj" fmla="val 14545"/>
            </a:avLst>
          </a:prstGeom>
          <a:solidFill>
            <a:srgbClr val="1C563E"/>
          </a:solidFill>
          <a:ln w="12700">
            <a:solidFill>
              <a:srgbClr val="2C765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730752" y="3035808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aramond"/>
              </a:rPr>
              <a:t>2. Partner records</a:t>
            </a:r>
            <a:endParaRPr lang="en-US" sz="1400" dirty="0">
              <a:latin typeface="Garamond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730752" y="3401568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CAD7CF"/>
                </a:solidFill>
                <a:latin typeface="Garamond"/>
              </a:rPr>
              <a:t>Funds credited to user wallet/balance.</a:t>
            </a:r>
            <a:endParaRPr lang="en-US" sz="1050" dirty="0">
              <a:latin typeface="Garamond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5440680" y="3337560"/>
            <a:ext cx="731520" cy="0"/>
          </a:xfrm>
          <a:prstGeom prst="line">
            <a:avLst/>
          </a:prstGeom>
          <a:noFill/>
          <a:ln w="12700">
            <a:solidFill>
              <a:srgbClr val="FFC323"/>
            </a:solidFill>
            <a:prstDash val="solid"/>
            <a:headEnd type="none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6217920" y="2834640"/>
            <a:ext cx="1874520" cy="1005840"/>
          </a:xfrm>
          <a:prstGeom prst="roundRect">
            <a:avLst>
              <a:gd name="adj" fmla="val 14545"/>
            </a:avLst>
          </a:prstGeom>
          <a:solidFill>
            <a:srgbClr val="1C563E"/>
          </a:solidFill>
          <a:ln w="12700">
            <a:solidFill>
              <a:srgbClr val="2C765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73952" y="3035808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aramond"/>
              </a:rPr>
              <a:t>3. KOWO notified</a:t>
            </a:r>
            <a:endParaRPr lang="en-US" sz="1400" dirty="0">
              <a:latin typeface="Garamond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473952" y="3401568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CAD7CF"/>
                </a:solidFill>
                <a:latin typeface="Garamond"/>
              </a:rPr>
              <a:t>Webhook updates contribution status.</a:t>
            </a:r>
            <a:endParaRPr lang="en-US" sz="1050" dirty="0">
              <a:latin typeface="Garamond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8229600" y="3337560"/>
            <a:ext cx="731520" cy="0"/>
          </a:xfrm>
          <a:prstGeom prst="line">
            <a:avLst/>
          </a:prstGeom>
          <a:noFill/>
          <a:ln w="12700">
            <a:solidFill>
              <a:srgbClr val="FFC323"/>
            </a:solidFill>
            <a:prstDash val="solid"/>
            <a:headEnd type="none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9006840" y="2834640"/>
            <a:ext cx="2011680" cy="1005840"/>
          </a:xfrm>
          <a:prstGeom prst="roundRect">
            <a:avLst>
              <a:gd name="adj" fmla="val 14545"/>
            </a:avLst>
          </a:prstGeom>
          <a:solidFill>
            <a:srgbClr val="1C563E"/>
          </a:solidFill>
          <a:ln w="12700">
            <a:solidFill>
              <a:srgbClr val="2C765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262872" y="3035808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aramond"/>
              </a:rPr>
              <a:t>4. Ledger visible</a:t>
            </a:r>
            <a:endParaRPr lang="en-US" sz="1400" dirty="0">
              <a:latin typeface="Garamond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9262872" y="3401568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CAD7CF"/>
                </a:solidFill>
                <a:latin typeface="Garamond"/>
              </a:rPr>
              <a:t>User sees transaction history in app.</a:t>
            </a:r>
            <a:endParaRPr lang="en-US" sz="1050" dirty="0">
              <a:latin typeface="Garamond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777240" y="5074920"/>
            <a:ext cx="9784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DCEBE4"/>
                </a:solidFill>
                <a:latin typeface="Garamond"/>
              </a:rPr>
              <a:t>Required: unique payment references, real-time or near real-time status updates, reversible failed payments and audit trail.</a:t>
            </a:r>
            <a:endParaRPr lang="en-US" sz="1500" dirty="0">
              <a:latin typeface="Garamond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502920" y="644652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9B8AE"/>
                </a:solidFill>
                <a:latin typeface="Garamond"/>
              </a:rPr>
              <a:t>Payment Infrastructure Requirements</a:t>
            </a:r>
            <a:endParaRPr lang="en-US" sz="850" dirty="0">
              <a:latin typeface="Garamond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9B8AE"/>
                </a:solidFill>
                <a:latin typeface="Garamond"/>
              </a:rPr>
              <a:t>06</a:t>
            </a:r>
            <a:endParaRPr lang="en-US" sz="850" dirty="0">
              <a:latin typeface="Garamon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kowo-payment-infrastructure-pack/assets/kowo-logo-official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47472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4023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B2B"/>
                </a:solidFill>
                <a:latin typeface="Garamond"/>
                <a:ea typeface="Jost" pitchFamily="34" charset="-122"/>
                <a:cs typeface="Jost" pitchFamily="34" charset="-120"/>
              </a:rPr>
              <a:t>KO</a:t>
            </a:r>
            <a:r>
              <a:rPr lang="en-US" sz="1400" b="1" dirty="0">
                <a:solidFill>
                  <a:srgbClr val="FFC323"/>
                </a:solidFill>
                <a:latin typeface="Garamond"/>
                <a:ea typeface="Jost" pitchFamily="34" charset="-122"/>
                <a:cs typeface="Jost" pitchFamily="34" charset="-120"/>
              </a:rPr>
              <a:t>WO</a:t>
            </a:r>
            <a:endParaRPr lang="en-US" sz="1400" dirty="0">
              <a:latin typeface="Garamond"/>
            </a:endParaRPr>
          </a:p>
        </p:txBody>
      </p:sp>
      <p:sp>
        <p:nvSpPr>
          <p:cNvPr id="4" name="Text 1"/>
          <p:cNvSpPr/>
          <p:nvPr/>
        </p:nvSpPr>
        <p:spPr>
          <a:xfrm>
            <a:off x="658368" y="78638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C323"/>
                </a:solidFill>
                <a:latin typeface="Garamond"/>
              </a:rPr>
              <a:t>06 · CAUTION / GUARANTEE HOLD</a:t>
            </a:r>
            <a:endParaRPr lang="en-US" sz="850" dirty="0">
              <a:latin typeface="Garamond"/>
            </a:endParaRPr>
          </a:p>
        </p:txBody>
      </p:sp>
      <p:sp>
        <p:nvSpPr>
          <p:cNvPr id="5" name="Text 2"/>
          <p:cNvSpPr/>
          <p:nvPr/>
        </p:nvSpPr>
        <p:spPr>
          <a:xfrm>
            <a:off x="640080" y="1024128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E1712"/>
                </a:solidFill>
                <a:latin typeface="Garamond"/>
              </a:rPr>
              <a:t>Temporary locked balance managed by the partner</a:t>
            </a:r>
            <a:endParaRPr lang="en-US" sz="2600" dirty="0">
              <a:latin typeface="Garamond"/>
            </a:endParaRPr>
          </a:p>
        </p:txBody>
      </p:sp>
      <p:sp>
        <p:nvSpPr>
          <p:cNvPr id="6" name="Shape 3"/>
          <p:cNvSpPr/>
          <p:nvPr/>
        </p:nvSpPr>
        <p:spPr>
          <a:xfrm>
            <a:off x="914400" y="2560320"/>
            <a:ext cx="2240280" cy="1325880"/>
          </a:xfrm>
          <a:prstGeom prst="roundRect">
            <a:avLst>
              <a:gd name="adj" fmla="val 11034"/>
            </a:avLst>
          </a:prstGeom>
          <a:solidFill>
            <a:srgbClr val="FFF8E1"/>
          </a:solidFill>
          <a:ln w="12700">
            <a:solidFill>
              <a:srgbClr val="DFD8C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14400" y="2560320"/>
            <a:ext cx="54864" cy="1325880"/>
          </a:xfrm>
          <a:prstGeom prst="rect">
            <a:avLst/>
          </a:prstGeom>
          <a:solidFill>
            <a:srgbClr val="FFC323"/>
          </a:solidFill>
          <a:ln w="12700">
            <a:solidFill>
              <a:srgbClr val="FFC323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70432" y="2761488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E1712"/>
                </a:solidFill>
                <a:latin typeface="Garamond"/>
              </a:rPr>
              <a:t>Create hold</a:t>
            </a:r>
            <a:endParaRPr lang="en-US" sz="1400" dirty="0">
              <a:latin typeface="Garamond"/>
            </a:endParaRPr>
          </a:p>
        </p:txBody>
      </p:sp>
      <p:sp>
        <p:nvSpPr>
          <p:cNvPr id="9" name="Text 6"/>
          <p:cNvSpPr/>
          <p:nvPr/>
        </p:nvSpPr>
        <p:spPr>
          <a:xfrm>
            <a:off x="1170432" y="3127248"/>
            <a:ext cx="172821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8766E"/>
                </a:solidFill>
                <a:latin typeface="Garamond"/>
              </a:rPr>
              <a:t>KOWO requests partner to lock a defined amount.</a:t>
            </a:r>
            <a:endParaRPr lang="en-US" sz="1050" dirty="0">
              <a:latin typeface="Garamond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200400" y="3218688"/>
            <a:ext cx="365760" cy="0"/>
          </a:xfrm>
          <a:prstGeom prst="line">
            <a:avLst/>
          </a:prstGeom>
          <a:noFill/>
          <a:ln w="12700">
            <a:solidFill>
              <a:srgbClr val="FFC323"/>
            </a:solidFill>
            <a:prstDash val="solid"/>
            <a:headEnd type="none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3657600" y="2560320"/>
            <a:ext cx="2240280" cy="1325880"/>
          </a:xfrm>
          <a:prstGeom prst="roundRect">
            <a:avLst>
              <a:gd name="adj" fmla="val 11034"/>
            </a:avLst>
          </a:prstGeom>
          <a:solidFill>
            <a:srgbClr val="F2F7F4"/>
          </a:solidFill>
          <a:ln w="12700">
            <a:solidFill>
              <a:srgbClr val="DFD8C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57600" y="2560320"/>
            <a:ext cx="54864" cy="1325880"/>
          </a:xfrm>
          <a:prstGeom prst="rect">
            <a:avLst/>
          </a:prstGeom>
          <a:solidFill>
            <a:srgbClr val="123B2B"/>
          </a:solidFill>
          <a:ln w="12700">
            <a:solidFill>
              <a:srgbClr val="123B2B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913632" y="2761488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E1712"/>
                </a:solidFill>
                <a:latin typeface="Garamond"/>
              </a:rPr>
              <a:t>Show status</a:t>
            </a:r>
            <a:endParaRPr lang="en-US" sz="1400" dirty="0">
              <a:latin typeface="Garamond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3913632" y="3127248"/>
            <a:ext cx="172821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8766E"/>
                </a:solidFill>
                <a:latin typeface="Garamond"/>
              </a:rPr>
              <a:t>App displays available vs locked balance.</a:t>
            </a:r>
            <a:endParaRPr lang="en-US" sz="1050" dirty="0">
              <a:latin typeface="Garamond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5943600" y="3218688"/>
            <a:ext cx="365760" cy="0"/>
          </a:xfrm>
          <a:prstGeom prst="line">
            <a:avLst/>
          </a:prstGeom>
          <a:noFill/>
          <a:ln w="12700">
            <a:solidFill>
              <a:srgbClr val="FFC323"/>
            </a:solidFill>
            <a:prstDash val="solid"/>
            <a:headEnd type="none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6400800" y="2560320"/>
            <a:ext cx="2240280" cy="1325880"/>
          </a:xfrm>
          <a:prstGeom prst="roundRect">
            <a:avLst>
              <a:gd name="adj" fmla="val 11034"/>
            </a:avLst>
          </a:prstGeom>
          <a:solidFill>
            <a:srgbClr val="F2F7F4"/>
          </a:solidFill>
          <a:ln w="12700">
            <a:solidFill>
              <a:srgbClr val="DFD8C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00800" y="2560320"/>
            <a:ext cx="54864" cy="1325880"/>
          </a:xfrm>
          <a:prstGeom prst="rect">
            <a:avLst/>
          </a:prstGeom>
          <a:solidFill>
            <a:srgbClr val="FFC323"/>
          </a:solidFill>
          <a:ln w="12700">
            <a:solidFill>
              <a:srgbClr val="FFC323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656832" y="2761488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E1712"/>
                </a:solidFill>
                <a:latin typeface="Garamond"/>
              </a:rPr>
              <a:t>Release or use</a:t>
            </a:r>
            <a:endParaRPr lang="en-US" sz="1400" dirty="0">
              <a:latin typeface="Garamond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656832" y="3127248"/>
            <a:ext cx="172821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8766E"/>
                </a:solidFill>
                <a:latin typeface="Garamond"/>
              </a:rPr>
              <a:t>Partner releases or allocates according to predefined rules.</a:t>
            </a:r>
            <a:endParaRPr lang="en-US" sz="1050" dirty="0">
              <a:latin typeface="Garamond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8686800" y="3218688"/>
            <a:ext cx="365760" cy="0"/>
          </a:xfrm>
          <a:prstGeom prst="line">
            <a:avLst/>
          </a:prstGeom>
          <a:noFill/>
          <a:ln w="12700">
            <a:solidFill>
              <a:srgbClr val="FFC323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9144000" y="2560320"/>
            <a:ext cx="2240280" cy="1325880"/>
          </a:xfrm>
          <a:prstGeom prst="roundRect">
            <a:avLst>
              <a:gd name="adj" fmla="val 11034"/>
            </a:avLst>
          </a:prstGeom>
          <a:solidFill>
            <a:srgbClr val="F2F7F4"/>
          </a:solidFill>
          <a:ln w="12700">
            <a:solidFill>
              <a:srgbClr val="DFD8C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144000" y="2560320"/>
            <a:ext cx="54864" cy="1325880"/>
          </a:xfrm>
          <a:prstGeom prst="rect">
            <a:avLst/>
          </a:prstGeom>
          <a:solidFill>
            <a:srgbClr val="123B2B"/>
          </a:solidFill>
          <a:ln w="12700">
            <a:solidFill>
              <a:srgbClr val="123B2B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400032" y="2761488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E1712"/>
                </a:solidFill>
                <a:latin typeface="Garamond"/>
              </a:rPr>
              <a:t>Record outcome</a:t>
            </a:r>
            <a:endParaRPr lang="en-US" sz="1400" dirty="0">
              <a:latin typeface="Garamond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9400032" y="3127248"/>
            <a:ext cx="172821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8766E"/>
                </a:solidFill>
                <a:latin typeface="Garamond"/>
              </a:rPr>
              <a:t>Full event trail for users and support.</a:t>
            </a:r>
            <a:endParaRPr lang="en-US" sz="1050" dirty="0">
              <a:latin typeface="Garamond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914400" y="507492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3B2B"/>
                </a:solidFill>
                <a:latin typeface="Garamond"/>
              </a:rPr>
              <a:t>Important wording: this is a “locked balance / guarantee hold” managed by the payment partner, not a KOWO deposit account.</a:t>
            </a:r>
            <a:endParaRPr lang="en-US" sz="1350" dirty="0">
              <a:latin typeface="Garamond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502920" y="644652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8766E"/>
                </a:solidFill>
                <a:latin typeface="Garamond"/>
              </a:rPr>
              <a:t>Payment Infrastructure Requirements</a:t>
            </a:r>
            <a:endParaRPr lang="en-US" sz="850" dirty="0">
              <a:latin typeface="Garamond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8766E"/>
                </a:solidFill>
                <a:latin typeface="Garamond"/>
              </a:rPr>
              <a:t>07</a:t>
            </a:r>
            <a:endParaRPr lang="en-US" sz="850" dirty="0">
              <a:latin typeface="Garamon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kowo-payment-infrastructure-pack/assets/kowo-logo-official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47472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4023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B2B"/>
                </a:solidFill>
                <a:latin typeface="Garamond"/>
                <a:ea typeface="Jost" pitchFamily="34" charset="-122"/>
                <a:cs typeface="Jost" pitchFamily="34" charset="-120"/>
              </a:rPr>
              <a:t>KO</a:t>
            </a:r>
            <a:r>
              <a:rPr lang="en-US" sz="1400" b="1" dirty="0">
                <a:solidFill>
                  <a:srgbClr val="FFC323"/>
                </a:solidFill>
                <a:latin typeface="Garamond"/>
                <a:ea typeface="Jost" pitchFamily="34" charset="-122"/>
                <a:cs typeface="Jost" pitchFamily="34" charset="-120"/>
              </a:rPr>
              <a:t>WO</a:t>
            </a:r>
            <a:endParaRPr lang="en-US" sz="1400" dirty="0">
              <a:latin typeface="Garamond"/>
            </a:endParaRPr>
          </a:p>
        </p:txBody>
      </p:sp>
      <p:sp>
        <p:nvSpPr>
          <p:cNvPr id="4" name="Text 1"/>
          <p:cNvSpPr/>
          <p:nvPr/>
        </p:nvSpPr>
        <p:spPr>
          <a:xfrm>
            <a:off x="658368" y="78638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C323"/>
                </a:solidFill>
                <a:latin typeface="Garamond"/>
              </a:rPr>
              <a:t>07 · COMMISSION SPLIT</a:t>
            </a:r>
            <a:endParaRPr lang="en-US" sz="850" dirty="0">
              <a:latin typeface="Garamond"/>
            </a:endParaRPr>
          </a:p>
        </p:txBody>
      </p:sp>
      <p:sp>
        <p:nvSpPr>
          <p:cNvPr id="5" name="Text 2"/>
          <p:cNvSpPr/>
          <p:nvPr/>
        </p:nvSpPr>
        <p:spPr>
          <a:xfrm>
            <a:off x="640080" y="1024128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E1712"/>
                </a:solidFill>
                <a:latin typeface="Garamond"/>
              </a:rPr>
              <a:t>KOWO receives only its fee, not user funds</a:t>
            </a:r>
            <a:endParaRPr lang="en-US" sz="2600" dirty="0">
              <a:latin typeface="Garamond"/>
            </a:endParaRPr>
          </a:p>
        </p:txBody>
      </p:sp>
      <p:sp>
        <p:nvSpPr>
          <p:cNvPr id="6" name="Shape 3"/>
          <p:cNvSpPr/>
          <p:nvPr/>
        </p:nvSpPr>
        <p:spPr>
          <a:xfrm>
            <a:off x="777240" y="2057400"/>
            <a:ext cx="2926080" cy="1097280"/>
          </a:xfrm>
          <a:prstGeom prst="roundRect">
            <a:avLst>
              <a:gd name="adj" fmla="val 13333"/>
            </a:avLst>
          </a:prstGeom>
          <a:solidFill>
            <a:srgbClr val="F2F7F4"/>
          </a:solidFill>
          <a:ln w="12700">
            <a:solidFill>
              <a:srgbClr val="DFD8C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7240" y="2057400"/>
            <a:ext cx="54864" cy="1097280"/>
          </a:xfrm>
          <a:prstGeom prst="rect">
            <a:avLst/>
          </a:prstGeom>
          <a:solidFill>
            <a:srgbClr val="123B2B"/>
          </a:solidFill>
          <a:ln w="12700">
            <a:solidFill>
              <a:srgbClr val="123B2B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33272" y="2258568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E1712"/>
                </a:solidFill>
                <a:latin typeface="Garamond"/>
              </a:rPr>
              <a:t>Tontines / savings</a:t>
            </a:r>
            <a:endParaRPr lang="en-US" sz="1400" dirty="0">
              <a:latin typeface="Garamond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33272" y="2624328"/>
            <a:ext cx="2414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8766E"/>
                </a:solidFill>
                <a:latin typeface="Garamond"/>
              </a:rPr>
              <a:t>Target commission: 1% of eligible contribution amount.</a:t>
            </a:r>
            <a:endParaRPr lang="en-US" sz="1050" dirty="0">
              <a:latin typeface="Garamond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617720" y="2057400"/>
            <a:ext cx="2926080" cy="1097280"/>
          </a:xfrm>
          <a:prstGeom prst="roundRect">
            <a:avLst>
              <a:gd name="adj" fmla="val 13333"/>
            </a:avLst>
          </a:prstGeom>
          <a:solidFill>
            <a:srgbClr val="FFF8E1"/>
          </a:solidFill>
          <a:ln w="12700">
            <a:solidFill>
              <a:srgbClr val="DFD8C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17720" y="2057400"/>
            <a:ext cx="54864" cy="1097280"/>
          </a:xfrm>
          <a:prstGeom prst="rect">
            <a:avLst/>
          </a:prstGeom>
          <a:solidFill>
            <a:srgbClr val="FFC323"/>
          </a:solidFill>
          <a:ln w="12700">
            <a:solidFill>
              <a:srgbClr val="FFC323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73752" y="2258568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E1712"/>
                </a:solidFill>
                <a:latin typeface="Garamond"/>
              </a:rPr>
              <a:t>Clubs / advanced modules</a:t>
            </a:r>
            <a:endParaRPr lang="en-US" sz="1400" dirty="0">
              <a:latin typeface="Garamond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873752" y="2624328"/>
            <a:ext cx="2414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8766E"/>
                </a:solidFill>
                <a:latin typeface="Garamond"/>
              </a:rPr>
              <a:t>Target commission: 3% where applicable, subject to final model.</a:t>
            </a:r>
            <a:endParaRPr lang="en-US" sz="1050" dirty="0">
              <a:latin typeface="Garamond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8458200" y="2057400"/>
            <a:ext cx="2926080" cy="1097280"/>
          </a:xfrm>
          <a:prstGeom prst="roundRect">
            <a:avLst>
              <a:gd name="adj" fmla="val 13333"/>
            </a:avLst>
          </a:prstGeom>
          <a:solidFill>
            <a:srgbClr val="F2F7F4"/>
          </a:solidFill>
          <a:ln w="12700">
            <a:solidFill>
              <a:srgbClr val="DFD8C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458200" y="2057400"/>
            <a:ext cx="54864" cy="1097280"/>
          </a:xfrm>
          <a:prstGeom prst="rect">
            <a:avLst/>
          </a:prstGeom>
          <a:solidFill>
            <a:srgbClr val="123B2B"/>
          </a:solidFill>
          <a:ln w="12700">
            <a:solidFill>
              <a:srgbClr val="123B2B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714232" y="2258568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E1712"/>
                </a:solidFill>
                <a:latin typeface="Garamond"/>
              </a:rPr>
              <a:t>Future products</a:t>
            </a:r>
            <a:endParaRPr lang="en-US" sz="1400" dirty="0">
              <a:latin typeface="Garamond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8714232" y="2624328"/>
            <a:ext cx="2414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8766E"/>
                </a:solidFill>
                <a:latin typeface="Garamond"/>
              </a:rPr>
              <a:t>Fees only when partner-led and contractually approved.</a:t>
            </a:r>
            <a:endParaRPr lang="en-US" sz="1050" dirty="0">
              <a:latin typeface="Garamond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1920240" y="3886200"/>
            <a:ext cx="8229600" cy="1143000"/>
          </a:xfrm>
          <a:prstGeom prst="roundRect">
            <a:avLst>
              <a:gd name="adj" fmla="val 12800"/>
            </a:avLst>
          </a:prstGeom>
          <a:solidFill>
            <a:srgbClr val="123B2B"/>
          </a:solidFill>
          <a:ln w="12700">
            <a:solidFill>
              <a:srgbClr val="123B2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920240" y="3886200"/>
            <a:ext cx="54864" cy="1143000"/>
          </a:xfrm>
          <a:prstGeom prst="rect">
            <a:avLst/>
          </a:prstGeom>
          <a:solidFill>
            <a:srgbClr val="FFC323"/>
          </a:solidFill>
          <a:ln w="12700">
            <a:solidFill>
              <a:srgbClr val="FFC323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176272" y="4087368"/>
            <a:ext cx="7717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aramond"/>
              </a:rPr>
              <a:t>Required settlement logic</a:t>
            </a:r>
            <a:endParaRPr lang="en-US" sz="1400" dirty="0">
              <a:latin typeface="Garamond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2176272" y="4453128"/>
            <a:ext cx="77175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CAD7CF"/>
                </a:solidFill>
                <a:latin typeface="Garamond"/>
              </a:rPr>
              <a:t>Partner debits the user contribution, routes the principal to the beneficiary / group process and settles KOWO’s fee separately to KOWO’s wallet/account with invoice-ready reporting.</a:t>
            </a:r>
            <a:endParaRPr lang="en-US" sz="1050" dirty="0">
              <a:latin typeface="Garamond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502920" y="644652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8766E"/>
                </a:solidFill>
                <a:latin typeface="Garamond"/>
              </a:rPr>
              <a:t>Payment Infrastructure Requirements</a:t>
            </a:r>
            <a:endParaRPr lang="en-US" sz="850" dirty="0">
              <a:latin typeface="Garamond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8766E"/>
                </a:solidFill>
                <a:latin typeface="Garamond"/>
              </a:rPr>
              <a:t>08</a:t>
            </a:r>
            <a:endParaRPr lang="en-US" sz="850" dirty="0">
              <a:latin typeface="Garamon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kowo-payment-infrastructure-pack/assets/kowo-logo-official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47472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4023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B2B"/>
                </a:solidFill>
                <a:latin typeface="Garamond"/>
                <a:ea typeface="Jost" pitchFamily="34" charset="-122"/>
                <a:cs typeface="Jost" pitchFamily="34" charset="-120"/>
              </a:rPr>
              <a:t>KO</a:t>
            </a:r>
            <a:r>
              <a:rPr lang="en-US" sz="1400" b="1" dirty="0">
                <a:solidFill>
                  <a:srgbClr val="FFC323"/>
                </a:solidFill>
                <a:latin typeface="Garamond"/>
                <a:ea typeface="Jost" pitchFamily="34" charset="-122"/>
                <a:cs typeface="Jost" pitchFamily="34" charset="-120"/>
              </a:rPr>
              <a:t>WO</a:t>
            </a:r>
            <a:endParaRPr lang="en-US" sz="1400" dirty="0">
              <a:latin typeface="Garamond"/>
            </a:endParaRPr>
          </a:p>
        </p:txBody>
      </p:sp>
      <p:sp>
        <p:nvSpPr>
          <p:cNvPr id="4" name="Text 1"/>
          <p:cNvSpPr/>
          <p:nvPr/>
        </p:nvSpPr>
        <p:spPr>
          <a:xfrm>
            <a:off x="658368" y="78638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C323"/>
                </a:solidFill>
                <a:latin typeface="Garamond"/>
              </a:rPr>
              <a:t>08 · PAYOUT REQUIREMENTS</a:t>
            </a:r>
            <a:endParaRPr lang="en-US" sz="850" dirty="0">
              <a:latin typeface="Garamond"/>
            </a:endParaRPr>
          </a:p>
        </p:txBody>
      </p:sp>
      <p:sp>
        <p:nvSpPr>
          <p:cNvPr id="5" name="Text 2"/>
          <p:cNvSpPr/>
          <p:nvPr/>
        </p:nvSpPr>
        <p:spPr>
          <a:xfrm>
            <a:off x="640080" y="1024128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E1712"/>
                </a:solidFill>
                <a:latin typeface="Garamond"/>
              </a:rPr>
              <a:t>Rules-based payout execution</a:t>
            </a:r>
            <a:endParaRPr lang="en-US" sz="2600" dirty="0">
              <a:latin typeface="Garamond"/>
            </a:endParaRPr>
          </a:p>
        </p:txBody>
      </p:sp>
      <p:sp>
        <p:nvSpPr>
          <p:cNvPr id="6" name="Shape 3"/>
          <p:cNvSpPr/>
          <p:nvPr/>
        </p:nvSpPr>
        <p:spPr>
          <a:xfrm>
            <a:off x="822960" y="1828800"/>
            <a:ext cx="10332720" cy="713232"/>
          </a:xfrm>
          <a:prstGeom prst="roundRect">
            <a:avLst>
              <a:gd name="adj" fmla="val 20513"/>
            </a:avLst>
          </a:prstGeom>
          <a:solidFill>
            <a:srgbClr val="F2F7F4"/>
          </a:solidFill>
          <a:ln w="12700">
            <a:solidFill>
              <a:srgbClr val="DFD8C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1828800"/>
            <a:ext cx="54864" cy="713232"/>
          </a:xfrm>
          <a:prstGeom prst="rect">
            <a:avLst/>
          </a:prstGeom>
          <a:solidFill>
            <a:srgbClr val="123B2B"/>
          </a:solidFill>
          <a:ln w="12700">
            <a:solidFill>
              <a:srgbClr val="123B2B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78992" y="2029968"/>
            <a:ext cx="9820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E1712"/>
                </a:solidFill>
                <a:latin typeface="Garamond"/>
              </a:rPr>
              <a:t>Rotation payout</a:t>
            </a:r>
            <a:endParaRPr lang="en-US" sz="1400" dirty="0">
              <a:latin typeface="Garamond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78992" y="2395728"/>
            <a:ext cx="982065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8766E"/>
                </a:solidFill>
                <a:latin typeface="Garamond"/>
              </a:rPr>
              <a:t>Pay the beneficiary scheduled for the current cycle.</a:t>
            </a:r>
            <a:endParaRPr lang="en-US" sz="1050" dirty="0">
              <a:latin typeface="Garamond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822960" y="2788920"/>
            <a:ext cx="10332720" cy="713232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 w="12700">
            <a:solidFill>
              <a:srgbClr val="DFD8C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788920"/>
            <a:ext cx="54864" cy="713232"/>
          </a:xfrm>
          <a:prstGeom prst="rect">
            <a:avLst/>
          </a:prstGeom>
          <a:solidFill>
            <a:srgbClr val="FFC323"/>
          </a:solidFill>
          <a:ln w="12700">
            <a:solidFill>
              <a:srgbClr val="FFC323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78992" y="2990088"/>
            <a:ext cx="9820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E1712"/>
                </a:solidFill>
                <a:latin typeface="Garamond"/>
              </a:rPr>
              <a:t>Project payout</a:t>
            </a:r>
            <a:endParaRPr lang="en-US" sz="1400" dirty="0">
              <a:latin typeface="Garamond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078992" y="3355848"/>
            <a:ext cx="982065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8766E"/>
                </a:solidFill>
                <a:latin typeface="Garamond"/>
              </a:rPr>
              <a:t>Pay the project owner/beneficiary when conditions are met.</a:t>
            </a:r>
            <a:endParaRPr lang="en-US" sz="1050" dirty="0">
              <a:latin typeface="Garamond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822960" y="3749040"/>
            <a:ext cx="10332720" cy="713232"/>
          </a:xfrm>
          <a:prstGeom prst="roundRect">
            <a:avLst>
              <a:gd name="adj" fmla="val 20513"/>
            </a:avLst>
          </a:prstGeom>
          <a:solidFill>
            <a:srgbClr val="F2F7F4"/>
          </a:solidFill>
          <a:ln w="12700">
            <a:solidFill>
              <a:srgbClr val="DFD8C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22960" y="3749040"/>
            <a:ext cx="54864" cy="713232"/>
          </a:xfrm>
          <a:prstGeom prst="rect">
            <a:avLst/>
          </a:prstGeom>
          <a:solidFill>
            <a:srgbClr val="123B2B"/>
          </a:solidFill>
          <a:ln w="12700">
            <a:solidFill>
              <a:srgbClr val="123B2B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78992" y="3950208"/>
            <a:ext cx="9820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E1712"/>
                </a:solidFill>
                <a:latin typeface="Garamond"/>
              </a:rPr>
              <a:t>Refund</a:t>
            </a:r>
            <a:endParaRPr lang="en-US" sz="1400" dirty="0">
              <a:latin typeface="Garamond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1078992" y="4315968"/>
            <a:ext cx="982065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8766E"/>
                </a:solidFill>
                <a:latin typeface="Garamond"/>
              </a:rPr>
              <a:t>Return funds to the originating user when rules require it.</a:t>
            </a:r>
            <a:endParaRPr lang="en-US" sz="1050" dirty="0">
              <a:latin typeface="Garamond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822960" y="4709160"/>
            <a:ext cx="10332720" cy="713232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 w="12700">
            <a:solidFill>
              <a:srgbClr val="DFD8C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22960" y="4709160"/>
            <a:ext cx="54864" cy="713232"/>
          </a:xfrm>
          <a:prstGeom prst="rect">
            <a:avLst/>
          </a:prstGeom>
          <a:solidFill>
            <a:srgbClr val="FFC323"/>
          </a:solidFill>
          <a:ln w="12700">
            <a:solidFill>
              <a:srgbClr val="FFC323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78992" y="4910328"/>
            <a:ext cx="9820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E1712"/>
                </a:solidFill>
                <a:latin typeface="Garamond"/>
              </a:rPr>
              <a:t>Failed payout</a:t>
            </a:r>
            <a:endParaRPr lang="en-US" sz="1400" dirty="0">
              <a:latin typeface="Garamond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1078992" y="5276088"/>
            <a:ext cx="982065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8766E"/>
                </a:solidFill>
                <a:latin typeface="Garamond"/>
              </a:rPr>
              <a:t>Return a clear failure code and status for user support.</a:t>
            </a:r>
            <a:endParaRPr lang="en-US" sz="1050" dirty="0">
              <a:latin typeface="Garamond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502920" y="644652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8766E"/>
                </a:solidFill>
                <a:latin typeface="Garamond"/>
              </a:rPr>
              <a:t>Payment Infrastructure Requirements</a:t>
            </a:r>
            <a:endParaRPr lang="en-US" sz="850" dirty="0">
              <a:latin typeface="Garamond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8766E"/>
                </a:solidFill>
                <a:latin typeface="Garamond"/>
              </a:rPr>
              <a:t>09</a:t>
            </a:r>
            <a:endParaRPr lang="en-US" sz="850" dirty="0">
              <a:latin typeface="Garamon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kowo-payment-infrastructure-pack/assets/kowo-logo-official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47472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4023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B2B"/>
                </a:solidFill>
                <a:latin typeface="Garamond"/>
                <a:ea typeface="Jost" pitchFamily="34" charset="-122"/>
                <a:cs typeface="Jost" pitchFamily="34" charset="-120"/>
              </a:rPr>
              <a:t>KO</a:t>
            </a:r>
            <a:r>
              <a:rPr lang="en-US" sz="1400" b="1" dirty="0">
                <a:solidFill>
                  <a:srgbClr val="FFC323"/>
                </a:solidFill>
                <a:latin typeface="Garamond"/>
                <a:ea typeface="Jost" pitchFamily="34" charset="-122"/>
                <a:cs typeface="Jost" pitchFamily="34" charset="-120"/>
              </a:rPr>
              <a:t>WO</a:t>
            </a:r>
            <a:endParaRPr lang="en-US" sz="1400" dirty="0">
              <a:latin typeface="Garamond"/>
            </a:endParaRPr>
          </a:p>
        </p:txBody>
      </p:sp>
      <p:sp>
        <p:nvSpPr>
          <p:cNvPr id="4" name="Text 1"/>
          <p:cNvSpPr/>
          <p:nvPr/>
        </p:nvSpPr>
        <p:spPr>
          <a:xfrm>
            <a:off x="658368" y="78638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C323"/>
                </a:solidFill>
                <a:latin typeface="Garamond"/>
              </a:rPr>
              <a:t>09 · KYC / IDENTITY REQUIREMENTS</a:t>
            </a:r>
            <a:endParaRPr lang="en-US" sz="850" dirty="0">
              <a:latin typeface="Garamond"/>
            </a:endParaRPr>
          </a:p>
        </p:txBody>
      </p:sp>
      <p:sp>
        <p:nvSpPr>
          <p:cNvPr id="5" name="Text 2"/>
          <p:cNvSpPr/>
          <p:nvPr/>
        </p:nvSpPr>
        <p:spPr>
          <a:xfrm>
            <a:off x="640080" y="1024128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E1712"/>
                </a:solidFill>
                <a:latin typeface="Garamond"/>
              </a:rPr>
              <a:t>KYC must be compatible with partner compliance rules</a:t>
            </a:r>
            <a:endParaRPr lang="en-US" sz="2600" dirty="0">
              <a:latin typeface="Garamond"/>
            </a:endParaRPr>
          </a:p>
        </p:txBody>
      </p:sp>
      <p:sp>
        <p:nvSpPr>
          <p:cNvPr id="6" name="Shape 3"/>
          <p:cNvSpPr/>
          <p:nvPr/>
        </p:nvSpPr>
        <p:spPr>
          <a:xfrm>
            <a:off x="777240" y="2057400"/>
            <a:ext cx="2468880" cy="1920240"/>
          </a:xfrm>
          <a:prstGeom prst="roundRect">
            <a:avLst>
              <a:gd name="adj" fmla="val 8571"/>
            </a:avLst>
          </a:prstGeom>
          <a:solidFill>
            <a:srgbClr val="FFFDF8"/>
          </a:solidFill>
          <a:ln w="12700">
            <a:solidFill>
              <a:srgbClr val="DFD8C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78408" y="224028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Garamond"/>
              </a:rPr>
              <a:t>🪪</a:t>
            </a:r>
            <a:endParaRPr lang="en-US" sz="2000" dirty="0">
              <a:latin typeface="Garamond"/>
            </a:endParaRPr>
          </a:p>
        </p:txBody>
      </p:sp>
      <p:sp>
        <p:nvSpPr>
          <p:cNvPr id="8" name="Text 5"/>
          <p:cNvSpPr/>
          <p:nvPr/>
        </p:nvSpPr>
        <p:spPr>
          <a:xfrm>
            <a:off x="1463040" y="228600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E1712"/>
                </a:solidFill>
                <a:latin typeface="Garamond"/>
              </a:rPr>
              <a:t>Identity verification</a:t>
            </a:r>
            <a:endParaRPr lang="en-US" sz="1300" dirty="0">
              <a:latin typeface="Garamond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05840" y="2715768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8766E"/>
                </a:solidFill>
                <a:latin typeface="Garamond"/>
              </a:rPr>
              <a:t>KYC status available via API or integrated workflow.</a:t>
            </a:r>
            <a:endParaRPr lang="en-US" sz="960" dirty="0">
              <a:latin typeface="Garamond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520440" y="2057400"/>
            <a:ext cx="2468880" cy="1920240"/>
          </a:xfrm>
          <a:prstGeom prst="roundRect">
            <a:avLst>
              <a:gd name="adj" fmla="val 8571"/>
            </a:avLst>
          </a:prstGeom>
          <a:solidFill>
            <a:srgbClr val="FFFDF8"/>
          </a:solidFill>
          <a:ln w="12700">
            <a:solidFill>
              <a:srgbClr val="DFD8C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721608" y="224028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Garamond"/>
              </a:rPr>
              <a:t>🧭</a:t>
            </a:r>
            <a:endParaRPr lang="en-US" sz="2000" dirty="0">
              <a:latin typeface="Garamond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206240" y="228600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E1712"/>
                </a:solidFill>
                <a:latin typeface="Garamond"/>
              </a:rPr>
              <a:t>Risk-based levels</a:t>
            </a:r>
            <a:endParaRPr lang="en-US" sz="1300" dirty="0">
              <a:latin typeface="Garamond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749040" y="2715768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8766E"/>
                </a:solidFill>
                <a:latin typeface="Garamond"/>
              </a:rPr>
              <a:t>Limits by KYC level, country, transaction volume and use case.</a:t>
            </a:r>
            <a:endParaRPr lang="en-US" sz="960" dirty="0">
              <a:latin typeface="Garamond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263640" y="2057400"/>
            <a:ext cx="2468880" cy="1920240"/>
          </a:xfrm>
          <a:prstGeom prst="roundRect">
            <a:avLst>
              <a:gd name="adj" fmla="val 8571"/>
            </a:avLst>
          </a:prstGeom>
          <a:solidFill>
            <a:srgbClr val="FFFDF8"/>
          </a:solidFill>
          <a:ln w="12700">
            <a:solidFill>
              <a:srgbClr val="DFD8C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64808" y="224028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Garamond"/>
              </a:rPr>
              <a:t>🧾</a:t>
            </a:r>
            <a:endParaRPr lang="en-US" sz="2000" dirty="0">
              <a:latin typeface="Garamond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949440" y="228600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E1712"/>
                </a:solidFill>
                <a:latin typeface="Garamond"/>
              </a:rPr>
              <a:t>Document evidence</a:t>
            </a:r>
            <a:endParaRPr lang="en-US" sz="1300" dirty="0">
              <a:latin typeface="Garamond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492240" y="2715768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8766E"/>
                </a:solidFill>
                <a:latin typeface="Garamond"/>
              </a:rPr>
              <a:t>Verification reports retained and accessible according to policy.</a:t>
            </a:r>
            <a:endParaRPr lang="en-US" sz="960" dirty="0">
              <a:latin typeface="Garamond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9006840" y="2057400"/>
            <a:ext cx="2468880" cy="1920240"/>
          </a:xfrm>
          <a:prstGeom prst="roundRect">
            <a:avLst>
              <a:gd name="adj" fmla="val 8571"/>
            </a:avLst>
          </a:prstGeom>
          <a:solidFill>
            <a:srgbClr val="FFFDF8"/>
          </a:solidFill>
          <a:ln w="12700">
            <a:solidFill>
              <a:srgbClr val="DFD8C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208008" y="224028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Garamond"/>
              </a:rPr>
              <a:t>🚫</a:t>
            </a:r>
            <a:endParaRPr lang="en-US" sz="2000" dirty="0">
              <a:latin typeface="Garamond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9692640" y="228600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E1712"/>
                </a:solidFill>
                <a:latin typeface="Garamond"/>
              </a:rPr>
              <a:t>Sanctions &amp; PEP</a:t>
            </a:r>
            <a:endParaRPr lang="en-US" sz="1300" dirty="0">
              <a:latin typeface="Garamond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9235440" y="2715768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8766E"/>
                </a:solidFill>
                <a:latin typeface="Garamond"/>
              </a:rPr>
              <a:t>Partner requirements for sanctions, PEP and AML screening.</a:t>
            </a:r>
            <a:endParaRPr lang="en-US" sz="960" dirty="0">
              <a:latin typeface="Garamond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1325880" y="4663440"/>
            <a:ext cx="9601200" cy="777240"/>
          </a:xfrm>
          <a:prstGeom prst="roundRect">
            <a:avLst>
              <a:gd name="adj" fmla="val 18824"/>
            </a:avLst>
          </a:prstGeom>
          <a:solidFill>
            <a:srgbClr val="123B2B"/>
          </a:solidFill>
          <a:ln w="12700">
            <a:solidFill>
              <a:srgbClr val="123B2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325880" y="4663440"/>
            <a:ext cx="54864" cy="777240"/>
          </a:xfrm>
          <a:prstGeom prst="rect">
            <a:avLst/>
          </a:prstGeom>
          <a:solidFill>
            <a:srgbClr val="FFC323"/>
          </a:solidFill>
          <a:ln w="12700">
            <a:solidFill>
              <a:srgbClr val="FFC323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581912" y="4864608"/>
            <a:ext cx="9089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aramond"/>
              </a:rPr>
              <a:t>Requirement</a:t>
            </a:r>
            <a:endParaRPr lang="en-US" sz="1400" dirty="0">
              <a:latin typeface="Garamond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1581912" y="5230368"/>
            <a:ext cx="9089136" cy="27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CAD7CF"/>
                </a:solidFill>
                <a:latin typeface="Garamond"/>
              </a:rPr>
              <a:t>Clarify who performs each control: KOWO, Sumsub, the PSP, mobile money operator and banks. Avoid duplicate friction while remaining compliant.</a:t>
            </a:r>
            <a:endParaRPr lang="en-US" sz="1050" dirty="0">
              <a:latin typeface="Garamond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502920" y="644652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8766E"/>
                </a:solidFill>
                <a:latin typeface="Garamond"/>
              </a:rPr>
              <a:t>Payment Infrastructure Requirements</a:t>
            </a:r>
            <a:endParaRPr lang="en-US" sz="850" dirty="0">
              <a:latin typeface="Garamond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8766E"/>
                </a:solidFill>
                <a:latin typeface="Garamond"/>
              </a:rPr>
              <a:t>10</a:t>
            </a:r>
            <a:endParaRPr lang="en-US" sz="850" dirty="0">
              <a:latin typeface="Garamon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3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kowo-payment-infrastructure-pack/assets/kowo-logo-official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47472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4023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aramond"/>
                <a:ea typeface="Jost" pitchFamily="34" charset="-122"/>
                <a:cs typeface="Jost" pitchFamily="34" charset="-120"/>
              </a:rPr>
              <a:t>KO</a:t>
            </a:r>
            <a:r>
              <a:rPr lang="en-US" sz="1400" b="1" dirty="0">
                <a:solidFill>
                  <a:srgbClr val="FFC323"/>
                </a:solidFill>
                <a:latin typeface="Garamond"/>
                <a:ea typeface="Jost" pitchFamily="34" charset="-122"/>
                <a:cs typeface="Jost" pitchFamily="34" charset="-120"/>
              </a:rPr>
              <a:t>WO</a:t>
            </a:r>
            <a:endParaRPr lang="en-US" sz="1400" dirty="0">
              <a:latin typeface="Garamond"/>
            </a:endParaRPr>
          </a:p>
        </p:txBody>
      </p:sp>
      <p:sp>
        <p:nvSpPr>
          <p:cNvPr id="4" name="Text 1"/>
          <p:cNvSpPr/>
          <p:nvPr/>
        </p:nvSpPr>
        <p:spPr>
          <a:xfrm>
            <a:off x="658368" y="78638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C323"/>
                </a:solidFill>
                <a:latin typeface="Garamond"/>
              </a:rPr>
              <a:t>10 · API CAPABILITIES</a:t>
            </a:r>
            <a:endParaRPr lang="en-US" sz="850" dirty="0">
              <a:latin typeface="Garamond"/>
            </a:endParaRPr>
          </a:p>
        </p:txBody>
      </p:sp>
      <p:sp>
        <p:nvSpPr>
          <p:cNvPr id="5" name="Text 2"/>
          <p:cNvSpPr/>
          <p:nvPr/>
        </p:nvSpPr>
        <p:spPr>
          <a:xfrm>
            <a:off x="640080" y="1024128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aramond"/>
              </a:rPr>
              <a:t>The API must support wallet-grade operations</a:t>
            </a:r>
            <a:endParaRPr lang="en-US" sz="2600" dirty="0">
              <a:latin typeface="Garamond"/>
            </a:endParaRPr>
          </a:p>
        </p:txBody>
      </p:sp>
      <p:sp>
        <p:nvSpPr>
          <p:cNvPr id="6" name="Shape 3"/>
          <p:cNvSpPr/>
          <p:nvPr/>
        </p:nvSpPr>
        <p:spPr>
          <a:xfrm>
            <a:off x="777240" y="2057400"/>
            <a:ext cx="3154680" cy="1097280"/>
          </a:xfrm>
          <a:prstGeom prst="roundRect">
            <a:avLst>
              <a:gd name="adj" fmla="val 13333"/>
            </a:avLst>
          </a:prstGeom>
          <a:solidFill>
            <a:srgbClr val="1C563E"/>
          </a:solidFill>
          <a:ln w="12700">
            <a:solidFill>
              <a:srgbClr val="2C765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7240" y="2057400"/>
            <a:ext cx="54864" cy="1097280"/>
          </a:xfrm>
          <a:prstGeom prst="rect">
            <a:avLst/>
          </a:prstGeom>
          <a:solidFill>
            <a:srgbClr val="8DFFD3"/>
          </a:solidFill>
          <a:ln w="12700">
            <a:solidFill>
              <a:srgbClr val="8DFFD3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33272" y="2258568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aramond"/>
              </a:rPr>
              <a:t>Create user wallet</a:t>
            </a:r>
            <a:endParaRPr lang="en-US" sz="1400" dirty="0">
              <a:latin typeface="Garamond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33272" y="2624328"/>
            <a:ext cx="2642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CAD7CF"/>
                </a:solidFill>
                <a:latin typeface="Garamond"/>
              </a:rPr>
              <a:t>Onboard verified users with unique references.</a:t>
            </a:r>
            <a:endParaRPr lang="en-US" sz="1050" dirty="0">
              <a:latin typeface="Garamond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526280" y="2057400"/>
            <a:ext cx="3154680" cy="1097280"/>
          </a:xfrm>
          <a:prstGeom prst="roundRect">
            <a:avLst>
              <a:gd name="adj" fmla="val 13333"/>
            </a:avLst>
          </a:prstGeom>
          <a:solidFill>
            <a:srgbClr val="1C563E"/>
          </a:solidFill>
          <a:ln w="12700">
            <a:solidFill>
              <a:srgbClr val="2C765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26280" y="2057400"/>
            <a:ext cx="54864" cy="1097280"/>
          </a:xfrm>
          <a:prstGeom prst="rect">
            <a:avLst/>
          </a:prstGeom>
          <a:solidFill>
            <a:srgbClr val="FFC323"/>
          </a:solidFill>
          <a:ln w="12700">
            <a:solidFill>
              <a:srgbClr val="FFC323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82312" y="2258568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aramond"/>
              </a:rPr>
              <a:t>Fund wallet</a:t>
            </a:r>
            <a:endParaRPr lang="en-US" sz="1400" dirty="0">
              <a:latin typeface="Garamond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782312" y="2624328"/>
            <a:ext cx="2642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CAD7CF"/>
                </a:solidFill>
                <a:latin typeface="Garamond"/>
              </a:rPr>
              <a:t>Mobile Money/card/bank funding with status callbacks.</a:t>
            </a:r>
            <a:endParaRPr lang="en-US" sz="1050" dirty="0">
              <a:latin typeface="Garamond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8275320" y="2057400"/>
            <a:ext cx="3154680" cy="1097280"/>
          </a:xfrm>
          <a:prstGeom prst="roundRect">
            <a:avLst>
              <a:gd name="adj" fmla="val 13333"/>
            </a:avLst>
          </a:prstGeom>
          <a:solidFill>
            <a:srgbClr val="1C563E"/>
          </a:solidFill>
          <a:ln w="12700">
            <a:solidFill>
              <a:srgbClr val="2C765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275320" y="2057400"/>
            <a:ext cx="54864" cy="1097280"/>
          </a:xfrm>
          <a:prstGeom prst="rect">
            <a:avLst/>
          </a:prstGeom>
          <a:solidFill>
            <a:srgbClr val="8DFFD3"/>
          </a:solidFill>
          <a:ln w="12700">
            <a:solidFill>
              <a:srgbClr val="8DFFD3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31352" y="2258568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aramond"/>
              </a:rPr>
              <a:t>Lock balance</a:t>
            </a:r>
            <a:endParaRPr lang="en-US" sz="1400" dirty="0">
              <a:latin typeface="Garamond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8531352" y="2624328"/>
            <a:ext cx="2642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CAD7CF"/>
                </a:solidFill>
                <a:latin typeface="Garamond"/>
              </a:rPr>
              <a:t>Create, update and release caution holds.</a:t>
            </a:r>
            <a:endParaRPr lang="en-US" sz="1050" dirty="0">
              <a:latin typeface="Garamond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777240" y="3520440"/>
            <a:ext cx="3154680" cy="1097280"/>
          </a:xfrm>
          <a:prstGeom prst="roundRect">
            <a:avLst>
              <a:gd name="adj" fmla="val 13333"/>
            </a:avLst>
          </a:prstGeom>
          <a:solidFill>
            <a:srgbClr val="1C563E"/>
          </a:solidFill>
          <a:ln w="12700">
            <a:solidFill>
              <a:srgbClr val="2C765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77240" y="3520440"/>
            <a:ext cx="54864" cy="1097280"/>
          </a:xfrm>
          <a:prstGeom prst="rect">
            <a:avLst/>
          </a:prstGeom>
          <a:solidFill>
            <a:srgbClr val="FFC323"/>
          </a:solidFill>
          <a:ln w="12700">
            <a:solidFill>
              <a:srgbClr val="FFC323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33272" y="3721608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aramond"/>
              </a:rPr>
              <a:t>Initiate payout</a:t>
            </a:r>
            <a:endParaRPr lang="en-US" sz="1400" dirty="0">
              <a:latin typeface="Garamond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1033272" y="4087368"/>
            <a:ext cx="2642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CAD7CF"/>
                </a:solidFill>
                <a:latin typeface="Garamond"/>
              </a:rPr>
              <a:t>Partner executes payouts to eligible beneficiaries.</a:t>
            </a:r>
            <a:endParaRPr lang="en-US" sz="1050" dirty="0">
              <a:latin typeface="Garamond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4526280" y="3520440"/>
            <a:ext cx="3154680" cy="1097280"/>
          </a:xfrm>
          <a:prstGeom prst="roundRect">
            <a:avLst>
              <a:gd name="adj" fmla="val 13333"/>
            </a:avLst>
          </a:prstGeom>
          <a:solidFill>
            <a:srgbClr val="1C563E"/>
          </a:solidFill>
          <a:ln w="12700">
            <a:solidFill>
              <a:srgbClr val="2C765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526280" y="3520440"/>
            <a:ext cx="54864" cy="1097280"/>
          </a:xfrm>
          <a:prstGeom prst="rect">
            <a:avLst/>
          </a:prstGeom>
          <a:solidFill>
            <a:srgbClr val="8DFFD3"/>
          </a:solidFill>
          <a:ln w="12700">
            <a:solidFill>
              <a:srgbClr val="8DFFD3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82312" y="3721608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aramond"/>
              </a:rPr>
              <a:t>Split commission</a:t>
            </a:r>
            <a:endParaRPr lang="en-US" sz="1400" dirty="0">
              <a:latin typeface="Garamond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4782312" y="4087368"/>
            <a:ext cx="2642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CAD7CF"/>
                </a:solidFill>
                <a:latin typeface="Garamond"/>
              </a:rPr>
              <a:t>Separate KOWO fee from user principal.</a:t>
            </a:r>
            <a:endParaRPr lang="en-US" sz="1050" dirty="0">
              <a:latin typeface="Garamond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8275320" y="3520440"/>
            <a:ext cx="3154680" cy="1097280"/>
          </a:xfrm>
          <a:prstGeom prst="roundRect">
            <a:avLst>
              <a:gd name="adj" fmla="val 13333"/>
            </a:avLst>
          </a:prstGeom>
          <a:solidFill>
            <a:srgbClr val="1C563E"/>
          </a:solidFill>
          <a:ln w="12700">
            <a:solidFill>
              <a:srgbClr val="2C7655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275320" y="3520440"/>
            <a:ext cx="54864" cy="1097280"/>
          </a:xfrm>
          <a:prstGeom prst="rect">
            <a:avLst/>
          </a:prstGeom>
          <a:solidFill>
            <a:srgbClr val="FFC323"/>
          </a:solidFill>
          <a:ln w="12700">
            <a:solidFill>
              <a:srgbClr val="FFC323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531352" y="3721608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aramond"/>
              </a:rPr>
              <a:t>Export ledger</a:t>
            </a:r>
            <a:endParaRPr lang="en-US" sz="1400" dirty="0">
              <a:latin typeface="Garamond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8531352" y="4087368"/>
            <a:ext cx="2642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CAD7CF"/>
                </a:solidFill>
                <a:latin typeface="Garamond"/>
              </a:rPr>
              <a:t>Transactions, balances, statuses and reconciliation.</a:t>
            </a:r>
            <a:endParaRPr lang="en-US" sz="1050" dirty="0">
              <a:latin typeface="Garamond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502920" y="644652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9B8AE"/>
                </a:solidFill>
                <a:latin typeface="Garamond"/>
              </a:rPr>
              <a:t>Payment Infrastructure Requirements</a:t>
            </a:r>
            <a:endParaRPr lang="en-US" sz="850" dirty="0">
              <a:latin typeface="Garamond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9B8AE"/>
                </a:solidFill>
                <a:latin typeface="Garamond"/>
              </a:rPr>
              <a:t>11</a:t>
            </a:r>
            <a:endParaRPr lang="en-US" sz="850" dirty="0">
              <a:latin typeface="Garamon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kowo-payment-infrastructure-pack/assets/kowo-logo-official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47472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4023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B2B"/>
                </a:solidFill>
                <a:latin typeface="Garamond"/>
                <a:ea typeface="Jost" pitchFamily="34" charset="-122"/>
                <a:cs typeface="Jost" pitchFamily="34" charset="-120"/>
              </a:rPr>
              <a:t>KO</a:t>
            </a:r>
            <a:r>
              <a:rPr lang="en-US" sz="1400" b="1" dirty="0">
                <a:solidFill>
                  <a:srgbClr val="FFC323"/>
                </a:solidFill>
                <a:latin typeface="Garamond"/>
                <a:ea typeface="Jost" pitchFamily="34" charset="-122"/>
                <a:cs typeface="Jost" pitchFamily="34" charset="-120"/>
              </a:rPr>
              <a:t>WO</a:t>
            </a:r>
            <a:endParaRPr lang="en-US" sz="1400" dirty="0">
              <a:latin typeface="Garamond"/>
            </a:endParaRPr>
          </a:p>
        </p:txBody>
      </p:sp>
      <p:sp>
        <p:nvSpPr>
          <p:cNvPr id="4" name="Text 1"/>
          <p:cNvSpPr/>
          <p:nvPr/>
        </p:nvSpPr>
        <p:spPr>
          <a:xfrm>
            <a:off x="658368" y="78638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C323"/>
                </a:solidFill>
                <a:latin typeface="Garamond"/>
              </a:rPr>
              <a:t>11 · EVENTS &amp; WEBHOOKS</a:t>
            </a:r>
            <a:endParaRPr lang="en-US" sz="850" dirty="0">
              <a:latin typeface="Garamond"/>
            </a:endParaRPr>
          </a:p>
        </p:txBody>
      </p:sp>
      <p:sp>
        <p:nvSpPr>
          <p:cNvPr id="5" name="Text 2"/>
          <p:cNvSpPr/>
          <p:nvPr/>
        </p:nvSpPr>
        <p:spPr>
          <a:xfrm>
            <a:off x="640080" y="1024128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E1712"/>
                </a:solidFill>
                <a:latin typeface="Garamond"/>
              </a:rPr>
              <a:t>KOWO requires reliable transaction states</a:t>
            </a:r>
            <a:endParaRPr lang="en-US" sz="2600" dirty="0">
              <a:latin typeface="Garamond"/>
            </a:endParaRPr>
          </a:p>
        </p:txBody>
      </p:sp>
      <p:sp>
        <p:nvSpPr>
          <p:cNvPr id="6" name="Shape 3"/>
          <p:cNvSpPr/>
          <p:nvPr/>
        </p:nvSpPr>
        <p:spPr>
          <a:xfrm>
            <a:off x="822960" y="2194560"/>
            <a:ext cx="1874520" cy="310896"/>
          </a:xfrm>
          <a:prstGeom prst="roundRect">
            <a:avLst>
              <a:gd name="adj" fmla="val 35294"/>
            </a:avLst>
          </a:prstGeom>
          <a:solidFill>
            <a:srgbClr val="F2F7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32688" y="2276856"/>
            <a:ext cx="1655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23B2B"/>
                </a:solidFill>
                <a:latin typeface="Garamond"/>
              </a:rPr>
              <a:t>payment.created</a:t>
            </a:r>
            <a:endParaRPr lang="en-US" sz="850" dirty="0">
              <a:latin typeface="Garamond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035808" y="2194560"/>
            <a:ext cx="1874520" cy="310896"/>
          </a:xfrm>
          <a:prstGeom prst="roundRect">
            <a:avLst>
              <a:gd name="adj" fmla="val 35294"/>
            </a:avLst>
          </a:prstGeom>
          <a:solidFill>
            <a:srgbClr val="FFF8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145536" y="2276856"/>
            <a:ext cx="1655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C323"/>
                </a:solidFill>
                <a:latin typeface="Garamond"/>
              </a:rPr>
              <a:t>payment.succeeded</a:t>
            </a:r>
            <a:endParaRPr lang="en-US" sz="850" dirty="0">
              <a:latin typeface="Garamond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5248656" y="2194560"/>
            <a:ext cx="1874520" cy="310896"/>
          </a:xfrm>
          <a:prstGeom prst="roundRect">
            <a:avLst>
              <a:gd name="adj" fmla="val 35294"/>
            </a:avLst>
          </a:prstGeom>
          <a:solidFill>
            <a:srgbClr val="F2F7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58384" y="2276856"/>
            <a:ext cx="1655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23B2B"/>
                </a:solidFill>
                <a:latin typeface="Garamond"/>
              </a:rPr>
              <a:t>payment.failed</a:t>
            </a:r>
            <a:endParaRPr lang="en-US" sz="850" dirty="0">
              <a:latin typeface="Garamond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7461504" y="2194560"/>
            <a:ext cx="1874520" cy="310896"/>
          </a:xfrm>
          <a:prstGeom prst="roundRect">
            <a:avLst>
              <a:gd name="adj" fmla="val 35294"/>
            </a:avLst>
          </a:prstGeom>
          <a:solidFill>
            <a:srgbClr val="FFF8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571232" y="2276856"/>
            <a:ext cx="1655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C323"/>
                </a:solidFill>
                <a:latin typeface="Garamond"/>
              </a:rPr>
              <a:t>wallet.credited</a:t>
            </a:r>
            <a:endParaRPr lang="en-US" sz="850" dirty="0">
              <a:latin typeface="Garamond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9674352" y="2194560"/>
            <a:ext cx="1874520" cy="310896"/>
          </a:xfrm>
          <a:prstGeom prst="roundRect">
            <a:avLst>
              <a:gd name="adj" fmla="val 35294"/>
            </a:avLst>
          </a:prstGeom>
          <a:solidFill>
            <a:srgbClr val="F2F7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784080" y="2276856"/>
            <a:ext cx="1655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23B2B"/>
                </a:solidFill>
                <a:latin typeface="Garamond"/>
              </a:rPr>
              <a:t>hold.created</a:t>
            </a:r>
            <a:endParaRPr lang="en-US" sz="850" dirty="0">
              <a:latin typeface="Garamond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822960" y="2852928"/>
            <a:ext cx="1874520" cy="310896"/>
          </a:xfrm>
          <a:prstGeom prst="roundRect">
            <a:avLst>
              <a:gd name="adj" fmla="val 35294"/>
            </a:avLst>
          </a:prstGeom>
          <a:solidFill>
            <a:srgbClr val="FFF8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32688" y="2935224"/>
            <a:ext cx="1655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C323"/>
                </a:solidFill>
                <a:latin typeface="Garamond"/>
              </a:rPr>
              <a:t>hold.released</a:t>
            </a:r>
            <a:endParaRPr lang="en-US" sz="850" dirty="0">
              <a:latin typeface="Garamond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3035808" y="2852928"/>
            <a:ext cx="1874520" cy="310896"/>
          </a:xfrm>
          <a:prstGeom prst="roundRect">
            <a:avLst>
              <a:gd name="adj" fmla="val 35294"/>
            </a:avLst>
          </a:prstGeom>
          <a:solidFill>
            <a:srgbClr val="F2F7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145536" y="2935224"/>
            <a:ext cx="1655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23B2B"/>
                </a:solidFill>
                <a:latin typeface="Garamond"/>
              </a:rPr>
              <a:t>payout.pending</a:t>
            </a:r>
            <a:endParaRPr lang="en-US" sz="850" dirty="0">
              <a:latin typeface="Garamond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5248656" y="2852928"/>
            <a:ext cx="1874520" cy="310896"/>
          </a:xfrm>
          <a:prstGeom prst="roundRect">
            <a:avLst>
              <a:gd name="adj" fmla="val 35294"/>
            </a:avLst>
          </a:prstGeom>
          <a:solidFill>
            <a:srgbClr val="FFF8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358384" y="2935224"/>
            <a:ext cx="1655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C323"/>
                </a:solidFill>
                <a:latin typeface="Garamond"/>
              </a:rPr>
              <a:t>payout.succeeded</a:t>
            </a:r>
            <a:endParaRPr lang="en-US" sz="850" dirty="0">
              <a:latin typeface="Garamond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7461504" y="2852928"/>
            <a:ext cx="1874520" cy="310896"/>
          </a:xfrm>
          <a:prstGeom prst="roundRect">
            <a:avLst>
              <a:gd name="adj" fmla="val 35294"/>
            </a:avLst>
          </a:prstGeom>
          <a:solidFill>
            <a:srgbClr val="F2F7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571232" y="2935224"/>
            <a:ext cx="1655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23B2B"/>
                </a:solidFill>
                <a:latin typeface="Garamond"/>
              </a:rPr>
              <a:t>payout.failed</a:t>
            </a:r>
            <a:endParaRPr lang="en-US" sz="850" dirty="0">
              <a:latin typeface="Garamond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9674352" y="2852928"/>
            <a:ext cx="1874520" cy="310896"/>
          </a:xfrm>
          <a:prstGeom prst="roundRect">
            <a:avLst>
              <a:gd name="adj" fmla="val 35294"/>
            </a:avLst>
          </a:prstGeom>
          <a:solidFill>
            <a:srgbClr val="FFF8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784080" y="2935224"/>
            <a:ext cx="1655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C323"/>
                </a:solidFill>
                <a:latin typeface="Garamond"/>
              </a:rPr>
              <a:t>commission.settled</a:t>
            </a:r>
            <a:endParaRPr lang="en-US" sz="850" dirty="0">
              <a:latin typeface="Garamond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1005840" y="4572000"/>
            <a:ext cx="9875520" cy="960120"/>
          </a:xfrm>
          <a:prstGeom prst="roundRect">
            <a:avLst>
              <a:gd name="adj" fmla="val 15238"/>
            </a:avLst>
          </a:prstGeom>
          <a:solidFill>
            <a:srgbClr val="123B2B"/>
          </a:solidFill>
          <a:ln w="12700">
            <a:solidFill>
              <a:srgbClr val="123B2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005840" y="4572000"/>
            <a:ext cx="54864" cy="960120"/>
          </a:xfrm>
          <a:prstGeom prst="rect">
            <a:avLst/>
          </a:prstGeom>
          <a:solidFill>
            <a:srgbClr val="FFC323"/>
          </a:solidFill>
          <a:ln w="12700">
            <a:solidFill>
              <a:srgbClr val="FFC323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261872" y="4773168"/>
            <a:ext cx="9363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aramond"/>
              </a:rPr>
              <a:t>Required behavior</a:t>
            </a:r>
            <a:endParaRPr lang="en-US" sz="1400" dirty="0">
              <a:latin typeface="Garamond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1261872" y="5138928"/>
            <a:ext cx="93634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CAD7CF"/>
                </a:solidFill>
                <a:latin typeface="Garamond"/>
              </a:rPr>
              <a:t>Events must be idempotent, signed, timestamped, retryable and mapped to human-readable statuses in the KOWO app.</a:t>
            </a:r>
            <a:endParaRPr lang="en-US" sz="1050" dirty="0">
              <a:latin typeface="Garamond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502920" y="644652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8766E"/>
                </a:solidFill>
                <a:latin typeface="Garamond"/>
              </a:rPr>
              <a:t>Payment Infrastructure Requirements</a:t>
            </a:r>
            <a:endParaRPr lang="en-US" sz="850" dirty="0">
              <a:latin typeface="Garamond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8766E"/>
                </a:solidFill>
                <a:latin typeface="Garamond"/>
              </a:rPr>
              <a:t>12</a:t>
            </a:r>
            <a:endParaRPr lang="en-US" sz="850" dirty="0">
              <a:latin typeface="Garamon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kowo-payment-infrastructure-pack/assets/kowo-logo-official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47472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4023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B2B"/>
                </a:solidFill>
                <a:latin typeface="Garamond"/>
                <a:ea typeface="Jost" pitchFamily="34" charset="-122"/>
                <a:cs typeface="Jost" pitchFamily="34" charset="-120"/>
              </a:rPr>
              <a:t>KO</a:t>
            </a:r>
            <a:r>
              <a:rPr lang="en-US" sz="1400" b="1" dirty="0">
                <a:solidFill>
                  <a:srgbClr val="FFC323"/>
                </a:solidFill>
                <a:latin typeface="Garamond"/>
                <a:ea typeface="Jost" pitchFamily="34" charset="-122"/>
                <a:cs typeface="Jost" pitchFamily="34" charset="-120"/>
              </a:rPr>
              <a:t>WO</a:t>
            </a:r>
            <a:endParaRPr lang="en-US" sz="1400" dirty="0">
              <a:latin typeface="Garamond"/>
            </a:endParaRPr>
          </a:p>
        </p:txBody>
      </p:sp>
      <p:sp>
        <p:nvSpPr>
          <p:cNvPr id="4" name="Text 1"/>
          <p:cNvSpPr/>
          <p:nvPr/>
        </p:nvSpPr>
        <p:spPr>
          <a:xfrm>
            <a:off x="658368" y="78638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C323"/>
                </a:solidFill>
                <a:latin typeface="Garamond"/>
              </a:rPr>
              <a:t>12 · RECONCILIATION &amp; REPORTING</a:t>
            </a:r>
            <a:endParaRPr lang="en-US" sz="850" dirty="0">
              <a:latin typeface="Garamond"/>
            </a:endParaRPr>
          </a:p>
        </p:txBody>
      </p:sp>
      <p:sp>
        <p:nvSpPr>
          <p:cNvPr id="5" name="Text 2"/>
          <p:cNvSpPr/>
          <p:nvPr/>
        </p:nvSpPr>
        <p:spPr>
          <a:xfrm>
            <a:off x="640080" y="1024128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E1712"/>
                </a:solidFill>
                <a:latin typeface="Garamond"/>
              </a:rPr>
              <a:t>Operational trust depends on clean reporting</a:t>
            </a:r>
            <a:endParaRPr lang="en-US" sz="2600" dirty="0">
              <a:latin typeface="Garamond"/>
            </a:endParaRPr>
          </a:p>
        </p:txBody>
      </p:sp>
      <p:sp>
        <p:nvSpPr>
          <p:cNvPr id="6" name="Shape 3"/>
          <p:cNvSpPr/>
          <p:nvPr/>
        </p:nvSpPr>
        <p:spPr>
          <a:xfrm>
            <a:off x="914400" y="2240280"/>
            <a:ext cx="2286000" cy="1828800"/>
          </a:xfrm>
          <a:prstGeom prst="roundRect">
            <a:avLst>
              <a:gd name="adj" fmla="val 9000"/>
            </a:avLst>
          </a:prstGeom>
          <a:solidFill>
            <a:srgbClr val="FFFDF8"/>
          </a:solidFill>
          <a:ln w="12700">
            <a:solidFill>
              <a:srgbClr val="DFD8C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15568" y="242316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Garamond"/>
              </a:rPr>
              <a:t>📊</a:t>
            </a:r>
            <a:endParaRPr lang="en-US" sz="2000" dirty="0">
              <a:latin typeface="Garamond"/>
            </a:endParaRPr>
          </a:p>
        </p:txBody>
      </p:sp>
      <p:sp>
        <p:nvSpPr>
          <p:cNvPr id="8" name="Text 5"/>
          <p:cNvSpPr/>
          <p:nvPr/>
        </p:nvSpPr>
        <p:spPr>
          <a:xfrm>
            <a:off x="1600200" y="246888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E1712"/>
                </a:solidFill>
                <a:latin typeface="Garamond"/>
              </a:rPr>
              <a:t>Daily ledger</a:t>
            </a:r>
            <a:endParaRPr lang="en-US" sz="1300" dirty="0">
              <a:latin typeface="Garamond"/>
            </a:endParaRPr>
          </a:p>
        </p:txBody>
      </p:sp>
      <p:sp>
        <p:nvSpPr>
          <p:cNvPr id="9" name="Text 6"/>
          <p:cNvSpPr/>
          <p:nvPr/>
        </p:nvSpPr>
        <p:spPr>
          <a:xfrm>
            <a:off x="1143000" y="2898648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8766E"/>
                </a:solidFill>
                <a:latin typeface="Garamond"/>
              </a:rPr>
              <a:t>Complete transaction export with references.</a:t>
            </a:r>
            <a:endParaRPr lang="en-US" sz="960" dirty="0">
              <a:latin typeface="Garamond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657600" y="2240280"/>
            <a:ext cx="2286000" cy="1828800"/>
          </a:xfrm>
          <a:prstGeom prst="roundRect">
            <a:avLst>
              <a:gd name="adj" fmla="val 9000"/>
            </a:avLst>
          </a:prstGeom>
          <a:solidFill>
            <a:srgbClr val="FFFDF8"/>
          </a:solidFill>
          <a:ln w="12700">
            <a:solidFill>
              <a:srgbClr val="DFD8C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858768" y="242316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Garamond"/>
              </a:rPr>
              <a:t>📊</a:t>
            </a:r>
            <a:endParaRPr lang="en-US" sz="2000" dirty="0">
              <a:latin typeface="Garamond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343400" y="246888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E1712"/>
                </a:solidFill>
                <a:latin typeface="Garamond"/>
              </a:rPr>
              <a:t>Balance report</a:t>
            </a:r>
            <a:endParaRPr lang="en-US" sz="1300" dirty="0">
              <a:latin typeface="Garamond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886200" y="2898648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8766E"/>
                </a:solidFill>
                <a:latin typeface="Garamond"/>
              </a:rPr>
              <a:t>Available, locked and settled balances.</a:t>
            </a:r>
            <a:endParaRPr lang="en-US" sz="960" dirty="0">
              <a:latin typeface="Garamond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400800" y="2240280"/>
            <a:ext cx="2286000" cy="1828800"/>
          </a:xfrm>
          <a:prstGeom prst="roundRect">
            <a:avLst>
              <a:gd name="adj" fmla="val 9000"/>
            </a:avLst>
          </a:prstGeom>
          <a:solidFill>
            <a:srgbClr val="FFFDF8"/>
          </a:solidFill>
          <a:ln w="12700">
            <a:solidFill>
              <a:srgbClr val="DFD8C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01968" y="242316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Garamond"/>
              </a:rPr>
              <a:t>📊</a:t>
            </a:r>
            <a:endParaRPr lang="en-US" sz="2000" dirty="0">
              <a:latin typeface="Garamond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7086600" y="246888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E1712"/>
                </a:solidFill>
                <a:latin typeface="Garamond"/>
              </a:rPr>
              <a:t>Fee report</a:t>
            </a:r>
            <a:endParaRPr lang="en-US" sz="1300" dirty="0">
              <a:latin typeface="Garamond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629400" y="2898648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8766E"/>
                </a:solidFill>
                <a:latin typeface="Garamond"/>
              </a:rPr>
              <a:t>KOWO commissions by group, user and date.</a:t>
            </a:r>
            <a:endParaRPr lang="en-US" sz="960" dirty="0">
              <a:latin typeface="Garamond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9144000" y="2240280"/>
            <a:ext cx="2286000" cy="1828800"/>
          </a:xfrm>
          <a:prstGeom prst="roundRect">
            <a:avLst>
              <a:gd name="adj" fmla="val 9000"/>
            </a:avLst>
          </a:prstGeom>
          <a:solidFill>
            <a:srgbClr val="FFFDF8"/>
          </a:solidFill>
          <a:ln w="12700">
            <a:solidFill>
              <a:srgbClr val="DFD8C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345168" y="242316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Garamond"/>
              </a:rPr>
              <a:t>📊</a:t>
            </a:r>
            <a:endParaRPr lang="en-US" sz="2000" dirty="0">
              <a:latin typeface="Garamond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9829800" y="246888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E1712"/>
                </a:solidFill>
                <a:latin typeface="Garamond"/>
              </a:rPr>
              <a:t>Exception report</a:t>
            </a:r>
            <a:endParaRPr lang="en-US" sz="1300" dirty="0">
              <a:latin typeface="Garamond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9372600" y="2898648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8766E"/>
                </a:solidFill>
                <a:latin typeface="Garamond"/>
              </a:rPr>
              <a:t>Failures, reversals, pending flows and disputes.</a:t>
            </a:r>
            <a:endParaRPr lang="en-US" sz="960" dirty="0">
              <a:latin typeface="Garamond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1143000" y="4937760"/>
            <a:ext cx="9326880" cy="685800"/>
          </a:xfrm>
          <a:prstGeom prst="roundRect">
            <a:avLst>
              <a:gd name="adj" fmla="val 21333"/>
            </a:avLst>
          </a:prstGeom>
          <a:solidFill>
            <a:srgbClr val="FFF8E1"/>
          </a:solidFill>
          <a:ln w="12700">
            <a:solidFill>
              <a:srgbClr val="DFD8C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143000" y="4937760"/>
            <a:ext cx="54864" cy="685800"/>
          </a:xfrm>
          <a:prstGeom prst="rect">
            <a:avLst/>
          </a:prstGeom>
          <a:solidFill>
            <a:srgbClr val="FFC323"/>
          </a:solidFill>
          <a:ln w="12700">
            <a:solidFill>
              <a:srgbClr val="FFC323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399032" y="5138928"/>
            <a:ext cx="8814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E1712"/>
                </a:solidFill>
                <a:latin typeface="Garamond"/>
              </a:rPr>
              <a:t>Minimum standard</a:t>
            </a:r>
            <a:endParaRPr lang="en-US" sz="1400" dirty="0">
              <a:latin typeface="Garamond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1399032" y="5504688"/>
            <a:ext cx="881481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8766E"/>
                </a:solidFill>
                <a:latin typeface="Garamond"/>
              </a:rPr>
              <a:t>CSV export + API endpoint + dashboard view + settlement statement.</a:t>
            </a:r>
            <a:endParaRPr lang="en-US" sz="1050" dirty="0">
              <a:latin typeface="Garamond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502920" y="644652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8766E"/>
                </a:solidFill>
                <a:latin typeface="Garamond"/>
              </a:rPr>
              <a:t>Payment Infrastructure Requirements</a:t>
            </a:r>
            <a:endParaRPr lang="en-US" sz="850" dirty="0">
              <a:latin typeface="Garamond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8766E"/>
                </a:solidFill>
                <a:latin typeface="Garamond"/>
              </a:rPr>
              <a:t>13</a:t>
            </a:r>
            <a:endParaRPr lang="en-US" sz="850" dirty="0">
              <a:latin typeface="Garamon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3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kowo-payment-infrastructure-pack/assets/kowo-logo-official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47472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4023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aramond"/>
                <a:ea typeface="Jost" pitchFamily="34" charset="-122"/>
                <a:cs typeface="Jost" pitchFamily="34" charset="-120"/>
              </a:rPr>
              <a:t>KO</a:t>
            </a:r>
            <a:r>
              <a:rPr lang="en-US" sz="1400" b="1" dirty="0">
                <a:solidFill>
                  <a:srgbClr val="FFC323"/>
                </a:solidFill>
                <a:latin typeface="Garamond"/>
                <a:ea typeface="Jost" pitchFamily="34" charset="-122"/>
                <a:cs typeface="Jost" pitchFamily="34" charset="-120"/>
              </a:rPr>
              <a:t>WO</a:t>
            </a:r>
            <a:endParaRPr lang="en-US" sz="1400" dirty="0">
              <a:latin typeface="Garamond"/>
            </a:endParaRPr>
          </a:p>
        </p:txBody>
      </p:sp>
      <p:sp>
        <p:nvSpPr>
          <p:cNvPr id="4" name="Text 1"/>
          <p:cNvSpPr/>
          <p:nvPr/>
        </p:nvSpPr>
        <p:spPr>
          <a:xfrm>
            <a:off x="658368" y="78638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C323"/>
                </a:solidFill>
                <a:latin typeface="Garamond"/>
              </a:rPr>
              <a:t>13 · RISK CONTROLS</a:t>
            </a:r>
            <a:endParaRPr lang="en-US" sz="850" dirty="0">
              <a:latin typeface="Garamond"/>
            </a:endParaRPr>
          </a:p>
        </p:txBody>
      </p:sp>
      <p:sp>
        <p:nvSpPr>
          <p:cNvPr id="5" name="Text 2"/>
          <p:cNvSpPr/>
          <p:nvPr/>
        </p:nvSpPr>
        <p:spPr>
          <a:xfrm>
            <a:off x="640080" y="1024128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aramond"/>
              </a:rPr>
              <a:t>Controls expected before scale</a:t>
            </a:r>
            <a:endParaRPr lang="en-US" sz="2600" dirty="0">
              <a:latin typeface="Garamond"/>
            </a:endParaRPr>
          </a:p>
        </p:txBody>
      </p:sp>
      <p:sp>
        <p:nvSpPr>
          <p:cNvPr id="6" name="Shape 3"/>
          <p:cNvSpPr/>
          <p:nvPr/>
        </p:nvSpPr>
        <p:spPr>
          <a:xfrm>
            <a:off x="777240" y="2103120"/>
            <a:ext cx="3154680" cy="987552"/>
          </a:xfrm>
          <a:prstGeom prst="roundRect">
            <a:avLst>
              <a:gd name="adj" fmla="val 14815"/>
            </a:avLst>
          </a:prstGeom>
          <a:solidFill>
            <a:srgbClr val="1C563E"/>
          </a:solidFill>
          <a:ln w="12700">
            <a:solidFill>
              <a:srgbClr val="2C765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7240" y="2103120"/>
            <a:ext cx="54864" cy="987552"/>
          </a:xfrm>
          <a:prstGeom prst="rect">
            <a:avLst/>
          </a:prstGeom>
          <a:solidFill>
            <a:srgbClr val="8DFFD3"/>
          </a:solidFill>
          <a:ln w="12700">
            <a:solidFill>
              <a:srgbClr val="8DFFD3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33272" y="2304288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aramond"/>
              </a:rPr>
              <a:t>Limits</a:t>
            </a:r>
            <a:endParaRPr lang="en-US" sz="1400" dirty="0">
              <a:latin typeface="Garamond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33272" y="2670048"/>
            <a:ext cx="2642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CAD7CF"/>
                </a:solidFill>
                <a:latin typeface="Garamond"/>
              </a:rPr>
              <a:t>Per user / group / day / month.</a:t>
            </a:r>
            <a:endParaRPr lang="en-US" sz="1050" dirty="0">
              <a:latin typeface="Garamond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526280" y="2103120"/>
            <a:ext cx="3154680" cy="987552"/>
          </a:xfrm>
          <a:prstGeom prst="roundRect">
            <a:avLst>
              <a:gd name="adj" fmla="val 14815"/>
            </a:avLst>
          </a:prstGeom>
          <a:solidFill>
            <a:srgbClr val="1C563E"/>
          </a:solidFill>
          <a:ln w="12700">
            <a:solidFill>
              <a:srgbClr val="2C765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26280" y="2103120"/>
            <a:ext cx="54864" cy="987552"/>
          </a:xfrm>
          <a:prstGeom prst="rect">
            <a:avLst/>
          </a:prstGeom>
          <a:solidFill>
            <a:srgbClr val="FFC323"/>
          </a:solidFill>
          <a:ln w="12700">
            <a:solidFill>
              <a:srgbClr val="FFC323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82312" y="2304288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aramond"/>
              </a:rPr>
              <a:t>Velocity checks</a:t>
            </a:r>
            <a:endParaRPr lang="en-US" sz="1400" dirty="0">
              <a:latin typeface="Garamond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782312" y="2670048"/>
            <a:ext cx="2642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CAD7CF"/>
                </a:solidFill>
                <a:latin typeface="Garamond"/>
              </a:rPr>
              <a:t>Detect unusual contribution frequency.</a:t>
            </a:r>
            <a:endParaRPr lang="en-US" sz="1050" dirty="0">
              <a:latin typeface="Garamond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8275320" y="2103120"/>
            <a:ext cx="3154680" cy="987552"/>
          </a:xfrm>
          <a:prstGeom prst="roundRect">
            <a:avLst>
              <a:gd name="adj" fmla="val 14815"/>
            </a:avLst>
          </a:prstGeom>
          <a:solidFill>
            <a:srgbClr val="1C563E"/>
          </a:solidFill>
          <a:ln w="12700">
            <a:solidFill>
              <a:srgbClr val="2C765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275320" y="2103120"/>
            <a:ext cx="54864" cy="987552"/>
          </a:xfrm>
          <a:prstGeom prst="rect">
            <a:avLst/>
          </a:prstGeom>
          <a:solidFill>
            <a:srgbClr val="8DFFD3"/>
          </a:solidFill>
          <a:ln w="12700">
            <a:solidFill>
              <a:srgbClr val="8DFFD3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31352" y="2304288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aramond"/>
              </a:rPr>
              <a:t>Blacklists</a:t>
            </a:r>
            <a:endParaRPr lang="en-US" sz="1400" dirty="0">
              <a:latin typeface="Garamond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8531352" y="2670048"/>
            <a:ext cx="2642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CAD7CF"/>
                </a:solidFill>
                <a:latin typeface="Garamond"/>
              </a:rPr>
              <a:t>Blocked users, numbers and beneficiaries.</a:t>
            </a:r>
            <a:endParaRPr lang="en-US" sz="1050" dirty="0">
              <a:latin typeface="Garamond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777240" y="3474720"/>
            <a:ext cx="3154680" cy="987552"/>
          </a:xfrm>
          <a:prstGeom prst="roundRect">
            <a:avLst>
              <a:gd name="adj" fmla="val 14815"/>
            </a:avLst>
          </a:prstGeom>
          <a:solidFill>
            <a:srgbClr val="1C563E"/>
          </a:solidFill>
          <a:ln w="12700">
            <a:solidFill>
              <a:srgbClr val="2C765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77240" y="3474720"/>
            <a:ext cx="54864" cy="987552"/>
          </a:xfrm>
          <a:prstGeom prst="rect">
            <a:avLst/>
          </a:prstGeom>
          <a:solidFill>
            <a:srgbClr val="FFC323"/>
          </a:solidFill>
          <a:ln w="12700">
            <a:solidFill>
              <a:srgbClr val="FFC323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33272" y="3675888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aramond"/>
              </a:rPr>
              <a:t>Dispute process</a:t>
            </a:r>
            <a:endParaRPr lang="en-US" sz="1400" dirty="0">
              <a:latin typeface="Garamond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1033272" y="4041648"/>
            <a:ext cx="2642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CAD7CF"/>
                </a:solidFill>
                <a:latin typeface="Garamond"/>
              </a:rPr>
              <a:t>Clear handling for contested payments.</a:t>
            </a:r>
            <a:endParaRPr lang="en-US" sz="1050" dirty="0">
              <a:latin typeface="Garamond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4526280" y="3474720"/>
            <a:ext cx="3154680" cy="987552"/>
          </a:xfrm>
          <a:prstGeom prst="roundRect">
            <a:avLst>
              <a:gd name="adj" fmla="val 14815"/>
            </a:avLst>
          </a:prstGeom>
          <a:solidFill>
            <a:srgbClr val="1C563E"/>
          </a:solidFill>
          <a:ln w="12700">
            <a:solidFill>
              <a:srgbClr val="2C765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526280" y="3474720"/>
            <a:ext cx="54864" cy="987552"/>
          </a:xfrm>
          <a:prstGeom prst="rect">
            <a:avLst/>
          </a:prstGeom>
          <a:solidFill>
            <a:srgbClr val="8DFFD3"/>
          </a:solidFill>
          <a:ln w="12700">
            <a:solidFill>
              <a:srgbClr val="8DFFD3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82312" y="3675888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aramond"/>
              </a:rPr>
              <a:t>Manual review</a:t>
            </a:r>
            <a:endParaRPr lang="en-US" sz="1400" dirty="0">
              <a:latin typeface="Garamond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4782312" y="4041648"/>
            <a:ext cx="2642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CAD7CF"/>
                </a:solidFill>
                <a:latin typeface="Garamond"/>
              </a:rPr>
              <a:t>Partner escalation path for high-risk flows.</a:t>
            </a:r>
            <a:endParaRPr lang="en-US" sz="1050" dirty="0">
              <a:latin typeface="Garamond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8275320" y="3474720"/>
            <a:ext cx="3154680" cy="987552"/>
          </a:xfrm>
          <a:prstGeom prst="roundRect">
            <a:avLst>
              <a:gd name="adj" fmla="val 14815"/>
            </a:avLst>
          </a:prstGeom>
          <a:solidFill>
            <a:srgbClr val="1C563E"/>
          </a:solidFill>
          <a:ln w="12700">
            <a:solidFill>
              <a:srgbClr val="2C7655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275320" y="3474720"/>
            <a:ext cx="54864" cy="987552"/>
          </a:xfrm>
          <a:prstGeom prst="rect">
            <a:avLst/>
          </a:prstGeom>
          <a:solidFill>
            <a:srgbClr val="FFC323"/>
          </a:solidFill>
          <a:ln w="12700">
            <a:solidFill>
              <a:srgbClr val="FFC323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531352" y="3675888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aramond"/>
              </a:rPr>
              <a:t>Suspension policy</a:t>
            </a:r>
            <a:endParaRPr lang="en-US" sz="1400" dirty="0">
              <a:latin typeface="Garamond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8531352" y="4041648"/>
            <a:ext cx="2642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CAD7CF"/>
                </a:solidFill>
                <a:latin typeface="Garamond"/>
              </a:rPr>
              <a:t>Rules before freezing wallets or funds.</a:t>
            </a:r>
            <a:endParaRPr lang="en-US" sz="1050" dirty="0">
              <a:latin typeface="Garamond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502920" y="644652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9B8AE"/>
                </a:solidFill>
                <a:latin typeface="Garamond"/>
              </a:rPr>
              <a:t>Payment Infrastructure Requirements</a:t>
            </a:r>
            <a:endParaRPr lang="en-US" sz="850" dirty="0">
              <a:latin typeface="Garamond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9B8AE"/>
                </a:solidFill>
                <a:latin typeface="Garamond"/>
              </a:rPr>
              <a:t>14</a:t>
            </a:r>
            <a:endParaRPr lang="en-US" sz="850" dirty="0">
              <a:latin typeface="Garamon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kowo-payment-infrastructure-pack/assets/kowo-logo-official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47472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4023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B2B"/>
                </a:solidFill>
                <a:latin typeface="Garamond"/>
                <a:ea typeface="Jost" pitchFamily="34" charset="-122"/>
                <a:cs typeface="Jost" pitchFamily="34" charset="-120"/>
              </a:rPr>
              <a:t>KO</a:t>
            </a:r>
            <a:r>
              <a:rPr lang="en-US" sz="1400" b="1" dirty="0">
                <a:solidFill>
                  <a:srgbClr val="FFC323"/>
                </a:solidFill>
                <a:latin typeface="Garamond"/>
                <a:ea typeface="Jost" pitchFamily="34" charset="-122"/>
                <a:cs typeface="Jost" pitchFamily="34" charset="-120"/>
              </a:rPr>
              <a:t>WO</a:t>
            </a:r>
            <a:endParaRPr lang="en-US" sz="1400" dirty="0">
              <a:latin typeface="Garamond"/>
            </a:endParaRPr>
          </a:p>
        </p:txBody>
      </p:sp>
      <p:sp>
        <p:nvSpPr>
          <p:cNvPr id="4" name="Text 1"/>
          <p:cNvSpPr/>
          <p:nvPr/>
        </p:nvSpPr>
        <p:spPr>
          <a:xfrm>
            <a:off x="658368" y="78638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C323"/>
                </a:solidFill>
                <a:latin typeface="Garamond"/>
              </a:rPr>
              <a:t>14 · USER EXPERIENCE REQUIREMENTS</a:t>
            </a:r>
            <a:endParaRPr lang="en-US" sz="850" dirty="0">
              <a:latin typeface="Garamond"/>
            </a:endParaRPr>
          </a:p>
        </p:txBody>
      </p:sp>
      <p:sp>
        <p:nvSpPr>
          <p:cNvPr id="5" name="Text 2"/>
          <p:cNvSpPr/>
          <p:nvPr/>
        </p:nvSpPr>
        <p:spPr>
          <a:xfrm>
            <a:off x="640080" y="1024128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E1712"/>
                </a:solidFill>
                <a:latin typeface="Garamond"/>
              </a:rPr>
              <a:t>Payment UX must be transparent for every participant</a:t>
            </a:r>
            <a:endParaRPr lang="en-US" sz="2600" dirty="0">
              <a:latin typeface="Garamond"/>
            </a:endParaRPr>
          </a:p>
        </p:txBody>
      </p:sp>
      <p:sp>
        <p:nvSpPr>
          <p:cNvPr id="6" name="Shape 3"/>
          <p:cNvSpPr/>
          <p:nvPr/>
        </p:nvSpPr>
        <p:spPr>
          <a:xfrm>
            <a:off x="777240" y="2103120"/>
            <a:ext cx="2514600" cy="20574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DFD8C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78408" y="228600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Garamond"/>
              </a:rPr>
              <a:t>🟢</a:t>
            </a:r>
            <a:endParaRPr lang="en-US" sz="2000" dirty="0">
              <a:latin typeface="Garamond"/>
            </a:endParaRPr>
          </a:p>
        </p:txBody>
      </p:sp>
      <p:sp>
        <p:nvSpPr>
          <p:cNvPr id="8" name="Text 5"/>
          <p:cNvSpPr/>
          <p:nvPr/>
        </p:nvSpPr>
        <p:spPr>
          <a:xfrm>
            <a:off x="1463040" y="23317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E1712"/>
                </a:solidFill>
                <a:latin typeface="Garamond"/>
              </a:rPr>
              <a:t>Status clarity</a:t>
            </a:r>
            <a:endParaRPr lang="en-US" sz="1300" dirty="0">
              <a:latin typeface="Garamond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05840" y="2761488"/>
            <a:ext cx="2057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8766E"/>
                </a:solidFill>
                <a:latin typeface="Garamond"/>
              </a:rPr>
              <a:t>Paid, pending, failed, locked and released states.</a:t>
            </a:r>
            <a:endParaRPr lang="en-US" sz="960" dirty="0">
              <a:latin typeface="Garamond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566160" y="2103120"/>
            <a:ext cx="2514600" cy="20574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DFD8C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767328" y="228600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Garamond"/>
              </a:rPr>
              <a:t>🔔</a:t>
            </a:r>
            <a:endParaRPr lang="en-US" sz="2000" dirty="0">
              <a:latin typeface="Garamond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251960" y="23317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E1712"/>
                </a:solidFill>
                <a:latin typeface="Garamond"/>
              </a:rPr>
              <a:t>Notifications</a:t>
            </a:r>
            <a:endParaRPr lang="en-US" sz="1300" dirty="0">
              <a:latin typeface="Garamond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794760" y="2761488"/>
            <a:ext cx="2057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8766E"/>
                </a:solidFill>
                <a:latin typeface="Garamond"/>
              </a:rPr>
              <a:t>Payment confirmations, reminders and failed action alerts.</a:t>
            </a:r>
            <a:endParaRPr lang="en-US" sz="960" dirty="0">
              <a:latin typeface="Garamond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355080" y="2103120"/>
            <a:ext cx="2514600" cy="20574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DFD8C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56248" y="228600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Garamond"/>
              </a:rPr>
              <a:t>📜</a:t>
            </a:r>
            <a:endParaRPr lang="en-US" sz="2000" dirty="0">
              <a:latin typeface="Garamond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7040880" y="23317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E1712"/>
                </a:solidFill>
                <a:latin typeface="Garamond"/>
              </a:rPr>
              <a:t>History</a:t>
            </a:r>
            <a:endParaRPr lang="en-US" sz="1300" dirty="0">
              <a:latin typeface="Garamond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583680" y="2761488"/>
            <a:ext cx="2057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8766E"/>
                </a:solidFill>
                <a:latin typeface="Garamond"/>
              </a:rPr>
              <a:t>Readable ledger for every user and group admin.</a:t>
            </a:r>
            <a:endParaRPr lang="en-US" sz="960" dirty="0">
              <a:latin typeface="Garamond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9144000" y="2103120"/>
            <a:ext cx="2514600" cy="20574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DFD8C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345168" y="228600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Garamond"/>
              </a:rPr>
              <a:t>🧾</a:t>
            </a:r>
            <a:endParaRPr lang="en-US" sz="2000" dirty="0">
              <a:latin typeface="Garamond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9829800" y="23317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E1712"/>
                </a:solidFill>
                <a:latin typeface="Garamond"/>
              </a:rPr>
              <a:t>Receipts</a:t>
            </a:r>
            <a:endParaRPr lang="en-US" sz="1300" dirty="0">
              <a:latin typeface="Garamond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9372600" y="2761488"/>
            <a:ext cx="2057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8766E"/>
                </a:solidFill>
                <a:latin typeface="Garamond"/>
              </a:rPr>
              <a:t>Receipts with PSP references and support IDs.</a:t>
            </a:r>
            <a:endParaRPr lang="en-US" sz="960" dirty="0">
              <a:latin typeface="Garamond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502920" y="644652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8766E"/>
                </a:solidFill>
                <a:latin typeface="Garamond"/>
              </a:rPr>
              <a:t>Payment Infrastructure Requirements</a:t>
            </a:r>
            <a:endParaRPr lang="en-US" sz="850" dirty="0">
              <a:latin typeface="Garamond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8766E"/>
                </a:solidFill>
                <a:latin typeface="Garamond"/>
              </a:rPr>
              <a:t>15</a:t>
            </a:r>
            <a:endParaRPr lang="en-US" sz="850" dirty="0">
              <a:latin typeface="Garamon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kowo-payment-infrastructure-pack/assets/kowo-logo-official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47472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4023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B2B"/>
                </a:solidFill>
                <a:latin typeface="Garamond"/>
                <a:ea typeface="Jost" pitchFamily="34" charset="-122"/>
                <a:cs typeface="Jost" pitchFamily="34" charset="-120"/>
              </a:rPr>
              <a:t>KO</a:t>
            </a:r>
            <a:r>
              <a:rPr lang="en-US" sz="1400" b="1" dirty="0">
                <a:solidFill>
                  <a:srgbClr val="FFC323"/>
                </a:solidFill>
                <a:latin typeface="Garamond"/>
                <a:ea typeface="Jost" pitchFamily="34" charset="-122"/>
                <a:cs typeface="Jost" pitchFamily="34" charset="-120"/>
              </a:rPr>
              <a:t>WO</a:t>
            </a:r>
            <a:endParaRPr lang="en-US" sz="1400" dirty="0">
              <a:latin typeface="Garamond"/>
            </a:endParaRPr>
          </a:p>
        </p:txBody>
      </p:sp>
      <p:sp>
        <p:nvSpPr>
          <p:cNvPr id="4" name="Text 1"/>
          <p:cNvSpPr/>
          <p:nvPr/>
        </p:nvSpPr>
        <p:spPr>
          <a:xfrm>
            <a:off x="658368" y="78638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C323"/>
                </a:solidFill>
                <a:latin typeface="Garamond"/>
              </a:rPr>
              <a:t>15 · KOWO COMMITMENTS</a:t>
            </a:r>
            <a:endParaRPr lang="en-US" sz="850" dirty="0">
              <a:latin typeface="Garamond"/>
            </a:endParaRPr>
          </a:p>
        </p:txBody>
      </p:sp>
      <p:sp>
        <p:nvSpPr>
          <p:cNvPr id="5" name="Text 2"/>
          <p:cNvSpPr/>
          <p:nvPr/>
        </p:nvSpPr>
        <p:spPr>
          <a:xfrm>
            <a:off x="640080" y="1024128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E1712"/>
                </a:solidFill>
                <a:latin typeface="Garamond"/>
              </a:rPr>
              <a:t>KOWO will not operate as a payment institution</a:t>
            </a:r>
            <a:endParaRPr lang="en-US" sz="2600" dirty="0">
              <a:latin typeface="Garamond"/>
            </a:endParaRPr>
          </a:p>
        </p:txBody>
      </p:sp>
      <p:sp>
        <p:nvSpPr>
          <p:cNvPr id="6" name="Shape 3"/>
          <p:cNvSpPr/>
          <p:nvPr/>
        </p:nvSpPr>
        <p:spPr>
          <a:xfrm>
            <a:off x="777240" y="1828800"/>
            <a:ext cx="5212080" cy="749808"/>
          </a:xfrm>
          <a:prstGeom prst="roundRect">
            <a:avLst>
              <a:gd name="adj" fmla="val 19512"/>
            </a:avLst>
          </a:prstGeom>
          <a:solidFill>
            <a:srgbClr val="F2F7F4"/>
          </a:solidFill>
          <a:ln w="12700">
            <a:solidFill>
              <a:srgbClr val="DFD8C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7240" y="1828800"/>
            <a:ext cx="54864" cy="749808"/>
          </a:xfrm>
          <a:prstGeom prst="rect">
            <a:avLst/>
          </a:prstGeom>
          <a:solidFill>
            <a:srgbClr val="123B2B"/>
          </a:solidFill>
          <a:ln w="12700">
            <a:solidFill>
              <a:srgbClr val="123B2B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33272" y="2029968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E1712"/>
                </a:solidFill>
                <a:latin typeface="Garamond"/>
              </a:rPr>
              <a:t>KOWO does</a:t>
            </a:r>
            <a:endParaRPr lang="en-US" sz="1400" dirty="0">
              <a:latin typeface="Garamond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33272" y="2395728"/>
            <a:ext cx="470001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8766E"/>
                </a:solidFill>
                <a:latin typeface="Garamond"/>
              </a:rPr>
              <a:t>Provide software, UX, group rules and notifications.</a:t>
            </a:r>
            <a:endParaRPr lang="en-US" sz="1050" dirty="0">
              <a:latin typeface="Garamond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77240" y="2852928"/>
            <a:ext cx="5212080" cy="749808"/>
          </a:xfrm>
          <a:prstGeom prst="roundRect">
            <a:avLst>
              <a:gd name="adj" fmla="val 19512"/>
            </a:avLst>
          </a:prstGeom>
          <a:solidFill>
            <a:srgbClr val="F2F7F4"/>
          </a:solidFill>
          <a:ln w="12700">
            <a:solidFill>
              <a:srgbClr val="DFD8C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7240" y="2852928"/>
            <a:ext cx="54864" cy="749808"/>
          </a:xfrm>
          <a:prstGeom prst="rect">
            <a:avLst/>
          </a:prstGeom>
          <a:solidFill>
            <a:srgbClr val="123B2B"/>
          </a:solidFill>
          <a:ln w="12700">
            <a:solidFill>
              <a:srgbClr val="123B2B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33272" y="3054096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E1712"/>
                </a:solidFill>
                <a:latin typeface="Garamond"/>
              </a:rPr>
              <a:t>KOWO does</a:t>
            </a:r>
            <a:endParaRPr lang="en-US" sz="1400" dirty="0">
              <a:latin typeface="Garamond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033272" y="3419856"/>
            <a:ext cx="470001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8766E"/>
                </a:solidFill>
                <a:latin typeface="Garamond"/>
              </a:rPr>
              <a:t>Display partner-side payment statuses and history.</a:t>
            </a:r>
            <a:endParaRPr lang="en-US" sz="1050" dirty="0">
              <a:latin typeface="Garamond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777240" y="3877056"/>
            <a:ext cx="5212080" cy="749808"/>
          </a:xfrm>
          <a:prstGeom prst="roundRect">
            <a:avLst>
              <a:gd name="adj" fmla="val 19512"/>
            </a:avLst>
          </a:prstGeom>
          <a:solidFill>
            <a:srgbClr val="F2F7F4"/>
          </a:solidFill>
          <a:ln w="12700">
            <a:solidFill>
              <a:srgbClr val="DFD8C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77240" y="3877056"/>
            <a:ext cx="54864" cy="749808"/>
          </a:xfrm>
          <a:prstGeom prst="rect">
            <a:avLst/>
          </a:prstGeom>
          <a:solidFill>
            <a:srgbClr val="123B2B"/>
          </a:solidFill>
          <a:ln w="12700">
            <a:solidFill>
              <a:srgbClr val="123B2B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33272" y="4078224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E1712"/>
                </a:solidFill>
                <a:latin typeface="Garamond"/>
              </a:rPr>
              <a:t>KOWO does</a:t>
            </a:r>
            <a:endParaRPr lang="en-US" sz="1400" dirty="0">
              <a:latin typeface="Garamond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1033272" y="4443984"/>
            <a:ext cx="470001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8766E"/>
                </a:solidFill>
                <a:latin typeface="Garamond"/>
              </a:rPr>
              <a:t>Collect only platform fees via partner settlement.</a:t>
            </a:r>
            <a:endParaRPr lang="en-US" sz="1050" dirty="0">
              <a:latin typeface="Garamond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6263640" y="1828800"/>
            <a:ext cx="5212080" cy="749808"/>
          </a:xfrm>
          <a:prstGeom prst="roundRect">
            <a:avLst>
              <a:gd name="adj" fmla="val 19512"/>
            </a:avLst>
          </a:prstGeom>
          <a:solidFill>
            <a:srgbClr val="FFF3F0"/>
          </a:solidFill>
          <a:ln w="12700">
            <a:solidFill>
              <a:srgbClr val="DFD8C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263640" y="1828800"/>
            <a:ext cx="54864" cy="749808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19672" y="2029968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E1712"/>
                </a:solidFill>
                <a:latin typeface="Garamond"/>
              </a:rPr>
              <a:t>KOWO does not</a:t>
            </a:r>
            <a:endParaRPr lang="en-US" sz="1400" dirty="0">
              <a:latin typeface="Garamond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6519672" y="2395728"/>
            <a:ext cx="470001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8766E"/>
                </a:solidFill>
                <a:latin typeface="Garamond"/>
              </a:rPr>
              <a:t>Hold user funds on its own operational balance.</a:t>
            </a:r>
            <a:endParaRPr lang="en-US" sz="1050" dirty="0">
              <a:latin typeface="Garamond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6263640" y="2852928"/>
            <a:ext cx="5212080" cy="749808"/>
          </a:xfrm>
          <a:prstGeom prst="roundRect">
            <a:avLst>
              <a:gd name="adj" fmla="val 19512"/>
            </a:avLst>
          </a:prstGeom>
          <a:solidFill>
            <a:srgbClr val="FFF3F0"/>
          </a:solidFill>
          <a:ln w="12700">
            <a:solidFill>
              <a:srgbClr val="DFD8C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263640" y="2852928"/>
            <a:ext cx="54864" cy="749808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519672" y="3054096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E1712"/>
                </a:solidFill>
                <a:latin typeface="Garamond"/>
              </a:rPr>
              <a:t>KOWO does not</a:t>
            </a:r>
            <a:endParaRPr lang="en-US" sz="1400" dirty="0">
              <a:latin typeface="Garamond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6519672" y="3419856"/>
            <a:ext cx="470001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8766E"/>
                </a:solidFill>
                <a:latin typeface="Garamond"/>
              </a:rPr>
              <a:t>Issue e-money, provide banking services or act as a PSP.</a:t>
            </a:r>
            <a:endParaRPr lang="en-US" sz="1050" dirty="0">
              <a:latin typeface="Garamond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6263640" y="3877056"/>
            <a:ext cx="5212080" cy="749808"/>
          </a:xfrm>
          <a:prstGeom prst="roundRect">
            <a:avLst>
              <a:gd name="adj" fmla="val 19512"/>
            </a:avLst>
          </a:prstGeom>
          <a:solidFill>
            <a:srgbClr val="FFF3F0"/>
          </a:solidFill>
          <a:ln w="12700">
            <a:solidFill>
              <a:srgbClr val="DFD8C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263640" y="3877056"/>
            <a:ext cx="54864" cy="749808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519672" y="4078224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E1712"/>
                </a:solidFill>
                <a:latin typeface="Garamond"/>
              </a:rPr>
              <a:t>KOWO does not</a:t>
            </a:r>
            <a:endParaRPr lang="en-US" sz="1400" dirty="0">
              <a:latin typeface="Garamond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6519672" y="4443984"/>
            <a:ext cx="470001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8766E"/>
                </a:solidFill>
                <a:latin typeface="Garamond"/>
              </a:rPr>
              <a:t>Promise investment returns or execute regulated investment services.</a:t>
            </a:r>
            <a:endParaRPr lang="en-US" sz="1050" dirty="0">
              <a:latin typeface="Garamond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502920" y="644652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8766E"/>
                </a:solidFill>
                <a:latin typeface="Garamond"/>
              </a:rPr>
              <a:t>Payment Infrastructure Requirements</a:t>
            </a:r>
            <a:endParaRPr lang="en-US" sz="850" dirty="0">
              <a:latin typeface="Garamond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8766E"/>
                </a:solidFill>
                <a:latin typeface="Garamond"/>
              </a:rPr>
              <a:t>16</a:t>
            </a:r>
            <a:endParaRPr lang="en-US" sz="850" dirty="0">
              <a:latin typeface="Garamon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3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kowo-payment-infrastructure-pack/assets/kowo-logo-official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47472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4023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aramond"/>
                <a:ea typeface="Jost" pitchFamily="34" charset="-122"/>
                <a:cs typeface="Jost" pitchFamily="34" charset="-120"/>
              </a:rPr>
              <a:t>KO</a:t>
            </a:r>
            <a:r>
              <a:rPr lang="en-US" sz="1400" b="1" dirty="0">
                <a:solidFill>
                  <a:srgbClr val="FFC323"/>
                </a:solidFill>
                <a:latin typeface="Garamond"/>
                <a:ea typeface="Jost" pitchFamily="34" charset="-122"/>
                <a:cs typeface="Jost" pitchFamily="34" charset="-120"/>
              </a:rPr>
              <a:t>WO</a:t>
            </a:r>
            <a:endParaRPr lang="en-US" sz="1400" dirty="0">
              <a:latin typeface="Garamond"/>
            </a:endParaRPr>
          </a:p>
        </p:txBody>
      </p:sp>
      <p:sp>
        <p:nvSpPr>
          <p:cNvPr id="4" name="Text 1"/>
          <p:cNvSpPr/>
          <p:nvPr/>
        </p:nvSpPr>
        <p:spPr>
          <a:xfrm>
            <a:off x="658368" y="78638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C323"/>
                </a:solidFill>
                <a:latin typeface="Garamond"/>
              </a:rPr>
              <a:t>16 · NON-GOALS</a:t>
            </a:r>
            <a:endParaRPr lang="en-US" sz="850" dirty="0">
              <a:latin typeface="Garamond"/>
            </a:endParaRPr>
          </a:p>
        </p:txBody>
      </p:sp>
      <p:sp>
        <p:nvSpPr>
          <p:cNvPr id="5" name="Text 2"/>
          <p:cNvSpPr/>
          <p:nvPr/>
        </p:nvSpPr>
        <p:spPr>
          <a:xfrm>
            <a:off x="640080" y="1024128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aramond"/>
              </a:rPr>
              <a:t>Architectures KOWO wants to avoid</a:t>
            </a:r>
            <a:endParaRPr lang="en-US" sz="2600" dirty="0">
              <a:latin typeface="Garamond"/>
            </a:endParaRPr>
          </a:p>
        </p:txBody>
      </p:sp>
      <p:sp>
        <p:nvSpPr>
          <p:cNvPr id="6" name="Shape 3"/>
          <p:cNvSpPr/>
          <p:nvPr/>
        </p:nvSpPr>
        <p:spPr>
          <a:xfrm>
            <a:off x="914400" y="2103120"/>
            <a:ext cx="3017520" cy="1828800"/>
          </a:xfrm>
          <a:prstGeom prst="roundRect">
            <a:avLst>
              <a:gd name="adj" fmla="val 8000"/>
            </a:avLst>
          </a:prstGeom>
          <a:solidFill>
            <a:srgbClr val="1C563E"/>
          </a:solidFill>
          <a:ln w="12700">
            <a:solidFill>
              <a:srgbClr val="2C765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14400" y="2103120"/>
            <a:ext cx="54864" cy="1828800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70432" y="2304288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aramond"/>
              </a:rPr>
              <a:t>Single merchant balance</a:t>
            </a:r>
            <a:endParaRPr lang="en-US" sz="1400" dirty="0">
              <a:latin typeface="Garamond"/>
            </a:endParaRPr>
          </a:p>
        </p:txBody>
      </p:sp>
      <p:sp>
        <p:nvSpPr>
          <p:cNvPr id="9" name="Text 6"/>
          <p:cNvSpPr/>
          <p:nvPr/>
        </p:nvSpPr>
        <p:spPr>
          <a:xfrm>
            <a:off x="1170432" y="2670048"/>
            <a:ext cx="25054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CAD7CF"/>
                </a:solidFill>
                <a:latin typeface="Garamond"/>
              </a:rPr>
              <a:t>All user contributions landing on one KOWO merchant account before redistribution.</a:t>
            </a:r>
            <a:endParaRPr lang="en-US" sz="1050" dirty="0">
              <a:latin typeface="Garamond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572000" y="2103120"/>
            <a:ext cx="3017520" cy="1828800"/>
          </a:xfrm>
          <a:prstGeom prst="roundRect">
            <a:avLst>
              <a:gd name="adj" fmla="val 8000"/>
            </a:avLst>
          </a:prstGeom>
          <a:solidFill>
            <a:srgbClr val="1C563E"/>
          </a:solidFill>
          <a:ln w="12700">
            <a:solidFill>
              <a:srgbClr val="2C765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0" y="2103120"/>
            <a:ext cx="54864" cy="1828800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28032" y="2304288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aramond"/>
              </a:rPr>
              <a:t>Manual payout operations</a:t>
            </a:r>
            <a:endParaRPr lang="en-US" sz="1400" dirty="0">
              <a:latin typeface="Garamond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828032" y="2670048"/>
            <a:ext cx="25054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CAD7CF"/>
                </a:solidFill>
                <a:latin typeface="Garamond"/>
              </a:rPr>
              <a:t>KOWO manually deciding and executing payouts outside a partner-controlled workflow.</a:t>
            </a:r>
            <a:endParaRPr lang="en-US" sz="1050" dirty="0">
              <a:latin typeface="Garamond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8229600" y="2103120"/>
            <a:ext cx="3017520" cy="1828800"/>
          </a:xfrm>
          <a:prstGeom prst="roundRect">
            <a:avLst>
              <a:gd name="adj" fmla="val 8000"/>
            </a:avLst>
          </a:prstGeom>
          <a:solidFill>
            <a:srgbClr val="1C563E"/>
          </a:solidFill>
          <a:ln w="12700">
            <a:solidFill>
              <a:srgbClr val="2C765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229600" y="2103120"/>
            <a:ext cx="54864" cy="1828800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85632" y="2304288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aramond"/>
              </a:rPr>
              <a:t>Opaque fund status</a:t>
            </a:r>
            <a:endParaRPr lang="en-US" sz="1400" dirty="0">
              <a:latin typeface="Garamond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8485632" y="2670048"/>
            <a:ext cx="25054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CAD7CF"/>
                </a:solidFill>
                <a:latin typeface="Garamond"/>
              </a:rPr>
              <a:t>Users cannot clearly see whether funds are paid, locked, pending or released.</a:t>
            </a:r>
            <a:endParaRPr lang="en-US" sz="1050" dirty="0">
              <a:latin typeface="Garamond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914400" y="507492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aramond"/>
              </a:rPr>
              <a:t>KOWO is looking for a partner that can grow with the platform, not only process card/Mobile Money checkout.</a:t>
            </a:r>
            <a:endParaRPr lang="en-US" sz="1600" dirty="0">
              <a:latin typeface="Garamond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502920" y="644652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9B8AE"/>
                </a:solidFill>
                <a:latin typeface="Garamond"/>
              </a:rPr>
              <a:t>Payment Infrastructure Requirements</a:t>
            </a:r>
            <a:endParaRPr lang="en-US" sz="850" dirty="0">
              <a:latin typeface="Garamond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9B8AE"/>
                </a:solidFill>
                <a:latin typeface="Garamond"/>
              </a:rPr>
              <a:t>17</a:t>
            </a:r>
            <a:endParaRPr lang="en-US" sz="850" dirty="0">
              <a:latin typeface="Garamon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kowo-payment-infrastructure-pack/assets/kowo-logo-official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47472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4023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B2B"/>
                </a:solidFill>
                <a:latin typeface="Garamond"/>
                <a:ea typeface="Jost" pitchFamily="34" charset="-122"/>
                <a:cs typeface="Jost" pitchFamily="34" charset="-120"/>
              </a:rPr>
              <a:t>KO</a:t>
            </a:r>
            <a:r>
              <a:rPr lang="en-US" sz="1400" b="1" dirty="0">
                <a:solidFill>
                  <a:srgbClr val="FFC323"/>
                </a:solidFill>
                <a:latin typeface="Garamond"/>
                <a:ea typeface="Jost" pitchFamily="34" charset="-122"/>
                <a:cs typeface="Jost" pitchFamily="34" charset="-120"/>
              </a:rPr>
              <a:t>WO</a:t>
            </a:r>
            <a:endParaRPr lang="en-US" sz="1400" dirty="0">
              <a:latin typeface="Garamond"/>
            </a:endParaRPr>
          </a:p>
        </p:txBody>
      </p:sp>
      <p:sp>
        <p:nvSpPr>
          <p:cNvPr id="4" name="Text 1"/>
          <p:cNvSpPr/>
          <p:nvPr/>
        </p:nvSpPr>
        <p:spPr>
          <a:xfrm>
            <a:off x="658368" y="78638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C323"/>
                </a:solidFill>
                <a:latin typeface="Garamond"/>
              </a:rPr>
              <a:t>17 · PARTNER ASSESSMENT CRITERIA</a:t>
            </a:r>
            <a:endParaRPr lang="en-US" sz="850" dirty="0">
              <a:latin typeface="Garamond"/>
            </a:endParaRPr>
          </a:p>
        </p:txBody>
      </p:sp>
      <p:sp>
        <p:nvSpPr>
          <p:cNvPr id="5" name="Text 2"/>
          <p:cNvSpPr/>
          <p:nvPr/>
        </p:nvSpPr>
        <p:spPr>
          <a:xfrm>
            <a:off x="640080" y="1024128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E1712"/>
                </a:solidFill>
                <a:latin typeface="Garamond"/>
              </a:rPr>
              <a:t>How KOWO will evaluate payment partners</a:t>
            </a:r>
            <a:endParaRPr lang="en-US" sz="2600" dirty="0">
              <a:latin typeface="Garamond"/>
            </a:endParaRPr>
          </a:p>
        </p:txBody>
      </p:sp>
      <p:sp>
        <p:nvSpPr>
          <p:cNvPr id="6" name="Shape 3"/>
          <p:cNvSpPr/>
          <p:nvPr/>
        </p:nvSpPr>
        <p:spPr>
          <a:xfrm>
            <a:off x="777240" y="1783080"/>
            <a:ext cx="4846320" cy="841248"/>
          </a:xfrm>
          <a:prstGeom prst="roundRect">
            <a:avLst>
              <a:gd name="adj" fmla="val 17391"/>
            </a:avLst>
          </a:prstGeom>
          <a:solidFill>
            <a:srgbClr val="F2F7F4"/>
          </a:solidFill>
          <a:ln w="12700">
            <a:solidFill>
              <a:srgbClr val="DFD8C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7240" y="1783080"/>
            <a:ext cx="54864" cy="841248"/>
          </a:xfrm>
          <a:prstGeom prst="rect">
            <a:avLst/>
          </a:prstGeom>
          <a:solidFill>
            <a:srgbClr val="123B2B"/>
          </a:solidFill>
          <a:ln w="12700">
            <a:solidFill>
              <a:srgbClr val="123B2B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33272" y="1984248"/>
            <a:ext cx="4334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E1712"/>
                </a:solidFill>
                <a:latin typeface="Garamond"/>
              </a:rPr>
              <a:t>Regulatory fit</a:t>
            </a:r>
            <a:endParaRPr lang="en-US" sz="1400" dirty="0">
              <a:latin typeface="Garamond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33272" y="2350008"/>
            <a:ext cx="43342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8766E"/>
                </a:solidFill>
                <a:latin typeface="Garamond"/>
              </a:rPr>
              <a:t>Ability to support platform model with user wallets or segregated balances.</a:t>
            </a:r>
            <a:endParaRPr lang="en-US" sz="1050" dirty="0">
              <a:latin typeface="Garamond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263640" y="1783080"/>
            <a:ext cx="4846320" cy="841248"/>
          </a:xfrm>
          <a:prstGeom prst="roundRect">
            <a:avLst>
              <a:gd name="adj" fmla="val 17391"/>
            </a:avLst>
          </a:prstGeom>
          <a:solidFill>
            <a:srgbClr val="FFF8E1"/>
          </a:solidFill>
          <a:ln w="12700">
            <a:solidFill>
              <a:srgbClr val="DFD8C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263640" y="1783080"/>
            <a:ext cx="54864" cy="841248"/>
          </a:xfrm>
          <a:prstGeom prst="rect">
            <a:avLst/>
          </a:prstGeom>
          <a:solidFill>
            <a:srgbClr val="FFC323"/>
          </a:solidFill>
          <a:ln w="12700">
            <a:solidFill>
              <a:srgbClr val="FFC323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19672" y="1984248"/>
            <a:ext cx="4334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E1712"/>
                </a:solidFill>
                <a:latin typeface="Garamond"/>
              </a:rPr>
              <a:t>Wallet features</a:t>
            </a:r>
            <a:endParaRPr lang="en-US" sz="1400" dirty="0">
              <a:latin typeface="Garamond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519672" y="2350008"/>
            <a:ext cx="43342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8766E"/>
                </a:solidFill>
                <a:latin typeface="Garamond"/>
              </a:rPr>
              <a:t>Individual balances, locked amounts, split fees and payouts.</a:t>
            </a:r>
            <a:endParaRPr lang="en-US" sz="1050" dirty="0">
              <a:latin typeface="Garamond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777240" y="2944368"/>
            <a:ext cx="4846320" cy="841248"/>
          </a:xfrm>
          <a:prstGeom prst="roundRect">
            <a:avLst>
              <a:gd name="adj" fmla="val 17391"/>
            </a:avLst>
          </a:prstGeom>
          <a:solidFill>
            <a:srgbClr val="F2F7F4"/>
          </a:solidFill>
          <a:ln w="12700">
            <a:solidFill>
              <a:srgbClr val="DFD8C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77240" y="2944368"/>
            <a:ext cx="54864" cy="841248"/>
          </a:xfrm>
          <a:prstGeom prst="rect">
            <a:avLst/>
          </a:prstGeom>
          <a:solidFill>
            <a:srgbClr val="123B2B"/>
          </a:solidFill>
          <a:ln w="12700">
            <a:solidFill>
              <a:srgbClr val="123B2B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33272" y="3145536"/>
            <a:ext cx="4334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E1712"/>
                </a:solidFill>
                <a:latin typeface="Garamond"/>
              </a:rPr>
              <a:t>API maturity</a:t>
            </a:r>
            <a:endParaRPr lang="en-US" sz="1400" dirty="0">
              <a:latin typeface="Garamond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1033272" y="3511296"/>
            <a:ext cx="43342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8766E"/>
                </a:solidFill>
                <a:latin typeface="Garamond"/>
              </a:rPr>
              <a:t>Reliable docs, sandbox, webhooks and idempotency.</a:t>
            </a:r>
            <a:endParaRPr lang="en-US" sz="1050" dirty="0">
              <a:latin typeface="Garamond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6263640" y="2944368"/>
            <a:ext cx="4846320" cy="841248"/>
          </a:xfrm>
          <a:prstGeom prst="roundRect">
            <a:avLst>
              <a:gd name="adj" fmla="val 17391"/>
            </a:avLst>
          </a:prstGeom>
          <a:solidFill>
            <a:srgbClr val="FFF8E1"/>
          </a:solidFill>
          <a:ln w="12700">
            <a:solidFill>
              <a:srgbClr val="DFD8C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263640" y="2944368"/>
            <a:ext cx="54864" cy="841248"/>
          </a:xfrm>
          <a:prstGeom prst="rect">
            <a:avLst/>
          </a:prstGeom>
          <a:solidFill>
            <a:srgbClr val="FFC323"/>
          </a:solidFill>
          <a:ln w="12700">
            <a:solidFill>
              <a:srgbClr val="FFC323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19672" y="3145536"/>
            <a:ext cx="4334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E1712"/>
                </a:solidFill>
                <a:latin typeface="Garamond"/>
              </a:rPr>
              <a:t>Risk process</a:t>
            </a:r>
            <a:endParaRPr lang="en-US" sz="1400" dirty="0">
              <a:latin typeface="Garamond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6519672" y="3511296"/>
            <a:ext cx="43342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8766E"/>
                </a:solidFill>
                <a:latin typeface="Garamond"/>
              </a:rPr>
              <a:t>Clear policy for reviews, suspensions and fund freezes.</a:t>
            </a:r>
            <a:endParaRPr lang="en-US" sz="1050" dirty="0">
              <a:latin typeface="Garamond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777240" y="4105656"/>
            <a:ext cx="4846320" cy="841248"/>
          </a:xfrm>
          <a:prstGeom prst="roundRect">
            <a:avLst>
              <a:gd name="adj" fmla="val 17391"/>
            </a:avLst>
          </a:prstGeom>
          <a:solidFill>
            <a:srgbClr val="F2F7F4"/>
          </a:solidFill>
          <a:ln w="12700">
            <a:solidFill>
              <a:srgbClr val="DFD8C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77240" y="4105656"/>
            <a:ext cx="54864" cy="841248"/>
          </a:xfrm>
          <a:prstGeom prst="rect">
            <a:avLst/>
          </a:prstGeom>
          <a:solidFill>
            <a:srgbClr val="123B2B"/>
          </a:solidFill>
          <a:ln w="12700">
            <a:solidFill>
              <a:srgbClr val="123B2B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33272" y="4306824"/>
            <a:ext cx="4334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E1712"/>
                </a:solidFill>
                <a:latin typeface="Garamond"/>
              </a:rPr>
              <a:t>Geographic coverage</a:t>
            </a:r>
            <a:endParaRPr lang="en-US" sz="1400" dirty="0">
              <a:latin typeface="Garamond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1033272" y="4672584"/>
            <a:ext cx="43342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8766E"/>
                </a:solidFill>
                <a:latin typeface="Garamond"/>
              </a:rPr>
              <a:t>Bénin first, then UEMOA / Africa / diaspora corridors.</a:t>
            </a:r>
            <a:endParaRPr lang="en-US" sz="1050" dirty="0">
              <a:latin typeface="Garamond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6263640" y="4105656"/>
            <a:ext cx="4846320" cy="841248"/>
          </a:xfrm>
          <a:prstGeom prst="roundRect">
            <a:avLst>
              <a:gd name="adj" fmla="val 17391"/>
            </a:avLst>
          </a:prstGeom>
          <a:solidFill>
            <a:srgbClr val="FFF8E1"/>
          </a:solidFill>
          <a:ln w="12700">
            <a:solidFill>
              <a:srgbClr val="DFD8C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263640" y="4105656"/>
            <a:ext cx="54864" cy="841248"/>
          </a:xfrm>
          <a:prstGeom prst="rect">
            <a:avLst/>
          </a:prstGeom>
          <a:solidFill>
            <a:srgbClr val="FFC323"/>
          </a:solidFill>
          <a:ln w="12700">
            <a:solidFill>
              <a:srgbClr val="FFC323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519672" y="4306824"/>
            <a:ext cx="4334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E1712"/>
                </a:solidFill>
                <a:latin typeface="Garamond"/>
              </a:rPr>
              <a:t>Commercial model</a:t>
            </a:r>
            <a:endParaRPr lang="en-US" sz="1400" dirty="0">
              <a:latin typeface="Garamond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6519672" y="4672584"/>
            <a:ext cx="43342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8766E"/>
                </a:solidFill>
                <a:latin typeface="Garamond"/>
              </a:rPr>
              <a:t>Transparent fees that preserve KOWO’s user economics.</a:t>
            </a:r>
            <a:endParaRPr lang="en-US" sz="1050" dirty="0">
              <a:latin typeface="Garamond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502920" y="644652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8766E"/>
                </a:solidFill>
                <a:latin typeface="Garamond"/>
              </a:rPr>
              <a:t>Payment Infrastructure Requirements</a:t>
            </a:r>
            <a:endParaRPr lang="en-US" sz="850" dirty="0">
              <a:latin typeface="Garamond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8766E"/>
                </a:solidFill>
                <a:latin typeface="Garamond"/>
              </a:rPr>
              <a:t>18</a:t>
            </a:r>
            <a:endParaRPr lang="en-US" sz="850" dirty="0">
              <a:latin typeface="Garamon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kowo-payment-infrastructure-pack/assets/kowo-logo-official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47472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4023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B2B"/>
                </a:solidFill>
                <a:latin typeface="Garamond"/>
                <a:ea typeface="Jost" pitchFamily="34" charset="-122"/>
                <a:cs typeface="Jost" pitchFamily="34" charset="-120"/>
              </a:rPr>
              <a:t>KO</a:t>
            </a:r>
            <a:r>
              <a:rPr lang="en-US" sz="1400" b="1" dirty="0">
                <a:solidFill>
                  <a:srgbClr val="FFC323"/>
                </a:solidFill>
                <a:latin typeface="Garamond"/>
                <a:ea typeface="Jost" pitchFamily="34" charset="-122"/>
                <a:cs typeface="Jost" pitchFamily="34" charset="-120"/>
              </a:rPr>
              <a:t>WO</a:t>
            </a:r>
            <a:endParaRPr lang="en-US" sz="1400" dirty="0">
              <a:latin typeface="Garamond"/>
            </a:endParaRPr>
          </a:p>
        </p:txBody>
      </p:sp>
      <p:sp>
        <p:nvSpPr>
          <p:cNvPr id="4" name="Text 1"/>
          <p:cNvSpPr/>
          <p:nvPr/>
        </p:nvSpPr>
        <p:spPr>
          <a:xfrm>
            <a:off x="658368" y="78638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C323"/>
                </a:solidFill>
                <a:latin typeface="Garamond"/>
              </a:rPr>
              <a:t>18 · QUESTIONS FOR PROSPECTIVE PARTNERS</a:t>
            </a:r>
            <a:endParaRPr lang="en-US" sz="850" dirty="0">
              <a:latin typeface="Garamond"/>
            </a:endParaRPr>
          </a:p>
        </p:txBody>
      </p:sp>
      <p:sp>
        <p:nvSpPr>
          <p:cNvPr id="5" name="Text 2"/>
          <p:cNvSpPr/>
          <p:nvPr/>
        </p:nvSpPr>
        <p:spPr>
          <a:xfrm>
            <a:off x="640080" y="1024128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E1712"/>
                </a:solidFill>
                <a:latin typeface="Garamond"/>
              </a:rPr>
              <a:t>Qualification questions before integration</a:t>
            </a:r>
            <a:endParaRPr lang="en-US" sz="2600" dirty="0">
              <a:latin typeface="Garamond"/>
            </a:endParaRPr>
          </a:p>
        </p:txBody>
      </p:sp>
      <p:sp>
        <p:nvSpPr>
          <p:cNvPr id="6" name="Text 3"/>
          <p:cNvSpPr/>
          <p:nvPr/>
        </p:nvSpPr>
        <p:spPr>
          <a:xfrm>
            <a:off x="822960" y="17373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E1712"/>
                </a:solidFill>
                <a:latin typeface="Garamond"/>
              </a:rPr>
              <a:t>1. Can you create or map one wallet/balance per KOWO user?</a:t>
            </a:r>
            <a:endParaRPr lang="en-US" sz="1200" dirty="0">
              <a:latin typeface="Garamond"/>
            </a:endParaRPr>
          </a:p>
        </p:txBody>
      </p:sp>
      <p:sp>
        <p:nvSpPr>
          <p:cNvPr id="7" name="Text 4"/>
          <p:cNvSpPr/>
          <p:nvPr/>
        </p:nvSpPr>
        <p:spPr>
          <a:xfrm>
            <a:off x="6309360" y="17373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E1712"/>
                </a:solidFill>
                <a:latin typeface="Garamond"/>
              </a:rPr>
              <a:t>2. Can you lock a caution/guarantee amount at user level?</a:t>
            </a:r>
            <a:endParaRPr lang="en-US" sz="1200" dirty="0">
              <a:latin typeface="Garamond"/>
            </a:endParaRPr>
          </a:p>
        </p:txBody>
      </p:sp>
      <p:sp>
        <p:nvSpPr>
          <p:cNvPr id="8" name="Text 5"/>
          <p:cNvSpPr/>
          <p:nvPr/>
        </p:nvSpPr>
        <p:spPr>
          <a:xfrm>
            <a:off x="822960" y="257860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E1712"/>
                </a:solidFill>
                <a:latin typeface="Garamond"/>
              </a:rPr>
              <a:t>3. Can your system automatically split platform commission?</a:t>
            </a:r>
            <a:endParaRPr lang="en-US" sz="1200" dirty="0">
              <a:latin typeface="Garamond"/>
            </a:endParaRPr>
          </a:p>
        </p:txBody>
      </p:sp>
      <p:sp>
        <p:nvSpPr>
          <p:cNvPr id="9" name="Text 6"/>
          <p:cNvSpPr/>
          <p:nvPr/>
        </p:nvSpPr>
        <p:spPr>
          <a:xfrm>
            <a:off x="6309360" y="257860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E1712"/>
                </a:solidFill>
                <a:latin typeface="Garamond"/>
              </a:rPr>
              <a:t>4. Can payouts be executed to the scheduled beneficiary according to app rules?</a:t>
            </a:r>
            <a:endParaRPr lang="en-US" sz="1200" dirty="0">
              <a:latin typeface="Garamond"/>
            </a:endParaRPr>
          </a:p>
        </p:txBody>
      </p:sp>
      <p:sp>
        <p:nvSpPr>
          <p:cNvPr id="10" name="Text 7"/>
          <p:cNvSpPr/>
          <p:nvPr/>
        </p:nvSpPr>
        <p:spPr>
          <a:xfrm>
            <a:off x="822960" y="3419856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E1712"/>
                </a:solidFill>
                <a:latin typeface="Garamond"/>
              </a:rPr>
              <a:t>5. What conditions trigger account suspension or fund freezing?</a:t>
            </a:r>
            <a:endParaRPr lang="en-US" sz="1200" dirty="0">
              <a:latin typeface="Garamond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309360" y="3419856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E1712"/>
                </a:solidFill>
                <a:latin typeface="Garamond"/>
              </a:rPr>
              <a:t>6. Who performs KYC/AML checks and what are the limits per user?</a:t>
            </a:r>
            <a:endParaRPr lang="en-US" sz="1200" dirty="0">
              <a:latin typeface="Garamond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22960" y="4261104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E1712"/>
                </a:solidFill>
                <a:latin typeface="Garamond"/>
              </a:rPr>
              <a:t>7. Can you provide exportable ledger and reconciliation reports?</a:t>
            </a:r>
            <a:endParaRPr lang="en-US" sz="1200" dirty="0">
              <a:latin typeface="Garamond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309360" y="4261104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E1712"/>
                </a:solidFill>
                <a:latin typeface="Garamond"/>
              </a:rPr>
              <a:t>8. Can you validate this model contractually before launch?</a:t>
            </a:r>
            <a:endParaRPr lang="en-US" sz="1200" dirty="0">
              <a:latin typeface="Garamond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02920" y="644652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8766E"/>
                </a:solidFill>
                <a:latin typeface="Garamond"/>
              </a:rPr>
              <a:t>Payment Infrastructure Requirements</a:t>
            </a:r>
            <a:endParaRPr lang="en-US" sz="850" dirty="0">
              <a:latin typeface="Garamond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8766E"/>
                </a:solidFill>
                <a:latin typeface="Garamond"/>
              </a:rPr>
              <a:t>19</a:t>
            </a:r>
            <a:endParaRPr lang="en-US" sz="850" dirty="0">
              <a:latin typeface="Garamon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kowo-payment-infrastructure-pack/assets/kowo-logo-official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47472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4023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B2B"/>
                </a:solidFill>
                <a:latin typeface="Garamond"/>
                <a:ea typeface="Jost" pitchFamily="34" charset="-122"/>
                <a:cs typeface="Jost" pitchFamily="34" charset="-120"/>
              </a:rPr>
              <a:t>KO</a:t>
            </a:r>
            <a:r>
              <a:rPr lang="en-US" sz="1400" b="1" dirty="0">
                <a:solidFill>
                  <a:srgbClr val="FFC323"/>
                </a:solidFill>
                <a:latin typeface="Garamond"/>
                <a:ea typeface="Jost" pitchFamily="34" charset="-122"/>
                <a:cs typeface="Jost" pitchFamily="34" charset="-120"/>
              </a:rPr>
              <a:t>WO</a:t>
            </a:r>
            <a:endParaRPr lang="en-US" sz="1400" dirty="0">
              <a:latin typeface="Garamond"/>
            </a:endParaRPr>
          </a:p>
        </p:txBody>
      </p:sp>
      <p:sp>
        <p:nvSpPr>
          <p:cNvPr id="4" name="Text 1"/>
          <p:cNvSpPr/>
          <p:nvPr/>
        </p:nvSpPr>
        <p:spPr>
          <a:xfrm>
            <a:off x="658368" y="78638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C323"/>
                </a:solidFill>
                <a:latin typeface="Garamond"/>
              </a:rPr>
              <a:t>19 · IMPLEMENTATION PHASES</a:t>
            </a:r>
            <a:endParaRPr lang="en-US" sz="850" dirty="0">
              <a:latin typeface="Garamond"/>
            </a:endParaRPr>
          </a:p>
        </p:txBody>
      </p:sp>
      <p:sp>
        <p:nvSpPr>
          <p:cNvPr id="5" name="Text 2"/>
          <p:cNvSpPr/>
          <p:nvPr/>
        </p:nvSpPr>
        <p:spPr>
          <a:xfrm>
            <a:off x="640080" y="1024128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E1712"/>
                </a:solidFill>
                <a:latin typeface="Garamond"/>
              </a:rPr>
              <a:t>From sandbox to controlled launch</a:t>
            </a:r>
            <a:endParaRPr lang="en-US" sz="2600" dirty="0">
              <a:latin typeface="Garamond"/>
            </a:endParaRPr>
          </a:p>
        </p:txBody>
      </p:sp>
      <p:sp>
        <p:nvSpPr>
          <p:cNvPr id="6" name="Shape 3"/>
          <p:cNvSpPr/>
          <p:nvPr/>
        </p:nvSpPr>
        <p:spPr>
          <a:xfrm>
            <a:off x="822960" y="2377440"/>
            <a:ext cx="2331720" cy="1828800"/>
          </a:xfrm>
          <a:prstGeom prst="roundRect">
            <a:avLst>
              <a:gd name="adj" fmla="val 8000"/>
            </a:avLst>
          </a:prstGeom>
          <a:solidFill>
            <a:srgbClr val="F2F7F4"/>
          </a:solidFill>
          <a:ln w="12700">
            <a:solidFill>
              <a:srgbClr val="DFD8C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2377440"/>
            <a:ext cx="54864" cy="1828800"/>
          </a:xfrm>
          <a:prstGeom prst="rect">
            <a:avLst/>
          </a:prstGeom>
          <a:solidFill>
            <a:srgbClr val="123B2B"/>
          </a:solidFill>
          <a:ln w="12700">
            <a:solidFill>
              <a:srgbClr val="123B2B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78992" y="2578608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E1712"/>
                </a:solidFill>
                <a:latin typeface="Garamond"/>
              </a:rPr>
              <a:t>Phase 1</a:t>
            </a:r>
            <a:endParaRPr lang="en-US" sz="1400" dirty="0">
              <a:latin typeface="Garamond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78992" y="2944368"/>
            <a:ext cx="18196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8766E"/>
                </a:solidFill>
                <a:latin typeface="Garamond"/>
              </a:rPr>
              <a:t>Sandbox</a:t>
            </a:r>
            <a:endParaRPr lang="en-US" sz="1050" dirty="0">
              <a:latin typeface="Garamond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68766E"/>
                </a:solidFill>
                <a:latin typeface="Garamond"/>
              </a:rPr>
              <a:t>API tests, wallet mapping, webhooks.</a:t>
            </a:r>
            <a:endParaRPr lang="en-US" sz="1050" dirty="0">
              <a:latin typeface="Garamond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200400" y="3291840"/>
            <a:ext cx="320040" cy="0"/>
          </a:xfrm>
          <a:prstGeom prst="line">
            <a:avLst/>
          </a:prstGeom>
          <a:noFill/>
          <a:ln w="12700">
            <a:solidFill>
              <a:srgbClr val="FFC323"/>
            </a:solidFill>
            <a:prstDash val="solid"/>
            <a:headEnd type="none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3611880" y="2377440"/>
            <a:ext cx="2331720" cy="182880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12700">
            <a:solidFill>
              <a:srgbClr val="DFD8C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11880" y="2377440"/>
            <a:ext cx="54864" cy="1828800"/>
          </a:xfrm>
          <a:prstGeom prst="rect">
            <a:avLst/>
          </a:prstGeom>
          <a:solidFill>
            <a:srgbClr val="FFC323"/>
          </a:solidFill>
          <a:ln w="12700">
            <a:solidFill>
              <a:srgbClr val="FFC323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67912" y="2578608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E1712"/>
                </a:solidFill>
                <a:latin typeface="Garamond"/>
              </a:rPr>
              <a:t>Phase 2</a:t>
            </a:r>
            <a:endParaRPr lang="en-US" sz="1400" dirty="0">
              <a:latin typeface="Garamond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3867912" y="2944368"/>
            <a:ext cx="18196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8766E"/>
                </a:solidFill>
                <a:latin typeface="Garamond"/>
              </a:rPr>
              <a:t>Pilot</a:t>
            </a:r>
            <a:endParaRPr lang="en-US" sz="1050" dirty="0">
              <a:latin typeface="Garamond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68766E"/>
                </a:solidFill>
                <a:latin typeface="Garamond"/>
              </a:rPr>
              <a:t>Limited users, low limits, manual monitoring.</a:t>
            </a:r>
            <a:endParaRPr lang="en-US" sz="1050" dirty="0">
              <a:latin typeface="Garamond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5989320" y="3291840"/>
            <a:ext cx="320040" cy="0"/>
          </a:xfrm>
          <a:prstGeom prst="line">
            <a:avLst/>
          </a:prstGeom>
          <a:noFill/>
          <a:ln w="12700">
            <a:solidFill>
              <a:srgbClr val="FFC323"/>
            </a:solidFill>
            <a:prstDash val="solid"/>
            <a:headEnd type="none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6400800" y="2377440"/>
            <a:ext cx="2331720" cy="1828800"/>
          </a:xfrm>
          <a:prstGeom prst="roundRect">
            <a:avLst>
              <a:gd name="adj" fmla="val 8000"/>
            </a:avLst>
          </a:prstGeom>
          <a:solidFill>
            <a:srgbClr val="F2F7F4"/>
          </a:solidFill>
          <a:ln w="12700">
            <a:solidFill>
              <a:srgbClr val="DFD8C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00800" y="2377440"/>
            <a:ext cx="54864" cy="1828800"/>
          </a:xfrm>
          <a:prstGeom prst="rect">
            <a:avLst/>
          </a:prstGeom>
          <a:solidFill>
            <a:srgbClr val="123B2B"/>
          </a:solidFill>
          <a:ln w="12700">
            <a:solidFill>
              <a:srgbClr val="123B2B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656832" y="2578608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E1712"/>
                </a:solidFill>
                <a:latin typeface="Garamond"/>
              </a:rPr>
              <a:t>Phase 3</a:t>
            </a:r>
            <a:endParaRPr lang="en-US" sz="1400" dirty="0">
              <a:latin typeface="Garamond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656832" y="2944368"/>
            <a:ext cx="18196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8766E"/>
                </a:solidFill>
                <a:latin typeface="Garamond"/>
              </a:rPr>
              <a:t>Launch</a:t>
            </a:r>
            <a:endParaRPr lang="en-US" sz="1050" dirty="0">
              <a:latin typeface="Garamond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68766E"/>
                </a:solidFill>
                <a:latin typeface="Garamond"/>
              </a:rPr>
              <a:t>Mobile Money/card funding, automated fees, reporting.</a:t>
            </a:r>
            <a:endParaRPr lang="en-US" sz="1050" dirty="0">
              <a:latin typeface="Garamond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8778240" y="3291840"/>
            <a:ext cx="320040" cy="0"/>
          </a:xfrm>
          <a:prstGeom prst="line">
            <a:avLst/>
          </a:prstGeom>
          <a:noFill/>
          <a:ln w="12700">
            <a:solidFill>
              <a:srgbClr val="FFC323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9189720" y="2377440"/>
            <a:ext cx="2331720" cy="182880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12700">
            <a:solidFill>
              <a:srgbClr val="DFD8C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189720" y="2377440"/>
            <a:ext cx="54864" cy="1828800"/>
          </a:xfrm>
          <a:prstGeom prst="rect">
            <a:avLst/>
          </a:prstGeom>
          <a:solidFill>
            <a:srgbClr val="FFC323"/>
          </a:solidFill>
          <a:ln w="12700">
            <a:solidFill>
              <a:srgbClr val="FFC323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445752" y="2578608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E1712"/>
                </a:solidFill>
                <a:latin typeface="Garamond"/>
              </a:rPr>
              <a:t>Phase 4</a:t>
            </a:r>
            <a:endParaRPr lang="en-US" sz="1400" dirty="0">
              <a:latin typeface="Garamond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9445752" y="2944368"/>
            <a:ext cx="18196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8766E"/>
                </a:solidFill>
                <a:latin typeface="Garamond"/>
              </a:rPr>
              <a:t>Scale</a:t>
            </a:r>
            <a:endParaRPr lang="en-US" sz="1050" dirty="0">
              <a:latin typeface="Garamond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68766E"/>
                </a:solidFill>
                <a:latin typeface="Garamond"/>
              </a:rPr>
              <a:t>Higher limits, expanded coverage, partner review cadence.</a:t>
            </a:r>
            <a:endParaRPr lang="en-US" sz="1050" dirty="0">
              <a:latin typeface="Garamond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502920" y="644652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8766E"/>
                </a:solidFill>
                <a:latin typeface="Garamond"/>
              </a:rPr>
              <a:t>Payment Infrastructure Requirements</a:t>
            </a:r>
            <a:endParaRPr lang="en-US" sz="850" dirty="0">
              <a:latin typeface="Garamond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8766E"/>
                </a:solidFill>
                <a:latin typeface="Garamond"/>
              </a:rPr>
              <a:t>20</a:t>
            </a:r>
            <a:endParaRPr lang="en-US" sz="850" dirty="0">
              <a:latin typeface="Garamon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kowo-payment-infrastructure-pack/assets/kowo-logo-official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47472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4023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B2B"/>
                </a:solidFill>
                <a:latin typeface="Garamond"/>
                <a:ea typeface="Jost" pitchFamily="34" charset="-122"/>
                <a:cs typeface="Jost" pitchFamily="34" charset="-120"/>
              </a:rPr>
              <a:t>KO</a:t>
            </a:r>
            <a:r>
              <a:rPr lang="en-US" sz="1400" b="1" dirty="0">
                <a:solidFill>
                  <a:srgbClr val="FFC323"/>
                </a:solidFill>
                <a:latin typeface="Garamond"/>
                <a:ea typeface="Jost" pitchFamily="34" charset="-122"/>
                <a:cs typeface="Jost" pitchFamily="34" charset="-120"/>
              </a:rPr>
              <a:t>WO</a:t>
            </a:r>
            <a:endParaRPr lang="en-US" sz="1400" dirty="0">
              <a:latin typeface="Garamond"/>
            </a:endParaRPr>
          </a:p>
        </p:txBody>
      </p:sp>
      <p:sp>
        <p:nvSpPr>
          <p:cNvPr id="4" name="Text 1"/>
          <p:cNvSpPr/>
          <p:nvPr/>
        </p:nvSpPr>
        <p:spPr>
          <a:xfrm>
            <a:off x="658368" y="78638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C323"/>
                </a:solidFill>
                <a:latin typeface="Garamond"/>
              </a:rPr>
              <a:t>20 · INFRASTRUCTURE ALIGNMENT</a:t>
            </a:r>
            <a:endParaRPr lang="en-US" sz="850" dirty="0">
              <a:latin typeface="Garamond"/>
            </a:endParaRPr>
          </a:p>
        </p:txBody>
      </p:sp>
      <p:sp>
        <p:nvSpPr>
          <p:cNvPr id="5" name="Text 2"/>
          <p:cNvSpPr/>
          <p:nvPr/>
        </p:nvSpPr>
        <p:spPr>
          <a:xfrm>
            <a:off x="640080" y="1024128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E1712"/>
                </a:solidFill>
                <a:latin typeface="Garamond"/>
              </a:rPr>
              <a:t>How payment data connects with KOWO</a:t>
            </a:r>
            <a:endParaRPr lang="en-US" sz="2600" dirty="0">
              <a:latin typeface="Garamond"/>
            </a:endParaRPr>
          </a:p>
        </p:txBody>
      </p:sp>
      <p:sp>
        <p:nvSpPr>
          <p:cNvPr id="6" name="Shape 3"/>
          <p:cNvSpPr/>
          <p:nvPr/>
        </p:nvSpPr>
        <p:spPr>
          <a:xfrm>
            <a:off x="777240" y="2057400"/>
            <a:ext cx="3154680" cy="960120"/>
          </a:xfrm>
          <a:prstGeom prst="roundRect">
            <a:avLst>
              <a:gd name="adj" fmla="val 15238"/>
            </a:avLst>
          </a:prstGeom>
          <a:solidFill>
            <a:srgbClr val="FFFFFF"/>
          </a:solidFill>
          <a:ln w="12700">
            <a:solidFill>
              <a:srgbClr val="DFD8C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7240" y="2057400"/>
            <a:ext cx="54864" cy="960120"/>
          </a:xfrm>
          <a:prstGeom prst="rect">
            <a:avLst/>
          </a:prstGeom>
          <a:solidFill>
            <a:srgbClr val="123B2B"/>
          </a:solidFill>
          <a:ln w="12700">
            <a:solidFill>
              <a:srgbClr val="123B2B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33272" y="2258568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E1712"/>
                </a:solidFill>
                <a:latin typeface="Garamond"/>
              </a:rPr>
              <a:t>KOWO app</a:t>
            </a:r>
            <a:endParaRPr lang="en-US" sz="1400" dirty="0">
              <a:latin typeface="Garamond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33272" y="2624328"/>
            <a:ext cx="2642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8766E"/>
                </a:solidFill>
                <a:latin typeface="Garamond"/>
              </a:rPr>
              <a:t>Mobile experience and group rules.</a:t>
            </a:r>
            <a:endParaRPr lang="en-US" sz="1050" dirty="0">
              <a:latin typeface="Garamond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526280" y="2057400"/>
            <a:ext cx="3154680" cy="960120"/>
          </a:xfrm>
          <a:prstGeom prst="roundRect">
            <a:avLst>
              <a:gd name="adj" fmla="val 15238"/>
            </a:avLst>
          </a:prstGeom>
          <a:solidFill>
            <a:srgbClr val="FFFFFF"/>
          </a:solidFill>
          <a:ln w="12700">
            <a:solidFill>
              <a:srgbClr val="DFD8C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26280" y="2057400"/>
            <a:ext cx="54864" cy="960120"/>
          </a:xfrm>
          <a:prstGeom prst="rect">
            <a:avLst/>
          </a:prstGeom>
          <a:solidFill>
            <a:srgbClr val="123B2B"/>
          </a:solidFill>
          <a:ln w="12700">
            <a:solidFill>
              <a:srgbClr val="123B2B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82312" y="2258568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E1712"/>
                </a:solidFill>
                <a:latin typeface="Garamond"/>
              </a:rPr>
              <a:t>Render</a:t>
            </a:r>
            <a:endParaRPr lang="en-US" sz="1400" dirty="0">
              <a:latin typeface="Garamond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782312" y="2624328"/>
            <a:ext cx="2642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8766E"/>
                </a:solidFill>
                <a:latin typeface="Garamond"/>
              </a:rPr>
              <a:t>Backend API and orchestration logic.</a:t>
            </a:r>
            <a:endParaRPr lang="en-US" sz="1050" dirty="0">
              <a:latin typeface="Garamond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8275320" y="2057400"/>
            <a:ext cx="3154680" cy="960120"/>
          </a:xfrm>
          <a:prstGeom prst="roundRect">
            <a:avLst>
              <a:gd name="adj" fmla="val 15238"/>
            </a:avLst>
          </a:prstGeom>
          <a:solidFill>
            <a:srgbClr val="FFFFFF"/>
          </a:solidFill>
          <a:ln w="12700">
            <a:solidFill>
              <a:srgbClr val="DFD8C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275320" y="2057400"/>
            <a:ext cx="54864" cy="960120"/>
          </a:xfrm>
          <a:prstGeom prst="rect">
            <a:avLst/>
          </a:prstGeom>
          <a:solidFill>
            <a:srgbClr val="123B2B"/>
          </a:solidFill>
          <a:ln w="12700">
            <a:solidFill>
              <a:srgbClr val="123B2B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31352" y="2258568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E1712"/>
                </a:solidFill>
                <a:latin typeface="Garamond"/>
              </a:rPr>
              <a:t>Supabase</a:t>
            </a:r>
            <a:endParaRPr lang="en-US" sz="1400" dirty="0">
              <a:latin typeface="Garamond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8531352" y="2624328"/>
            <a:ext cx="2642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8766E"/>
                </a:solidFill>
                <a:latin typeface="Garamond"/>
              </a:rPr>
              <a:t>Application database and user data.</a:t>
            </a:r>
            <a:endParaRPr lang="en-US" sz="1050" dirty="0">
              <a:latin typeface="Garamond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777240" y="3383280"/>
            <a:ext cx="3154680" cy="960120"/>
          </a:xfrm>
          <a:prstGeom prst="roundRect">
            <a:avLst>
              <a:gd name="adj" fmla="val 15238"/>
            </a:avLst>
          </a:prstGeom>
          <a:solidFill>
            <a:srgbClr val="FFFFFF"/>
          </a:solidFill>
          <a:ln w="12700">
            <a:solidFill>
              <a:srgbClr val="DFD8C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77240" y="3383280"/>
            <a:ext cx="54864" cy="960120"/>
          </a:xfrm>
          <a:prstGeom prst="rect">
            <a:avLst/>
          </a:prstGeom>
          <a:solidFill>
            <a:srgbClr val="123B2B"/>
          </a:solidFill>
          <a:ln w="12700">
            <a:solidFill>
              <a:srgbClr val="123B2B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33272" y="3584448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E1712"/>
                </a:solidFill>
                <a:latin typeface="Garamond"/>
              </a:rPr>
              <a:t>Sumsub</a:t>
            </a:r>
            <a:endParaRPr lang="en-US" sz="1400" dirty="0">
              <a:latin typeface="Garamond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1033272" y="3950208"/>
            <a:ext cx="2642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8766E"/>
                </a:solidFill>
                <a:latin typeface="Garamond"/>
              </a:rPr>
              <a:t>KYC verification workflow.</a:t>
            </a:r>
            <a:endParaRPr lang="en-US" sz="1050" dirty="0">
              <a:latin typeface="Garamond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4526280" y="3383280"/>
            <a:ext cx="3154680" cy="960120"/>
          </a:xfrm>
          <a:prstGeom prst="roundRect">
            <a:avLst>
              <a:gd name="adj" fmla="val 15238"/>
            </a:avLst>
          </a:prstGeom>
          <a:solidFill>
            <a:srgbClr val="FFFFFF"/>
          </a:solidFill>
          <a:ln w="12700">
            <a:solidFill>
              <a:srgbClr val="DFD8C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526280" y="3383280"/>
            <a:ext cx="54864" cy="960120"/>
          </a:xfrm>
          <a:prstGeom prst="rect">
            <a:avLst/>
          </a:prstGeom>
          <a:solidFill>
            <a:srgbClr val="123B2B"/>
          </a:solidFill>
          <a:ln w="12700">
            <a:solidFill>
              <a:srgbClr val="123B2B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82312" y="3584448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E1712"/>
                </a:solidFill>
                <a:latin typeface="Garamond"/>
              </a:rPr>
              <a:t>Twilio</a:t>
            </a:r>
            <a:endParaRPr lang="en-US" sz="1400" dirty="0">
              <a:latin typeface="Garamond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4782312" y="3950208"/>
            <a:ext cx="2642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8766E"/>
                </a:solidFill>
                <a:latin typeface="Garamond"/>
              </a:rPr>
              <a:t>OTP and messaging flows.</a:t>
            </a:r>
            <a:endParaRPr lang="en-US" sz="1050" dirty="0">
              <a:latin typeface="Garamond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8275320" y="3383280"/>
            <a:ext cx="3154680" cy="960120"/>
          </a:xfrm>
          <a:prstGeom prst="roundRect">
            <a:avLst>
              <a:gd name="adj" fmla="val 15238"/>
            </a:avLst>
          </a:prstGeom>
          <a:solidFill>
            <a:srgbClr val="FFF8E1"/>
          </a:solidFill>
          <a:ln w="12700">
            <a:solidFill>
              <a:srgbClr val="DFD8C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275320" y="3383280"/>
            <a:ext cx="54864" cy="960120"/>
          </a:xfrm>
          <a:prstGeom prst="rect">
            <a:avLst/>
          </a:prstGeom>
          <a:solidFill>
            <a:srgbClr val="FFC323"/>
          </a:solidFill>
          <a:ln w="12700">
            <a:solidFill>
              <a:srgbClr val="FFC323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531352" y="3584448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E1712"/>
                </a:solidFill>
                <a:latin typeface="Garamond"/>
              </a:rPr>
              <a:t>Payment partner</a:t>
            </a:r>
            <a:endParaRPr lang="en-US" sz="1400" dirty="0">
              <a:latin typeface="Garamond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8531352" y="3950208"/>
            <a:ext cx="2642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8766E"/>
                </a:solidFill>
                <a:latin typeface="Garamond"/>
              </a:rPr>
              <a:t>Wallets, payment execution and ledger.</a:t>
            </a:r>
            <a:endParaRPr lang="en-US" sz="1050" dirty="0">
              <a:latin typeface="Garamond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502920" y="644652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8766E"/>
                </a:solidFill>
                <a:latin typeface="Garamond"/>
              </a:rPr>
              <a:t>Payment Infrastructure Requirements</a:t>
            </a:r>
            <a:endParaRPr lang="en-US" sz="850" dirty="0">
              <a:latin typeface="Garamond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8766E"/>
                </a:solidFill>
                <a:latin typeface="Garamond"/>
              </a:rPr>
              <a:t>21</a:t>
            </a:r>
            <a:endParaRPr lang="en-US" sz="850" dirty="0">
              <a:latin typeface="Garamon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23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kowo-payment-infrastructure-pack/assets/kowo-logo-official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66928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98448" y="6217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aramond"/>
                <a:ea typeface="Jost" pitchFamily="34" charset="-122"/>
                <a:cs typeface="Jost" pitchFamily="34" charset="-120"/>
              </a:rPr>
              <a:t>KO</a:t>
            </a:r>
            <a:r>
              <a:rPr lang="en-US" sz="1400" b="1" dirty="0">
                <a:solidFill>
                  <a:srgbClr val="FFC323"/>
                </a:solidFill>
                <a:latin typeface="Garamond"/>
                <a:ea typeface="Jost" pitchFamily="34" charset="-122"/>
                <a:cs typeface="Jost" pitchFamily="34" charset="-120"/>
              </a:rPr>
              <a:t>WO</a:t>
            </a:r>
            <a:endParaRPr lang="en-US" sz="1400" dirty="0">
              <a:latin typeface="Garamond"/>
            </a:endParaRPr>
          </a:p>
        </p:txBody>
      </p:sp>
      <p:sp>
        <p:nvSpPr>
          <p:cNvPr id="4" name="Text 1"/>
          <p:cNvSpPr/>
          <p:nvPr/>
        </p:nvSpPr>
        <p:spPr>
          <a:xfrm>
            <a:off x="749808" y="1691640"/>
            <a:ext cx="6675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aramond"/>
              </a:rPr>
              <a:t>Let’s build a compliant wallet infrastructure for community finance.</a:t>
            </a:r>
            <a:endParaRPr lang="en-US" sz="3600" dirty="0">
              <a:latin typeface="Garamond"/>
            </a:endParaRPr>
          </a:p>
        </p:txBody>
      </p:sp>
      <p:sp>
        <p:nvSpPr>
          <p:cNvPr id="5" name="Text 2"/>
          <p:cNvSpPr/>
          <p:nvPr/>
        </p:nvSpPr>
        <p:spPr>
          <a:xfrm>
            <a:off x="786384" y="3310128"/>
            <a:ext cx="5577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DCEBE4"/>
                </a:solidFill>
                <a:latin typeface="Garamond"/>
              </a:rPr>
              <a:t>KOWO is seeking a long-term payment infrastructure partner capable of supporting user-level wallets, locked balances, automated commission splits and transparent reconciliation.</a:t>
            </a:r>
            <a:endParaRPr lang="en-US" sz="1500" dirty="0">
              <a:latin typeface="Garamond"/>
            </a:endParaRPr>
          </a:p>
        </p:txBody>
      </p:sp>
      <p:sp>
        <p:nvSpPr>
          <p:cNvPr id="6" name="Shape 3"/>
          <p:cNvSpPr/>
          <p:nvPr/>
        </p:nvSpPr>
        <p:spPr>
          <a:xfrm>
            <a:off x="7543800" y="1600200"/>
            <a:ext cx="3474720" cy="2377440"/>
          </a:xfrm>
          <a:prstGeom prst="roundRect">
            <a:avLst>
              <a:gd name="adj" fmla="val 6154"/>
            </a:avLst>
          </a:prstGeom>
          <a:solidFill>
            <a:srgbClr val="1C563E"/>
          </a:solidFill>
          <a:ln w="12700">
            <a:solidFill>
              <a:srgbClr val="2C765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543800" y="1600200"/>
            <a:ext cx="54864" cy="2377440"/>
          </a:xfrm>
          <a:prstGeom prst="rect">
            <a:avLst/>
          </a:prstGeom>
          <a:solidFill>
            <a:srgbClr val="FFC323"/>
          </a:solidFill>
          <a:ln w="12700">
            <a:solidFill>
              <a:srgbClr val="FFC323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99832" y="1801368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aramond"/>
              </a:rPr>
              <a:t>Contact</a:t>
            </a:r>
            <a:endParaRPr lang="en-US" sz="1400" dirty="0">
              <a:latin typeface="Garamond"/>
            </a:endParaRPr>
          </a:p>
        </p:txBody>
      </p:sp>
      <p:sp>
        <p:nvSpPr>
          <p:cNvPr id="9" name="Text 6"/>
          <p:cNvSpPr/>
          <p:nvPr/>
        </p:nvSpPr>
        <p:spPr>
          <a:xfrm>
            <a:off x="7799832" y="2167128"/>
            <a:ext cx="2962656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CAD7CF"/>
                </a:solidFill>
                <a:latin typeface="Garamond"/>
              </a:rPr>
              <a:t>Fayçol SALAMI</a:t>
            </a:r>
            <a:endParaRPr lang="en-US" sz="1050" dirty="0">
              <a:latin typeface="Garamond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CAD7CF"/>
                </a:solidFill>
                <a:latin typeface="Garamond"/>
              </a:rPr>
              <a:t>Founder — KOWO SARL</a:t>
            </a:r>
            <a:endParaRPr lang="en-US" sz="1050" dirty="0">
              <a:latin typeface="Garamond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CAD7CF"/>
                </a:solidFill>
                <a:latin typeface="Garamond"/>
              </a:rPr>
              <a:t>faycol.salami@getkowo.com</a:t>
            </a:r>
            <a:endParaRPr lang="en-US" sz="1050" dirty="0">
              <a:latin typeface="Garamond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CAD7CF"/>
                </a:solidFill>
                <a:latin typeface="Garamond"/>
              </a:rPr>
              <a:t>contact@getkowo.com</a:t>
            </a:r>
            <a:endParaRPr lang="en-US" sz="1050" dirty="0">
              <a:latin typeface="Garamond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CAD7CF"/>
                </a:solidFill>
                <a:latin typeface="Garamond"/>
              </a:rPr>
              <a:t>www.getkowo.com</a:t>
            </a:r>
            <a:endParaRPr lang="en-US" sz="1050" dirty="0">
              <a:latin typeface="Garamond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86384" y="4663440"/>
            <a:ext cx="1645920" cy="310896"/>
          </a:xfrm>
          <a:prstGeom prst="roundRect">
            <a:avLst>
              <a:gd name="adj" fmla="val 35294"/>
            </a:avLst>
          </a:prstGeom>
          <a:solidFill>
            <a:srgbClr val="214F3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96112" y="4745736"/>
            <a:ext cx="14264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DFFD3"/>
                </a:solidFill>
                <a:latin typeface="Garamond"/>
              </a:rPr>
              <a:t>Wallet infrastructure</a:t>
            </a:r>
            <a:endParaRPr lang="en-US" sz="850" dirty="0">
              <a:latin typeface="Garamond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2578608" y="4663440"/>
            <a:ext cx="1417320" cy="310896"/>
          </a:xfrm>
          <a:prstGeom prst="roundRect">
            <a:avLst>
              <a:gd name="adj" fmla="val 35294"/>
            </a:avLst>
          </a:prstGeom>
          <a:solidFill>
            <a:srgbClr val="214F3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688336" y="4745736"/>
            <a:ext cx="1197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DFFD3"/>
                </a:solidFill>
                <a:latin typeface="Garamond"/>
              </a:rPr>
              <a:t>Partner-facing</a:t>
            </a:r>
            <a:endParaRPr lang="en-US" sz="850" dirty="0">
              <a:latin typeface="Garamond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160520" y="4663440"/>
            <a:ext cx="1143000" cy="310896"/>
          </a:xfrm>
          <a:prstGeom prst="roundRect">
            <a:avLst>
              <a:gd name="adj" fmla="val 35294"/>
            </a:avLst>
          </a:prstGeom>
          <a:solidFill>
            <a:srgbClr val="214F3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70248" y="4745736"/>
            <a:ext cx="9235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DFFD3"/>
                </a:solidFill>
                <a:latin typeface="Garamond"/>
              </a:rPr>
              <a:t>Version 1.0</a:t>
            </a:r>
            <a:endParaRPr lang="en-US" sz="850" dirty="0">
              <a:latin typeface="Garamond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02920" y="644652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9B8AE"/>
                </a:solidFill>
                <a:latin typeface="Garamond"/>
              </a:rPr>
              <a:t>Payment Infrastructure Requirements</a:t>
            </a:r>
            <a:endParaRPr lang="en-US" sz="850" dirty="0">
              <a:latin typeface="Garamond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9B8AE"/>
                </a:solidFill>
                <a:latin typeface="Garamond"/>
              </a:rPr>
              <a:t>22</a:t>
            </a:r>
            <a:endParaRPr lang="en-US" sz="850" dirty="0">
              <a:latin typeface="Garamo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Jos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Jos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22</Slides>
  <Notes>22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KOWO SARL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KOWO Payment Infrastructure Requirements</dc:title>
  <dc:subject>Payment Infrastructure Requirements</dc:subject>
  <dc:creator>KOWO</dc:creator>
  <cp:lastModifiedBy>KOWO</cp:lastModifiedBy>
  <cp:revision>25</cp:revision>
  <dcterms:created xsi:type="dcterms:W3CDTF">2026-06-26T21:25:50Z</dcterms:created>
  <dcterms:modified xsi:type="dcterms:W3CDTF">2026-06-26T23:40:15Z</dcterms:modified>
</cp:coreProperties>
</file>