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3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B2B"/>
          </a:solidFill>
          <a:ln w="12700">
            <a:solidFill>
              <a:srgbClr val="123B2B"/>
            </a:solidFill>
            <a:prstDash val="solid"/>
          </a:ln>
        </p:spPr>
      </p:sp>
      <p:pic>
        <p:nvPicPr>
          <p:cNvPr id="3" name="Image 0" descr="/mnt/data/kowo_2_0/assets/kowo-logo-official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658368"/>
            <a:ext cx="658368" cy="6583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81328" y="78638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KOWO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685800" y="1965960"/>
            <a:ext cx="7680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500" b="1" dirty="0">
                <a:solidFill>
                  <a:srgbClr val="FFFFFF"/>
                </a:solidFill>
              </a:rPr>
              <a:t>Compliance Trust Pack V2</a:t>
            </a:r>
            <a:endParaRPr lang="en-US" sz="4500" dirty="0"/>
          </a:p>
        </p:txBody>
      </p:sp>
      <p:sp>
        <p:nvSpPr>
          <p:cNvPr id="6" name="Text 3"/>
          <p:cNvSpPr/>
          <p:nvPr/>
        </p:nvSpPr>
        <p:spPr>
          <a:xfrm>
            <a:off x="713232" y="3840480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D8E8DF"/>
                </a:solidFill>
              </a:rPr>
              <a:t>Position réglementaire, responsabilités, risques et garde-fous, alignés avec la nouvelle vision KOWO.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713232" y="599846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DFFD3"/>
                </a:solidFill>
              </a:rPr>
              <a:t>The trusted infrastructure for community finance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kowo_2_0/assets/kowo-logo-official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47472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60120" y="39319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3B2B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KOWO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594360" y="93268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C323"/>
                </a:solidFill>
              </a:rPr>
              <a:t>REGULATORY POSITION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594360" y="1152144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E1712"/>
                </a:solidFill>
              </a:rPr>
              <a:t>Ce que KOWO est et n’est pas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731520" y="1874520"/>
            <a:ext cx="5120640" cy="2377440"/>
          </a:xfrm>
          <a:prstGeom prst="roundRect">
            <a:avLst>
              <a:gd name="adj" fmla="val 3846"/>
            </a:avLst>
          </a:prstGeom>
          <a:solidFill>
            <a:srgbClr val="FFFDF8"/>
          </a:solidFill>
          <a:ln w="12700">
            <a:solidFill>
              <a:srgbClr val="E3DDD1"/>
            </a:solidFill>
            <a:prstDash val="solid"/>
          </a:ln>
          <a:effectLst>
            <a:outerShdw sx="100000" sy="100000" kx="0" ky="0" algn="bl" rotWithShape="0" blurRad="25400" dist="50800" dir="2700000">
              <a:srgbClr val="B4A986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96112" y="2075688"/>
            <a:ext cx="54864" cy="1975104"/>
          </a:xfrm>
          <a:prstGeom prst="rect">
            <a:avLst/>
          </a:prstGeom>
          <a:solidFill>
            <a:srgbClr val="123B2B"/>
          </a:solidFill>
          <a:ln w="12700">
            <a:solidFill>
              <a:srgbClr val="123B2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78992" y="2130552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23B2B"/>
                </a:solidFill>
              </a:rPr>
              <a:t>KOWO est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078992" y="2569464"/>
            <a:ext cx="461772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8766E"/>
                </a:solidFill>
              </a:rPr>
              <a:t>Une plateforme logicielle permettant à des groupes d’organiser leur argent ensemble : règles, suivi, gouvernance, historiques, documentation.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400800" y="1874520"/>
            <a:ext cx="5120640" cy="2377440"/>
          </a:xfrm>
          <a:prstGeom prst="roundRect">
            <a:avLst>
              <a:gd name="adj" fmla="val 3846"/>
            </a:avLst>
          </a:prstGeom>
          <a:solidFill>
            <a:srgbClr val="FFFDF8"/>
          </a:solidFill>
          <a:ln w="12700">
            <a:solidFill>
              <a:srgbClr val="E3DDD1"/>
            </a:solidFill>
            <a:prstDash val="solid"/>
          </a:ln>
          <a:effectLst>
            <a:outerShdw sx="100000" sy="100000" kx="0" ky="0" algn="bl" rotWithShape="0" blurRad="25400" dist="50800" dir="2700000">
              <a:srgbClr val="B4A986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565392" y="2075688"/>
            <a:ext cx="54864" cy="1975104"/>
          </a:xfrm>
          <a:prstGeom prst="rect">
            <a:avLst/>
          </a:prstGeom>
          <a:solidFill>
            <a:srgbClr val="FFC323"/>
          </a:solidFill>
          <a:ln w="12700">
            <a:solidFill>
              <a:srgbClr val="FFC32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748272" y="2130552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23B2B"/>
                </a:solidFill>
              </a:rPr>
              <a:t>KOWO n’est pas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6748272" y="2569464"/>
            <a:ext cx="461772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8766E"/>
                </a:solidFill>
              </a:rPr>
              <a:t>Banque, établissement de paiement, microfinance, conseiller en investissement, gestionnaire de fonds ou détenteur des fonds utilisateurs.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10287000" y="6355080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A928B"/>
                </a:solidFill>
              </a:rPr>
              <a:t>KOWO • 2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kowo_2_0/assets/kowo-logo-official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47472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60120" y="39319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3B2B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KOWO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594360" y="93268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C323"/>
                </a:solidFill>
              </a:rPr>
              <a:t>QUI FAIT QUOI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594360" y="1152144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E1712"/>
                </a:solidFill>
              </a:rPr>
              <a:t>Matrice de responsabilités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640080" y="1828800"/>
            <a:ext cx="2103120" cy="2011680"/>
          </a:xfrm>
          <a:prstGeom prst="roundRect">
            <a:avLst>
              <a:gd name="adj" fmla="val 4545"/>
            </a:avLst>
          </a:prstGeom>
          <a:solidFill>
            <a:srgbClr val="FFFDF8"/>
          </a:solidFill>
          <a:ln w="12700">
            <a:solidFill>
              <a:srgbClr val="E3DDD1"/>
            </a:solidFill>
            <a:prstDash val="solid"/>
          </a:ln>
          <a:effectLst>
            <a:outerShdw sx="100000" sy="100000" kx="0" ky="0" algn="bl" rotWithShape="0" blurRad="25400" dist="50800" dir="2700000">
              <a:srgbClr val="B4A986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04672" y="2029968"/>
            <a:ext cx="54864" cy="1609344"/>
          </a:xfrm>
          <a:prstGeom prst="rect">
            <a:avLst/>
          </a:prstGeom>
          <a:solidFill>
            <a:srgbClr val="123B2B"/>
          </a:solidFill>
          <a:ln w="12700">
            <a:solidFill>
              <a:srgbClr val="123B2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87552" y="2084832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23B2B"/>
                </a:solidFill>
              </a:rPr>
              <a:t>KOWO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987552" y="2523744"/>
            <a:ext cx="160020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8766E"/>
                </a:solidFill>
              </a:rPr>
              <a:t>Logiciel, UX, règles, groupes, notifications, historique, analytics.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017520" y="1828800"/>
            <a:ext cx="2103120" cy="2011680"/>
          </a:xfrm>
          <a:prstGeom prst="roundRect">
            <a:avLst>
              <a:gd name="adj" fmla="val 4545"/>
            </a:avLst>
          </a:prstGeom>
          <a:solidFill>
            <a:srgbClr val="FFFDF8"/>
          </a:solidFill>
          <a:ln w="12700">
            <a:solidFill>
              <a:srgbClr val="E3DDD1"/>
            </a:solidFill>
            <a:prstDash val="solid"/>
          </a:ln>
          <a:effectLst>
            <a:outerShdw sx="100000" sy="100000" kx="0" ky="0" algn="bl" rotWithShape="0" blurRad="25400" dist="50800" dir="2700000">
              <a:srgbClr val="B4A986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182112" y="2029968"/>
            <a:ext cx="54864" cy="1609344"/>
          </a:xfrm>
          <a:prstGeom prst="rect">
            <a:avLst/>
          </a:prstGeom>
          <a:solidFill>
            <a:srgbClr val="1C563E"/>
          </a:solidFill>
          <a:ln w="12700">
            <a:solidFill>
              <a:srgbClr val="1C563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364992" y="2084832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23B2B"/>
                </a:solidFill>
              </a:rPr>
              <a:t>Institution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3364992" y="2523744"/>
            <a:ext cx="160020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8766E"/>
                </a:solidFill>
              </a:rPr>
              <a:t>Comptes, wallets, détention, obligations réglementaires.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394960" y="1828800"/>
            <a:ext cx="2103120" cy="2011680"/>
          </a:xfrm>
          <a:prstGeom prst="roundRect">
            <a:avLst>
              <a:gd name="adj" fmla="val 4545"/>
            </a:avLst>
          </a:prstGeom>
          <a:solidFill>
            <a:srgbClr val="FFFDF8"/>
          </a:solidFill>
          <a:ln w="12700">
            <a:solidFill>
              <a:srgbClr val="E3DDD1"/>
            </a:solidFill>
            <a:prstDash val="solid"/>
          </a:ln>
          <a:effectLst>
            <a:outerShdw sx="100000" sy="100000" kx="0" ky="0" algn="bl" rotWithShape="0" blurRad="25400" dist="50800" dir="2700000">
              <a:srgbClr val="B4A986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5559552" y="2029968"/>
            <a:ext cx="54864" cy="1609344"/>
          </a:xfrm>
          <a:prstGeom prst="rect">
            <a:avLst/>
          </a:prstGeom>
          <a:solidFill>
            <a:srgbClr val="FFC323"/>
          </a:solidFill>
          <a:ln w="12700">
            <a:solidFill>
              <a:srgbClr val="FFC32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742432" y="2084832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23B2B"/>
                </a:solidFill>
              </a:rPr>
              <a:t>PSP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5742432" y="2523744"/>
            <a:ext cx="160020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8766E"/>
                </a:solidFill>
              </a:rPr>
              <a:t>Paiements, reversements, Mobile Money, webhooks, rapprochements.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7772400" y="1828800"/>
            <a:ext cx="2103120" cy="2011680"/>
          </a:xfrm>
          <a:prstGeom prst="roundRect">
            <a:avLst>
              <a:gd name="adj" fmla="val 4545"/>
            </a:avLst>
          </a:prstGeom>
          <a:solidFill>
            <a:srgbClr val="FFFDF8"/>
          </a:solidFill>
          <a:ln w="12700">
            <a:solidFill>
              <a:srgbClr val="E3DDD1"/>
            </a:solidFill>
            <a:prstDash val="solid"/>
          </a:ln>
          <a:effectLst>
            <a:outerShdw sx="100000" sy="100000" kx="0" ky="0" algn="bl" rotWithShape="0" blurRad="25400" dist="50800" dir="2700000">
              <a:srgbClr val="B4A986">
                <a:alpha val="1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7936992" y="2029968"/>
            <a:ext cx="54864" cy="1609344"/>
          </a:xfrm>
          <a:prstGeom prst="rect">
            <a:avLst/>
          </a:prstGeom>
          <a:solidFill>
            <a:srgbClr val="123B2B"/>
          </a:solidFill>
          <a:ln w="12700">
            <a:solidFill>
              <a:srgbClr val="123B2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119872" y="2084832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23B2B"/>
                </a:solidFill>
              </a:rPr>
              <a:t>KYC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8119872" y="2523744"/>
            <a:ext cx="160020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8766E"/>
                </a:solidFill>
              </a:rPr>
              <a:t>Identité, contrôles et seuils selon partenaire et cadre défini.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10149840" y="1828800"/>
            <a:ext cx="1463040" cy="2011680"/>
          </a:xfrm>
          <a:prstGeom prst="roundRect">
            <a:avLst>
              <a:gd name="adj" fmla="val 6250"/>
            </a:avLst>
          </a:prstGeom>
          <a:solidFill>
            <a:srgbClr val="FFFDF8"/>
          </a:solidFill>
          <a:ln w="12700">
            <a:solidFill>
              <a:srgbClr val="E3DDD1"/>
            </a:solidFill>
            <a:prstDash val="solid"/>
          </a:ln>
          <a:effectLst>
            <a:outerShdw sx="100000" sy="100000" kx="0" ky="0" algn="bl" rotWithShape="0" blurRad="25400" dist="50800" dir="2700000">
              <a:srgbClr val="B4A986">
                <a:alpha val="12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10314432" y="2029968"/>
            <a:ext cx="54864" cy="1609344"/>
          </a:xfrm>
          <a:prstGeom prst="rect">
            <a:avLst/>
          </a:prstGeom>
          <a:solidFill>
            <a:srgbClr val="1C563E"/>
          </a:solidFill>
          <a:ln w="12700">
            <a:solidFill>
              <a:srgbClr val="1C563E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0497312" y="2084832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23B2B"/>
                </a:solidFill>
              </a:rPr>
              <a:t>Users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10497312" y="2523744"/>
            <a:ext cx="96012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8766E"/>
                </a:solidFill>
              </a:rPr>
              <a:t>Consentement, règles, contributions, décisions.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640080" y="4343400"/>
            <a:ext cx="10698480" cy="914400"/>
          </a:xfrm>
          <a:prstGeom prst="roundRect">
            <a:avLst>
              <a:gd name="adj" fmla="val 10000"/>
            </a:avLst>
          </a:prstGeom>
          <a:solidFill>
            <a:srgbClr val="FFFDF8"/>
          </a:solidFill>
          <a:ln w="12700">
            <a:solidFill>
              <a:srgbClr val="E3DDD1"/>
            </a:solidFill>
            <a:prstDash val="solid"/>
          </a:ln>
          <a:effectLst>
            <a:outerShdw sx="100000" sy="100000" kx="0" ky="0" algn="bl" rotWithShape="0" blurRad="25400" dist="50800" dir="2700000">
              <a:srgbClr val="B4A986">
                <a:alpha val="12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804672" y="4544568"/>
            <a:ext cx="54864" cy="512064"/>
          </a:xfrm>
          <a:prstGeom prst="rect">
            <a:avLst/>
          </a:prstGeom>
          <a:solidFill>
            <a:srgbClr val="FFC323"/>
          </a:solidFill>
          <a:ln w="12700">
            <a:solidFill>
              <a:srgbClr val="FFC323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987552" y="4599432"/>
            <a:ext cx="10195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23B2B"/>
                </a:solidFill>
              </a:rPr>
              <a:t>Principe</a:t>
            </a:r>
            <a:endParaRPr lang="en-US" sz="1500" dirty="0"/>
          </a:p>
        </p:txBody>
      </p:sp>
      <p:sp>
        <p:nvSpPr>
          <p:cNvPr id="29" name="Text 26"/>
          <p:cNvSpPr/>
          <p:nvPr/>
        </p:nvSpPr>
        <p:spPr>
          <a:xfrm>
            <a:off x="987552" y="5038344"/>
            <a:ext cx="10195560" cy="182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8766E"/>
                </a:solidFill>
              </a:rPr>
              <a:t>Aucun flux réel ne doit être lancé sans attribution contractuelle claire des responsabilités, des fonds et des obligations de conformité.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10287000" y="6355080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A928B"/>
                </a:solidFill>
              </a:rPr>
              <a:t>KOWO • 3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kowo_2_0/assets/kowo-logo-official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47472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60120" y="39319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3B2B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KOWO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594360" y="93268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C323"/>
                </a:solidFill>
              </a:rPr>
              <a:t>RISK CONTROLS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594360" y="1152144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E1712"/>
                </a:solidFill>
              </a:rPr>
              <a:t>Risques et garde-fous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640080" y="1828800"/>
            <a:ext cx="3383280" cy="1143000"/>
          </a:xfrm>
          <a:prstGeom prst="roundRect">
            <a:avLst>
              <a:gd name="adj" fmla="val 8000"/>
            </a:avLst>
          </a:prstGeom>
          <a:solidFill>
            <a:srgbClr val="FFFDF8"/>
          </a:solidFill>
          <a:ln w="12700">
            <a:solidFill>
              <a:srgbClr val="E3DDD1"/>
            </a:solidFill>
            <a:prstDash val="solid"/>
          </a:ln>
          <a:effectLst>
            <a:outerShdw sx="100000" sy="100000" kx="0" ky="0" algn="bl" rotWithShape="0" blurRad="25400" dist="50800" dir="2700000">
              <a:srgbClr val="B4A986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04672" y="2029968"/>
            <a:ext cx="54864" cy="740664"/>
          </a:xfrm>
          <a:prstGeom prst="rect">
            <a:avLst/>
          </a:prstGeom>
          <a:solidFill>
            <a:srgbClr val="123B2B"/>
          </a:solidFill>
          <a:ln w="12700">
            <a:solidFill>
              <a:srgbClr val="123B2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87552" y="2084832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23B2B"/>
                </a:solidFill>
              </a:rPr>
              <a:t>Risque fonds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987552" y="2523744"/>
            <a:ext cx="2880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8766E"/>
                </a:solidFill>
              </a:rPr>
              <a:t>Fonds hébergés chez partenaire habilité, pas chez KOWO.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389120" y="1828800"/>
            <a:ext cx="3383280" cy="1143000"/>
          </a:xfrm>
          <a:prstGeom prst="roundRect">
            <a:avLst>
              <a:gd name="adj" fmla="val 8000"/>
            </a:avLst>
          </a:prstGeom>
          <a:solidFill>
            <a:srgbClr val="FFFDF8"/>
          </a:solidFill>
          <a:ln w="12700">
            <a:solidFill>
              <a:srgbClr val="E3DDD1"/>
            </a:solidFill>
            <a:prstDash val="solid"/>
          </a:ln>
          <a:effectLst>
            <a:outerShdw sx="100000" sy="100000" kx="0" ky="0" algn="bl" rotWithShape="0" blurRad="25400" dist="50800" dir="2700000">
              <a:srgbClr val="B4A986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53712" y="2029968"/>
            <a:ext cx="54864" cy="740664"/>
          </a:xfrm>
          <a:prstGeom prst="rect">
            <a:avLst/>
          </a:prstGeom>
          <a:solidFill>
            <a:srgbClr val="FFC323"/>
          </a:solidFill>
          <a:ln w="12700">
            <a:solidFill>
              <a:srgbClr val="FFC32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736592" y="2084832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23B2B"/>
                </a:solidFill>
              </a:rPr>
              <a:t>Risque AML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4736592" y="2523744"/>
            <a:ext cx="2880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8766E"/>
                </a:solidFill>
              </a:rPr>
              <a:t>KYC, monitoring, seuils et reporting définis avec le partenaire.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8138160" y="1828800"/>
            <a:ext cx="3383280" cy="1143000"/>
          </a:xfrm>
          <a:prstGeom prst="roundRect">
            <a:avLst>
              <a:gd name="adj" fmla="val 8000"/>
            </a:avLst>
          </a:prstGeom>
          <a:solidFill>
            <a:srgbClr val="FFFDF8"/>
          </a:solidFill>
          <a:ln w="12700">
            <a:solidFill>
              <a:srgbClr val="E3DDD1"/>
            </a:solidFill>
            <a:prstDash val="solid"/>
          </a:ln>
          <a:effectLst>
            <a:outerShdw sx="100000" sy="100000" kx="0" ky="0" algn="bl" rotWithShape="0" blurRad="25400" dist="50800" dir="2700000">
              <a:srgbClr val="B4A986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8302752" y="2029968"/>
            <a:ext cx="54864" cy="740664"/>
          </a:xfrm>
          <a:prstGeom prst="rect">
            <a:avLst/>
          </a:prstGeom>
          <a:solidFill>
            <a:srgbClr val="123B2B"/>
          </a:solidFill>
          <a:ln w="12700">
            <a:solidFill>
              <a:srgbClr val="123B2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485632" y="2084832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23B2B"/>
                </a:solidFill>
              </a:rPr>
              <a:t>Risque produit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8485632" y="2523744"/>
            <a:ext cx="2880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8766E"/>
                </a:solidFill>
              </a:rPr>
              <a:t>Vocabulaire public centré sur communauté, règles et traçabilité.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40080" y="3429000"/>
            <a:ext cx="3383280" cy="1143000"/>
          </a:xfrm>
          <a:prstGeom prst="roundRect">
            <a:avLst>
              <a:gd name="adj" fmla="val 8000"/>
            </a:avLst>
          </a:prstGeom>
          <a:solidFill>
            <a:srgbClr val="FFFDF8"/>
          </a:solidFill>
          <a:ln w="12700">
            <a:solidFill>
              <a:srgbClr val="E3DDD1"/>
            </a:solidFill>
            <a:prstDash val="solid"/>
          </a:ln>
          <a:effectLst>
            <a:outerShdw sx="100000" sy="100000" kx="0" ky="0" algn="bl" rotWithShape="0" blurRad="25400" dist="50800" dir="2700000">
              <a:srgbClr val="B4A986">
                <a:alpha val="1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804672" y="3630168"/>
            <a:ext cx="54864" cy="740664"/>
          </a:xfrm>
          <a:prstGeom prst="rect">
            <a:avLst/>
          </a:prstGeom>
          <a:solidFill>
            <a:srgbClr val="FFC323"/>
          </a:solidFill>
          <a:ln w="12700">
            <a:solidFill>
              <a:srgbClr val="FFC323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987552" y="3685032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23B2B"/>
                </a:solidFill>
              </a:rPr>
              <a:t>Risque investissement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987552" y="4123944"/>
            <a:ext cx="2880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8766E"/>
                </a:solidFill>
              </a:rPr>
              <a:t>Tout investissement réel passe par acteur habilité.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4389120" y="3429000"/>
            <a:ext cx="3383280" cy="1143000"/>
          </a:xfrm>
          <a:prstGeom prst="roundRect">
            <a:avLst>
              <a:gd name="adj" fmla="val 8000"/>
            </a:avLst>
          </a:prstGeom>
          <a:solidFill>
            <a:srgbClr val="FFFDF8"/>
          </a:solidFill>
          <a:ln w="12700">
            <a:solidFill>
              <a:srgbClr val="E3DDD1"/>
            </a:solidFill>
            <a:prstDash val="solid"/>
          </a:ln>
          <a:effectLst>
            <a:outerShdw sx="100000" sy="100000" kx="0" ky="0" algn="bl" rotWithShape="0" blurRad="25400" dist="50800" dir="2700000">
              <a:srgbClr val="B4A986">
                <a:alpha val="12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4553712" y="3630168"/>
            <a:ext cx="54864" cy="740664"/>
          </a:xfrm>
          <a:prstGeom prst="rect">
            <a:avLst/>
          </a:prstGeom>
          <a:solidFill>
            <a:srgbClr val="123B2B"/>
          </a:solidFill>
          <a:ln w="12700">
            <a:solidFill>
              <a:srgbClr val="123B2B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736592" y="3685032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23B2B"/>
                </a:solidFill>
              </a:rPr>
              <a:t>Risque données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4736592" y="4123944"/>
            <a:ext cx="2880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8766E"/>
                </a:solidFill>
              </a:rPr>
              <a:t>YandaTech EI responsable traitement actuel, partenaires listés.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8138160" y="3429000"/>
            <a:ext cx="3383280" cy="1143000"/>
          </a:xfrm>
          <a:prstGeom prst="roundRect">
            <a:avLst>
              <a:gd name="adj" fmla="val 8000"/>
            </a:avLst>
          </a:prstGeom>
          <a:solidFill>
            <a:srgbClr val="FFFDF8"/>
          </a:solidFill>
          <a:ln w="12700">
            <a:solidFill>
              <a:srgbClr val="E3DDD1"/>
            </a:solidFill>
            <a:prstDash val="solid"/>
          </a:ln>
          <a:effectLst>
            <a:outerShdw sx="100000" sy="100000" kx="0" ky="0" algn="bl" rotWithShape="0" blurRad="25400" dist="50800" dir="2700000">
              <a:srgbClr val="B4A986">
                <a:alpha val="12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8302752" y="3630168"/>
            <a:ext cx="54864" cy="740664"/>
          </a:xfrm>
          <a:prstGeom prst="rect">
            <a:avLst/>
          </a:prstGeom>
          <a:solidFill>
            <a:srgbClr val="FFC323"/>
          </a:solidFill>
          <a:ln w="12700">
            <a:solidFill>
              <a:srgbClr val="FFC323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8485632" y="3685032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23B2B"/>
                </a:solidFill>
              </a:rPr>
              <a:t>Risque réputation</a:t>
            </a:r>
            <a:endParaRPr lang="en-US" sz="1500" dirty="0"/>
          </a:p>
        </p:txBody>
      </p:sp>
      <p:sp>
        <p:nvSpPr>
          <p:cNvPr id="29" name="Text 26"/>
          <p:cNvSpPr/>
          <p:nvPr/>
        </p:nvSpPr>
        <p:spPr>
          <a:xfrm>
            <a:off x="8485632" y="4123944"/>
            <a:ext cx="2880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8766E"/>
                </a:solidFill>
              </a:rPr>
              <a:t>Trust Center public, documentation claire, support dédié.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10287000" y="6355080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A928B"/>
                </a:solidFill>
              </a:rPr>
              <a:t>KOWO • 4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kowo_2_0/assets/kowo-logo-official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47472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60120" y="39319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3B2B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KOWO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594360" y="93268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C323"/>
                </a:solidFill>
              </a:rPr>
              <a:t>COMPLIANCE OPERATING SYSTEM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594360" y="1152144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E1712"/>
                </a:solidFill>
              </a:rPr>
              <a:t>Documents à maintenir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822960" y="1828800"/>
            <a:ext cx="3200400" cy="1828800"/>
          </a:xfrm>
          <a:prstGeom prst="roundRect">
            <a:avLst>
              <a:gd name="adj" fmla="val 5000"/>
            </a:avLst>
          </a:prstGeom>
          <a:solidFill>
            <a:srgbClr val="FFFDF8"/>
          </a:solidFill>
          <a:ln w="12700">
            <a:solidFill>
              <a:srgbClr val="E3DDD1"/>
            </a:solidFill>
            <a:prstDash val="solid"/>
          </a:ln>
          <a:effectLst>
            <a:outerShdw sx="100000" sy="100000" kx="0" ky="0" algn="bl" rotWithShape="0" blurRad="25400" dist="50800" dir="2700000">
              <a:srgbClr val="B4A986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987552" y="2029968"/>
            <a:ext cx="54864" cy="1426464"/>
          </a:xfrm>
          <a:prstGeom prst="rect">
            <a:avLst/>
          </a:prstGeom>
          <a:solidFill>
            <a:srgbClr val="123B2B"/>
          </a:solidFill>
          <a:ln w="12700">
            <a:solidFill>
              <a:srgbClr val="123B2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170432" y="2084832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23B2B"/>
                </a:solidFill>
              </a:rPr>
              <a:t>Activity Blocks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170432" y="2523744"/>
            <a:ext cx="26974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8766E"/>
                </a:solidFill>
              </a:rPr>
              <a:t>Tenants et aboutissants par bloc d’activité.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480560" y="1828800"/>
            <a:ext cx="3200400" cy="1828800"/>
          </a:xfrm>
          <a:prstGeom prst="roundRect">
            <a:avLst>
              <a:gd name="adj" fmla="val 5000"/>
            </a:avLst>
          </a:prstGeom>
          <a:solidFill>
            <a:srgbClr val="FFFDF8"/>
          </a:solidFill>
          <a:ln w="12700">
            <a:solidFill>
              <a:srgbClr val="E3DDD1"/>
            </a:solidFill>
            <a:prstDash val="solid"/>
          </a:ln>
          <a:effectLst>
            <a:outerShdw sx="100000" sy="100000" kx="0" ky="0" algn="bl" rotWithShape="0" blurRad="25400" dist="50800" dir="2700000">
              <a:srgbClr val="B4A986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45152" y="2029968"/>
            <a:ext cx="54864" cy="1426464"/>
          </a:xfrm>
          <a:prstGeom prst="rect">
            <a:avLst/>
          </a:prstGeom>
          <a:solidFill>
            <a:srgbClr val="FFC323"/>
          </a:solidFill>
          <a:ln w="12700">
            <a:solidFill>
              <a:srgbClr val="FFC32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828032" y="2084832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23B2B"/>
                </a:solidFill>
              </a:rPr>
              <a:t>Payment Requirements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4828032" y="2523744"/>
            <a:ext cx="26974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8766E"/>
                </a:solidFill>
              </a:rPr>
              <a:t>Wallets, ségrégation, commissions, reversements.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8138160" y="1828800"/>
            <a:ext cx="3200400" cy="1828800"/>
          </a:xfrm>
          <a:prstGeom prst="roundRect">
            <a:avLst>
              <a:gd name="adj" fmla="val 5000"/>
            </a:avLst>
          </a:prstGeom>
          <a:solidFill>
            <a:srgbClr val="FFFDF8"/>
          </a:solidFill>
          <a:ln w="12700">
            <a:solidFill>
              <a:srgbClr val="E3DDD1"/>
            </a:solidFill>
            <a:prstDash val="solid"/>
          </a:ln>
          <a:effectLst>
            <a:outerShdw sx="100000" sy="100000" kx="0" ky="0" algn="bl" rotWithShape="0" blurRad="25400" dist="50800" dir="2700000">
              <a:srgbClr val="B4A986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8302752" y="2029968"/>
            <a:ext cx="54864" cy="1426464"/>
          </a:xfrm>
          <a:prstGeom prst="rect">
            <a:avLst/>
          </a:prstGeom>
          <a:solidFill>
            <a:srgbClr val="1C563E"/>
          </a:solidFill>
          <a:ln w="12700">
            <a:solidFill>
              <a:srgbClr val="1C563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485632" y="2084832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23B2B"/>
                </a:solidFill>
              </a:rPr>
              <a:t>Trust Center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8485632" y="2523744"/>
            <a:ext cx="26974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8766E"/>
                </a:solidFill>
              </a:rPr>
              <a:t>Position, sécurité, données, partenaires et limites.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1828800" y="4206240"/>
            <a:ext cx="3840480" cy="1097280"/>
          </a:xfrm>
          <a:prstGeom prst="roundRect">
            <a:avLst>
              <a:gd name="adj" fmla="val 8333"/>
            </a:avLst>
          </a:prstGeom>
          <a:solidFill>
            <a:srgbClr val="FFFDF8"/>
          </a:solidFill>
          <a:ln w="12700">
            <a:solidFill>
              <a:srgbClr val="E3DDD1"/>
            </a:solidFill>
            <a:prstDash val="solid"/>
          </a:ln>
          <a:effectLst>
            <a:outerShdw sx="100000" sy="100000" kx="0" ky="0" algn="bl" rotWithShape="0" blurRad="25400" dist="50800" dir="2700000">
              <a:srgbClr val="B4A986">
                <a:alpha val="1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1993392" y="4407408"/>
            <a:ext cx="54864" cy="694944"/>
          </a:xfrm>
          <a:prstGeom prst="rect">
            <a:avLst/>
          </a:prstGeom>
          <a:solidFill>
            <a:srgbClr val="123B2B"/>
          </a:solidFill>
          <a:ln w="12700">
            <a:solidFill>
              <a:srgbClr val="123B2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2176272" y="4462272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23B2B"/>
                </a:solidFill>
              </a:rPr>
              <a:t>NDA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2176272" y="4901184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8766E"/>
                </a:solidFill>
              </a:rPr>
              <a:t>Document de protection avant partage confidentiel.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6400800" y="4206240"/>
            <a:ext cx="3840480" cy="1097280"/>
          </a:xfrm>
          <a:prstGeom prst="roundRect">
            <a:avLst>
              <a:gd name="adj" fmla="val 8333"/>
            </a:avLst>
          </a:prstGeom>
          <a:solidFill>
            <a:srgbClr val="FFFDF8"/>
          </a:solidFill>
          <a:ln w="12700">
            <a:solidFill>
              <a:srgbClr val="E3DDD1"/>
            </a:solidFill>
            <a:prstDash val="solid"/>
          </a:ln>
          <a:effectLst>
            <a:outerShdw sx="100000" sy="100000" kx="0" ky="0" algn="bl" rotWithShape="0" blurRad="25400" dist="50800" dir="2700000">
              <a:srgbClr val="B4A986">
                <a:alpha val="12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6565392" y="4407408"/>
            <a:ext cx="54864" cy="694944"/>
          </a:xfrm>
          <a:prstGeom prst="rect">
            <a:avLst/>
          </a:prstGeom>
          <a:solidFill>
            <a:srgbClr val="FFC323"/>
          </a:solidFill>
          <a:ln w="12700">
            <a:solidFill>
              <a:srgbClr val="FFC323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748272" y="4462272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23B2B"/>
                </a:solidFill>
              </a:rPr>
              <a:t>Institutional Brief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6748272" y="4901184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8766E"/>
                </a:solidFill>
              </a:rPr>
              <a:t>Document court pour microfinances et banques.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10287000" y="6355080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A928B"/>
                </a:solidFill>
              </a:rPr>
              <a:t>KOWO • 5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Jos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Jost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KOWO / YandaTech EI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KOWO Compliance Trust Pack V2</dc:title>
  <dc:subject>KOWO Compliance Trust Pack V2</dc:subject>
  <dc:creator>KOWO</dc:creator>
  <cp:lastModifiedBy>KOWO</cp:lastModifiedBy>
  <cp:revision>1</cp:revision>
  <dcterms:created xsi:type="dcterms:W3CDTF">2026-07-01T22:13:12Z</dcterms:created>
  <dcterms:modified xsi:type="dcterms:W3CDTF">2026-07-01T22:13:12Z</dcterms:modified>
</cp:coreProperties>
</file>