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74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438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154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870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6586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256032"/>
            <a:ext cx="11384280" cy="576072"/>
          </a:xfrm>
          <a:prstGeom prst="roundRect">
            <a:avLst>
              <a:gd name="adj" fmla="val 12698"/>
            </a:avLst>
          </a:prstGeom>
          <a:solidFill>
            <a:srgbClr val="F6F1E7">
              <a:alpha val="94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pic>
        <p:nvPicPr>
          <p:cNvPr id="32" name="Image 0" descr="/mnt/data/kowo-institutional-partnership-v2/assets/kowo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384048"/>
            <a:ext cx="292608" cy="292608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960120" y="3566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KOWO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8503920" y="365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23B2B"/>
                </a:solidFill>
              </a:rPr>
              <a:t>Institutional Partnership Brief</a:t>
            </a:r>
            <a:endParaRPr lang="en-US" sz="800" dirty="0"/>
          </a:p>
        </p:txBody>
      </p:sp>
      <p:pic>
        <p:nvPicPr>
          <p:cNvPr id="35" name="Image 1" descr="/mnt/data/kowo-institutional-partnership-v2/assets/kowo-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777240" cy="77724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1600200" y="149961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KOWO</a:t>
            </a:r>
            <a:endParaRPr lang="en-US" sz="2200" dirty="0"/>
          </a:p>
        </p:txBody>
      </p:sp>
      <p:sp>
        <p:nvSpPr>
          <p:cNvPr id="37" name="Text 33"/>
          <p:cNvSpPr/>
          <p:nvPr/>
        </p:nvSpPr>
        <p:spPr>
          <a:xfrm>
            <a:off x="685800" y="233172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Institutional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Partnership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Brief</a:t>
            </a:r>
            <a:endParaRPr lang="en-US" sz="5000" dirty="0"/>
          </a:p>
        </p:txBody>
      </p:sp>
      <p:sp>
        <p:nvSpPr>
          <p:cNvPr id="38" name="Text 34"/>
          <p:cNvSpPr/>
          <p:nvPr/>
        </p:nvSpPr>
        <p:spPr>
          <a:xfrm>
            <a:off x="731520" y="4590288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7D8CF"/>
                </a:solidFill>
              </a:rPr>
              <a:t>Une note de présentation premium destinée aux institutions financières, microfinances, banques et partenaires réglementés.</a:t>
            </a:r>
            <a:endParaRPr lang="en-US" sz="1600" dirty="0"/>
          </a:p>
        </p:txBody>
      </p:sp>
      <p:sp>
        <p:nvSpPr>
          <p:cNvPr id="39" name="Shape 35"/>
          <p:cNvSpPr/>
          <p:nvPr/>
        </p:nvSpPr>
        <p:spPr>
          <a:xfrm>
            <a:off x="731520" y="5486400"/>
            <a:ext cx="3200400" cy="347472"/>
          </a:xfrm>
          <a:prstGeom prst="roundRect">
            <a:avLst>
              <a:gd name="adj" fmla="val 13158"/>
            </a:avLst>
          </a:prstGeom>
          <a:solidFill>
            <a:srgbClr val="1C563E"/>
          </a:solidFill>
          <a:ln w="12700">
            <a:solidFill>
              <a:srgbClr val="8DFFD3">
                <a:alpha val="75000"/>
              </a:srgbClr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841248" y="5568696"/>
            <a:ext cx="2980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DFFD3"/>
                </a:solidFill>
              </a:rPr>
              <a:t>BUILDING COMMUNITY FINANCE · AFRICA &amp; DIASPORA</a:t>
            </a:r>
            <a:endParaRPr lang="en-US" sz="850" dirty="0"/>
          </a:p>
        </p:txBody>
      </p:sp>
      <p:sp>
        <p:nvSpPr>
          <p:cNvPr id="41" name="Shape 37"/>
          <p:cNvSpPr/>
          <p:nvPr/>
        </p:nvSpPr>
        <p:spPr>
          <a:xfrm>
            <a:off x="7772400" y="1828800"/>
            <a:ext cx="3474720" cy="2926080"/>
          </a:xfrm>
          <a:prstGeom prst="roundRect">
            <a:avLst>
              <a:gd name="adj" fmla="val 3750"/>
            </a:avLst>
          </a:prstGeom>
          <a:solidFill>
            <a:srgbClr val="123B2B">
              <a:alpha val="98000"/>
            </a:srgbClr>
          </a:solidFill>
          <a:ln w="12700">
            <a:solidFill>
              <a:srgbClr val="8DFFD3">
                <a:alpha val="30000"/>
              </a:srgbClr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8183880" y="233172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Le bon partenaire financier permet à KOWO de rester une plateforme technologique pendant que les fonds restent portés par un acteur réglementé.</a:t>
            </a:r>
            <a:endParaRPr lang="en-US" sz="1700" dirty="0"/>
          </a:p>
        </p:txBody>
      </p:sp>
      <p:sp>
        <p:nvSpPr>
          <p:cNvPr id="43" name="Text 39"/>
          <p:cNvSpPr/>
          <p:nvPr/>
        </p:nvSpPr>
        <p:spPr>
          <a:xfrm>
            <a:off x="8183880" y="40050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FFD3"/>
                </a:solidFill>
              </a:rPr>
              <a:t>Version 2.0 · 2026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658368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7AA"/>
                </a:solidFill>
              </a:rPr>
              <a:t>© 2026 KOWO · contact@getkowo.com · getkowo.com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1384280" cy="576072"/>
          </a:xfrm>
          <a:prstGeom prst="roundRect">
            <a:avLst>
              <a:gd name="adj" fmla="val 12698"/>
            </a:avLst>
          </a:prstGeom>
          <a:solidFill>
            <a:srgbClr val="FFFDF8">
              <a:alpha val="94000"/>
            </a:srgbClr>
          </a:solidFill>
          <a:ln w="12700">
            <a:solidFill>
              <a:srgbClr val="DFE7E1">
                <a:alpha val="35000"/>
              </a:srgbClr>
            </a:solidFill>
            <a:prstDash val="solid"/>
          </a:ln>
        </p:spPr>
      </p:sp>
      <p:pic>
        <p:nvPicPr>
          <p:cNvPr id="3" name="Image 0" descr="/mnt/data/kowo-institutional-partnership-v2/assets/kowo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3840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566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KOWO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503920" y="365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86E"/>
                </a:solidFill>
              </a:rPr>
              <a:t>Institutional Partnership Brief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1783080" cy="347472"/>
          </a:xfrm>
          <a:prstGeom prst="roundRect">
            <a:avLst>
              <a:gd name="adj" fmla="val 13158"/>
            </a:avLst>
          </a:prstGeom>
          <a:solidFill>
            <a:srgbClr val="FFFDF8"/>
          </a:solidFill>
          <a:ln w="12700">
            <a:solidFill>
              <a:srgbClr val="DFE7E1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" y="996696"/>
            <a:ext cx="1563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3B2B"/>
                </a:solidFill>
              </a:rPr>
              <a:t>02 · OPPORTUNITÉ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58368" y="1335024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E17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marché existe déjà.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E17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Il manque une couche technologique de confiance.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85800" y="2450592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B786E"/>
                </a:solidFill>
              </a:rPr>
              <a:t>Les communautés africaines cotisent, épargnent et financent déjà ensemble. KOWO digitalise ces usages sans se substituer aux institutions réglementées.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583680" y="1325880"/>
            <a:ext cx="2194560" cy="1234440"/>
          </a:xfrm>
          <a:prstGeom prst="roundRect">
            <a:avLst>
              <a:gd name="adj" fmla="val 7407"/>
            </a:avLst>
          </a:prstGeom>
          <a:solidFill>
            <a:srgbClr val="FFFDF8"/>
          </a:solidFill>
          <a:ln w="12700">
            <a:solidFill>
              <a:srgbClr val="DFE7E1">
                <a:alpha val="9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93992" y="1527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🤝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178040" y="1527048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12"/>
                </a:solidFill>
              </a:rPr>
              <a:t>Usages existants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793992" y="1965960"/>
            <a:ext cx="384048" cy="32004"/>
          </a:xfrm>
          <a:prstGeom prst="rect">
            <a:avLst/>
          </a:prstGeom>
          <a:solidFill>
            <a:srgbClr val="8DFFD3"/>
          </a:solidFill>
          <a:ln w="12700">
            <a:solidFill>
              <a:srgbClr val="8DFFD3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93992" y="2103120"/>
            <a:ext cx="177393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86E"/>
                </a:solidFill>
              </a:rPr>
              <a:t>Tontines, associations, caisses communautaires, cotisations familiales et projets collaboratifs.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098280" y="1325880"/>
            <a:ext cx="2194560" cy="1234440"/>
          </a:xfrm>
          <a:prstGeom prst="roundRect">
            <a:avLst>
              <a:gd name="adj" fmla="val 7407"/>
            </a:avLst>
          </a:prstGeom>
          <a:solidFill>
            <a:srgbClr val="FFFDF8"/>
          </a:solidFill>
          <a:ln w="12700">
            <a:solidFill>
              <a:srgbClr val="DFE7E1">
                <a:alpha val="9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308592" y="1527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⚠️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692640" y="1527048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12"/>
                </a:solidFill>
              </a:rPr>
              <a:t>Limites actuelles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9308592" y="1965960"/>
            <a:ext cx="384048" cy="32004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08592" y="2103120"/>
            <a:ext cx="177393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86E"/>
                </a:solidFill>
              </a:rPr>
              <a:t>WhatsApp, Excel, espèces, litiges, manque de traçabilité et faible visibilité des cycles.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583680" y="2880360"/>
            <a:ext cx="2194560" cy="1234440"/>
          </a:xfrm>
          <a:prstGeom prst="roundRect">
            <a:avLst>
              <a:gd name="adj" fmla="val 7407"/>
            </a:avLst>
          </a:prstGeom>
          <a:solidFill>
            <a:srgbClr val="FFFDF8"/>
          </a:solidFill>
          <a:ln w="12700">
            <a:solidFill>
              <a:srgbClr val="DFE7E1">
                <a:alpha val="9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93992" y="3081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📱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7178040" y="3081528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12"/>
                </a:solidFill>
              </a:rPr>
              <a:t>Solution KOWO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793992" y="3520440"/>
            <a:ext cx="384048" cy="32004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93992" y="3657600"/>
            <a:ext cx="177393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86E"/>
                </a:solidFill>
              </a:rPr>
              <a:t>Application mobile, règles du groupe, historique, notifications, reporting et parcours utilisateurs.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9098280" y="2880360"/>
            <a:ext cx="2194560" cy="1234440"/>
          </a:xfrm>
          <a:prstGeom prst="roundRect">
            <a:avLst>
              <a:gd name="adj" fmla="val 7407"/>
            </a:avLst>
          </a:prstGeom>
          <a:solidFill>
            <a:srgbClr val="FFFDF8"/>
          </a:solidFill>
          <a:ln w="12700">
            <a:solidFill>
              <a:srgbClr val="DFE7E1">
                <a:alpha val="9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308592" y="3081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🏦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9692640" y="3081528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12"/>
                </a:solidFill>
              </a:rPr>
              <a:t>Partenaire financier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9308592" y="3520440"/>
            <a:ext cx="384048" cy="32004"/>
          </a:xfrm>
          <a:prstGeom prst="rect">
            <a:avLst/>
          </a:prstGeom>
          <a:solidFill>
            <a:srgbClr val="1C563E"/>
          </a:solidFill>
          <a:ln w="12700">
            <a:solidFill>
              <a:srgbClr val="1C563E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308592" y="3657600"/>
            <a:ext cx="177393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86E"/>
                </a:solidFill>
              </a:rPr>
              <a:t>Comptes, wallets, conservation des fonds, exigences réglementaires et confiance utilisateur.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583680" y="4800600"/>
            <a:ext cx="4709160" cy="868680"/>
          </a:xfrm>
          <a:prstGeom prst="roundRect">
            <a:avLst>
              <a:gd name="adj" fmla="val 8421"/>
            </a:avLst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812280" y="501091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Positionnement : KOWO ne cherche pas à devenir une microfinance, mais à devenir son interface digitale communautaire.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58368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86E"/>
                </a:solidFill>
              </a:rPr>
              <a:t>© 2026 KOWO · contact@getkowo.com · getkowo.com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74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438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154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870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6586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256032"/>
            <a:ext cx="11384280" cy="576072"/>
          </a:xfrm>
          <a:prstGeom prst="roundRect">
            <a:avLst>
              <a:gd name="adj" fmla="val 12698"/>
            </a:avLst>
          </a:prstGeom>
          <a:solidFill>
            <a:srgbClr val="F6F1E7">
              <a:alpha val="94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pic>
        <p:nvPicPr>
          <p:cNvPr id="32" name="Image 0" descr="/mnt/data/kowo-institutional-partnership-v2/assets/kowo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384048"/>
            <a:ext cx="292608" cy="292608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960120" y="3566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KOWO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8503920" y="365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23B2B"/>
                </a:solidFill>
              </a:rPr>
              <a:t>Institutional Partnership Brief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658368" y="914400"/>
            <a:ext cx="1783080" cy="347472"/>
          </a:xfrm>
          <a:prstGeom prst="roundRect">
            <a:avLst>
              <a:gd name="adj" fmla="val 13158"/>
            </a:avLst>
          </a:prstGeom>
          <a:solidFill>
            <a:srgbClr val="1C563E"/>
          </a:solidFill>
          <a:ln w="12700">
            <a:solidFill>
              <a:srgbClr val="8DFFD3">
                <a:alpha val="75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68096" y="996696"/>
            <a:ext cx="1563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DFFD3"/>
                </a:solidFill>
              </a:rPr>
              <a:t>03 · VISION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658368" y="1335024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Construire l’infrastructure panafricaine de l’épargne communautaire numérique.</a:t>
            </a:r>
            <a:endParaRPr lang="en-US" sz="3600" dirty="0"/>
          </a:p>
        </p:txBody>
      </p:sp>
      <p:sp>
        <p:nvSpPr>
          <p:cNvPr id="38" name="Text 35"/>
          <p:cNvSpPr/>
          <p:nvPr/>
        </p:nvSpPr>
        <p:spPr>
          <a:xfrm>
            <a:off x="685800" y="2450592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8CF"/>
                </a:solidFill>
              </a:rPr>
              <a:t>Une plateforme pensée pour l’Afrique d’abord, mais naturellement ouverte à la diaspora.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914400" y="3657600"/>
            <a:ext cx="2834640" cy="1234440"/>
          </a:xfrm>
          <a:prstGeom prst="roundRect">
            <a:avLst>
              <a:gd name="adj" fmla="val 7407"/>
            </a:avLst>
          </a:prstGeom>
          <a:solidFill>
            <a:srgbClr val="1C563E"/>
          </a:solidFill>
          <a:ln w="12700">
            <a:solidFill>
              <a:srgbClr val="1C563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14300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Afrique</a:t>
            </a:r>
            <a:endParaRPr lang="en-US" sz="1900" dirty="0"/>
          </a:p>
        </p:txBody>
      </p:sp>
      <p:sp>
        <p:nvSpPr>
          <p:cNvPr id="41" name="Text 38"/>
          <p:cNvSpPr/>
          <p:nvPr/>
        </p:nvSpPr>
        <p:spPr>
          <a:xfrm>
            <a:off x="1143000" y="42245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8CF"/>
                </a:solidFill>
              </a:rPr>
              <a:t>Marchés locaux, usages communautaires, mobile money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3794760" y="4270248"/>
            <a:ext cx="484632" cy="0"/>
          </a:xfrm>
          <a:prstGeom prst="line">
            <a:avLst/>
          </a:prstGeom>
          <a:noFill/>
          <a:ln w="12700">
            <a:solidFill>
              <a:srgbClr val="FFC323"/>
            </a:solidFill>
            <a:prstDash val="solid"/>
            <a:headEnd type="none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4389120" y="3657600"/>
            <a:ext cx="2834640" cy="1234440"/>
          </a:xfrm>
          <a:prstGeom prst="roundRect">
            <a:avLst>
              <a:gd name="adj" fmla="val 7407"/>
            </a:avLst>
          </a:prstGeom>
          <a:solidFill>
            <a:srgbClr val="8DFFD3"/>
          </a:solidFill>
          <a:ln w="12700">
            <a:solidFill>
              <a:srgbClr val="8DFFD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61772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7150F"/>
                </a:solidFill>
              </a:rPr>
              <a:t>Diaspora</a:t>
            </a:r>
            <a:endParaRPr lang="en-US" sz="1900" dirty="0"/>
          </a:p>
        </p:txBody>
      </p:sp>
      <p:sp>
        <p:nvSpPr>
          <p:cNvPr id="45" name="Text 42"/>
          <p:cNvSpPr/>
          <p:nvPr/>
        </p:nvSpPr>
        <p:spPr>
          <a:xfrm>
            <a:off x="4617720" y="42245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7150F"/>
                </a:solidFill>
              </a:rPr>
              <a:t>Contribution à distance, projets familiaux, confiance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7269480" y="4270248"/>
            <a:ext cx="484632" cy="0"/>
          </a:xfrm>
          <a:prstGeom prst="line">
            <a:avLst/>
          </a:prstGeom>
          <a:noFill/>
          <a:ln w="12700">
            <a:solidFill>
              <a:srgbClr val="FFC323"/>
            </a:solidFill>
            <a:prstDash val="solid"/>
            <a:headEnd type="none"/>
            <a:tailEnd type="triangle"/>
          </a:ln>
        </p:spPr>
      </p:sp>
      <p:sp>
        <p:nvSpPr>
          <p:cNvPr id="47" name="Shape 44"/>
          <p:cNvSpPr/>
          <p:nvPr/>
        </p:nvSpPr>
        <p:spPr>
          <a:xfrm>
            <a:off x="7863840" y="3657600"/>
            <a:ext cx="2834640" cy="1234440"/>
          </a:xfrm>
          <a:prstGeom prst="roundRect">
            <a:avLst>
              <a:gd name="adj" fmla="val 7407"/>
            </a:avLst>
          </a:prstGeom>
          <a:solidFill>
            <a:srgbClr val="1C563E"/>
          </a:solidFill>
          <a:ln w="12700">
            <a:solidFill>
              <a:srgbClr val="1C563E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09244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Institutions</a:t>
            </a:r>
            <a:endParaRPr lang="en-US" sz="1900" dirty="0"/>
          </a:p>
        </p:txBody>
      </p:sp>
      <p:sp>
        <p:nvSpPr>
          <p:cNvPr id="49" name="Text 46"/>
          <p:cNvSpPr/>
          <p:nvPr/>
        </p:nvSpPr>
        <p:spPr>
          <a:xfrm>
            <a:off x="8092440" y="42245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8CF"/>
                </a:solidFill>
              </a:rPr>
              <a:t>Microfinances, banques, EME, PSP et SGI agréés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658368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7AA"/>
                </a:solidFill>
              </a:rPr>
              <a:t>© 2026 KOWO · contact@getkowo.com · getkowo.com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1384280" cy="576072"/>
          </a:xfrm>
          <a:prstGeom prst="roundRect">
            <a:avLst>
              <a:gd name="adj" fmla="val 12698"/>
            </a:avLst>
          </a:prstGeom>
          <a:solidFill>
            <a:srgbClr val="FFFDF8">
              <a:alpha val="94000"/>
            </a:srgbClr>
          </a:solidFill>
          <a:ln w="12700">
            <a:solidFill>
              <a:srgbClr val="DFE7E1">
                <a:alpha val="35000"/>
              </a:srgbClr>
            </a:solidFill>
            <a:prstDash val="solid"/>
          </a:ln>
        </p:spPr>
      </p:sp>
      <p:pic>
        <p:nvPicPr>
          <p:cNvPr id="3" name="Image 0" descr="/mnt/data/kowo-institutional-partnership-v2/assets/kowo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3840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566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KOWO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503920" y="365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86E"/>
                </a:solidFill>
              </a:rPr>
              <a:t>Institutional Partnership Brief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1783080" cy="347472"/>
          </a:xfrm>
          <a:prstGeom prst="roundRect">
            <a:avLst>
              <a:gd name="adj" fmla="val 13158"/>
            </a:avLst>
          </a:prstGeom>
          <a:solidFill>
            <a:srgbClr val="FFFDF8"/>
          </a:solidFill>
          <a:ln w="12700">
            <a:solidFill>
              <a:srgbClr val="DFE7E1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" y="996696"/>
            <a:ext cx="1563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3B2B"/>
                </a:solidFill>
              </a:rPr>
              <a:t>04 · MODÈLE CIBLE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58368" y="1335024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E17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partenaire porte les comptes.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E17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KOWO porte l’expérience.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85800" y="2450592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B786E"/>
                </a:solidFill>
              </a:rPr>
              <a:t>La séparation des rôles est au cœur du modèle recherché.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2834640"/>
            <a:ext cx="1828800" cy="1078992"/>
          </a:xfrm>
          <a:prstGeom prst="roundRect">
            <a:avLst>
              <a:gd name="adj" fmla="val 6780"/>
            </a:avLst>
          </a:prstGeom>
          <a:solidFill>
            <a:srgbClr val="FFFDF8"/>
          </a:solidFill>
          <a:ln w="12700">
            <a:solidFill>
              <a:srgbClr val="DFE7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30358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712"/>
                </a:solidFill>
              </a:rPr>
              <a:t>Utilisateurs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60120" y="3337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B786E"/>
                </a:solidFill>
              </a:rPr>
              <a:t>Familles, associations, groupes, diaspora</a:t>
            </a:r>
            <a:endParaRPr lang="en-US" sz="870" dirty="0"/>
          </a:p>
        </p:txBody>
      </p:sp>
      <p:sp>
        <p:nvSpPr>
          <p:cNvPr id="13" name="Shape 10"/>
          <p:cNvSpPr/>
          <p:nvPr/>
        </p:nvSpPr>
        <p:spPr>
          <a:xfrm>
            <a:off x="3200400" y="2834640"/>
            <a:ext cx="1828800" cy="1078992"/>
          </a:xfrm>
          <a:prstGeom prst="roundRect">
            <a:avLst>
              <a:gd name="adj" fmla="val 6780"/>
            </a:avLst>
          </a:prstGeom>
          <a:solidFill>
            <a:srgbClr val="FFFDF8"/>
          </a:solidFill>
          <a:ln w="12700">
            <a:solidFill>
              <a:srgbClr val="DFE7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37560" y="30358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712"/>
                </a:solidFill>
              </a:rPr>
              <a:t>Wallets / comptes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337560" y="3337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B786E"/>
                </a:solidFill>
              </a:rPr>
              <a:t>Ouverts chez l’institution partenaire</a:t>
            </a:r>
            <a:endParaRPr lang="en-US" sz="870" dirty="0"/>
          </a:p>
        </p:txBody>
      </p:sp>
      <p:sp>
        <p:nvSpPr>
          <p:cNvPr id="16" name="Shape 13"/>
          <p:cNvSpPr/>
          <p:nvPr/>
        </p:nvSpPr>
        <p:spPr>
          <a:xfrm>
            <a:off x="5577840" y="2834640"/>
            <a:ext cx="1828800" cy="1078992"/>
          </a:xfrm>
          <a:prstGeom prst="roundRect">
            <a:avLst>
              <a:gd name="adj" fmla="val 6780"/>
            </a:avLst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15000" y="30358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Institution partenaire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715000" y="3337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7D8CF"/>
                </a:solidFill>
              </a:rPr>
              <a:t>Conservation des fonds &amp; conformité</a:t>
            </a:r>
            <a:endParaRPr lang="en-US" sz="870" dirty="0"/>
          </a:p>
        </p:txBody>
      </p:sp>
      <p:sp>
        <p:nvSpPr>
          <p:cNvPr id="19" name="Shape 16"/>
          <p:cNvSpPr/>
          <p:nvPr/>
        </p:nvSpPr>
        <p:spPr>
          <a:xfrm>
            <a:off x="7955280" y="2834640"/>
            <a:ext cx="1828800" cy="1078992"/>
          </a:xfrm>
          <a:prstGeom prst="roundRect">
            <a:avLst>
              <a:gd name="adj" fmla="val 6780"/>
            </a:avLst>
          </a:prstGeom>
          <a:solidFill>
            <a:srgbClr val="FFFDF8"/>
          </a:solidFill>
          <a:ln w="12700">
            <a:solidFill>
              <a:srgbClr val="DFE7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92440" y="30358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712"/>
                </a:solidFill>
              </a:rPr>
              <a:t>KOWO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092440" y="3337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B786E"/>
                </a:solidFill>
              </a:rPr>
              <a:t>App, UX, règles, notifications, analytics</a:t>
            </a:r>
            <a:endParaRPr lang="en-US" sz="870" dirty="0"/>
          </a:p>
        </p:txBody>
      </p:sp>
      <p:sp>
        <p:nvSpPr>
          <p:cNvPr id="22" name="Shape 19"/>
          <p:cNvSpPr/>
          <p:nvPr/>
        </p:nvSpPr>
        <p:spPr>
          <a:xfrm>
            <a:off x="10058400" y="2834640"/>
            <a:ext cx="1828800" cy="1078992"/>
          </a:xfrm>
          <a:prstGeom prst="roundRect">
            <a:avLst>
              <a:gd name="adj" fmla="val 6780"/>
            </a:avLst>
          </a:prstGeom>
          <a:solidFill>
            <a:srgbClr val="FFFDF8"/>
          </a:solidFill>
          <a:ln w="12700">
            <a:solidFill>
              <a:srgbClr val="DFE7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195560" y="30358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712"/>
                </a:solidFill>
              </a:rPr>
              <a:t>Commission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0195560" y="3337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B786E"/>
                </a:solidFill>
              </a:rPr>
              <a:t>Revenu de plateforme uniquement</a:t>
            </a:r>
            <a:endParaRPr lang="en-US" sz="870" dirty="0"/>
          </a:p>
        </p:txBody>
      </p:sp>
      <p:sp>
        <p:nvSpPr>
          <p:cNvPr id="25" name="Shape 22"/>
          <p:cNvSpPr/>
          <p:nvPr/>
        </p:nvSpPr>
        <p:spPr>
          <a:xfrm>
            <a:off x="2688336" y="3374136"/>
            <a:ext cx="402336" cy="0"/>
          </a:xfrm>
          <a:prstGeom prst="line">
            <a:avLst/>
          </a:prstGeom>
          <a:noFill/>
          <a:ln w="12700">
            <a:solidFill>
              <a:srgbClr val="FFC323"/>
            </a:solidFill>
            <a:prstDash val="solid"/>
            <a:headEnd type="none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5065776" y="3374136"/>
            <a:ext cx="402336" cy="0"/>
          </a:xfrm>
          <a:prstGeom prst="line">
            <a:avLst/>
          </a:prstGeom>
          <a:noFill/>
          <a:ln w="12700">
            <a:solidFill>
              <a:srgbClr val="FFC323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7443216" y="3374136"/>
            <a:ext cx="402336" cy="0"/>
          </a:xfrm>
          <a:prstGeom prst="line">
            <a:avLst/>
          </a:prstGeom>
          <a:noFill/>
          <a:ln w="12700">
            <a:solidFill>
              <a:srgbClr val="FFC323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9820656" y="3374136"/>
            <a:ext cx="128016" cy="0"/>
          </a:xfrm>
          <a:prstGeom prst="line">
            <a:avLst/>
          </a:prstGeom>
          <a:noFill/>
          <a:ln w="12700">
            <a:solidFill>
              <a:srgbClr val="FFC323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1920240" y="4983480"/>
            <a:ext cx="8321040" cy="566928"/>
          </a:xfrm>
          <a:prstGeom prst="roundRect">
            <a:avLst>
              <a:gd name="adj" fmla="val 12903"/>
            </a:avLst>
          </a:prstGeom>
          <a:solidFill>
            <a:srgbClr val="8DFFD3"/>
          </a:solidFill>
          <a:ln w="12700">
            <a:solidFill>
              <a:srgbClr val="8DFFD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148840" y="5148072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50F"/>
                </a:solidFill>
              </a:rPr>
              <a:t>Principe clé : les fonds des utilisateurs ne sont pas mélangés aux revenus de KOWO.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58368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86E"/>
                </a:solidFill>
              </a:rPr>
              <a:t>© 2026 KOWO · contact@getkowo.com · getkowo.com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1384280" cy="576072"/>
          </a:xfrm>
          <a:prstGeom prst="roundRect">
            <a:avLst>
              <a:gd name="adj" fmla="val 12698"/>
            </a:avLst>
          </a:prstGeom>
          <a:solidFill>
            <a:srgbClr val="FFFDF8">
              <a:alpha val="94000"/>
            </a:srgbClr>
          </a:solidFill>
          <a:ln w="12700">
            <a:solidFill>
              <a:srgbClr val="DFE7E1">
                <a:alpha val="35000"/>
              </a:srgbClr>
            </a:solidFill>
            <a:prstDash val="solid"/>
          </a:ln>
        </p:spPr>
      </p:sp>
      <p:pic>
        <p:nvPicPr>
          <p:cNvPr id="3" name="Image 0" descr="/mnt/data/kowo-institutional-partnership-v2/assets/kowo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3840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566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KOWO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503920" y="365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86E"/>
                </a:solidFill>
              </a:rPr>
              <a:t>Institutional Partnership Brief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1783080" cy="347472"/>
          </a:xfrm>
          <a:prstGeom prst="roundRect">
            <a:avLst>
              <a:gd name="adj" fmla="val 13158"/>
            </a:avLst>
          </a:prstGeom>
          <a:solidFill>
            <a:srgbClr val="FFFDF8"/>
          </a:solidFill>
          <a:ln w="12700">
            <a:solidFill>
              <a:srgbClr val="DFE7E1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" y="996696"/>
            <a:ext cx="1563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3B2B"/>
                </a:solidFill>
              </a:rPr>
              <a:t>05 · RÉPARTITION DES RÔLES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58368" y="1335024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E17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collaboration claire, lisible et compatible avec les attentes réglementaires.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85800" y="2450592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B786E"/>
                </a:solidFill>
              </a:rPr>
              <a:t>Chaque partie reste dans son cœur de métier.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1520" y="2743200"/>
            <a:ext cx="3200400" cy="2148840"/>
          </a:xfrm>
          <a:prstGeom prst="roundRect">
            <a:avLst>
              <a:gd name="adj" fmla="val 4255"/>
            </a:avLst>
          </a:prstGeom>
          <a:solidFill>
            <a:srgbClr val="FFFDF8"/>
          </a:solidFill>
          <a:ln w="12700">
            <a:solidFill>
              <a:srgbClr val="DFE7E1">
                <a:alpha val="9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1832" y="2944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🏦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325880" y="2944368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12"/>
                </a:solidFill>
              </a:rPr>
              <a:t>Institution partenaire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41832" y="3383280"/>
            <a:ext cx="384048" cy="32004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41832" y="3520440"/>
            <a:ext cx="2779776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86E"/>
                </a:solidFill>
              </a:rPr>
              <a:t>• Ouverture des comptes / wallets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86E"/>
                </a:solidFill>
              </a:rPr>
              <a:t>• Conservation des fonds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86E"/>
                </a:solidFill>
              </a:rPr>
              <a:t>• Conformité financière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86E"/>
                </a:solidFill>
              </a:rPr>
              <a:t>• Obligations réglementaires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86E"/>
                </a:solidFill>
              </a:rPr>
              <a:t>• Supervision des opérations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480560" y="2743200"/>
            <a:ext cx="3200400" cy="2148840"/>
          </a:xfrm>
          <a:prstGeom prst="roundRect">
            <a:avLst>
              <a:gd name="adj" fmla="val 4255"/>
            </a:avLst>
          </a:prstGeom>
          <a:solidFill>
            <a:srgbClr val="FFFDF8"/>
          </a:solidFill>
          <a:ln w="12700">
            <a:solidFill>
              <a:srgbClr val="DFE7E1">
                <a:alpha val="9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90872" y="2944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📱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074920" y="2944368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12"/>
                </a:solidFill>
              </a:rPr>
              <a:t>KOWO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690872" y="3383280"/>
            <a:ext cx="384048" cy="32004"/>
          </a:xfrm>
          <a:prstGeom prst="rect">
            <a:avLst/>
          </a:prstGeom>
          <a:solidFill>
            <a:srgbClr val="8DFFD3"/>
          </a:solidFill>
          <a:ln w="12700">
            <a:solidFill>
              <a:srgbClr val="8DFFD3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90872" y="3520440"/>
            <a:ext cx="2779776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86E"/>
                </a:solidFill>
              </a:rPr>
              <a:t>• Application mobile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86E"/>
                </a:solidFill>
              </a:rPr>
              <a:t>• Gestion des communautés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86E"/>
                </a:solidFill>
              </a:rPr>
              <a:t>• Interfaces API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86E"/>
                </a:solidFill>
              </a:rPr>
              <a:t>• Notifications &amp; historiques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86E"/>
                </a:solidFill>
              </a:rPr>
              <a:t>• Support et reporting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229600" y="2743200"/>
            <a:ext cx="3200400" cy="2148840"/>
          </a:xfrm>
          <a:prstGeom prst="roundRect">
            <a:avLst>
              <a:gd name="adj" fmla="val 4255"/>
            </a:avLst>
          </a:prstGeom>
          <a:solidFill>
            <a:srgbClr val="FFFDF8"/>
          </a:solidFill>
          <a:ln w="12700">
            <a:solidFill>
              <a:srgbClr val="DFE7E1">
                <a:alpha val="9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39912" y="2944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🔌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823960" y="2944368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12"/>
                </a:solidFill>
              </a:rPr>
              <a:t>PSP / rails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8439912" y="3383280"/>
            <a:ext cx="384048" cy="32004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39912" y="3520440"/>
            <a:ext cx="2779776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86E"/>
                </a:solidFill>
              </a:rPr>
              <a:t>• Mobile Money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86E"/>
                </a:solidFill>
              </a:rPr>
              <a:t>• Cartes / virements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86E"/>
                </a:solidFill>
              </a:rPr>
              <a:t>• Webhooks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86E"/>
                </a:solidFill>
              </a:rPr>
              <a:t>• Payouts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86E"/>
                </a:solidFill>
              </a:rPr>
              <a:t>• Réconciliation technique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58368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86E"/>
                </a:solidFill>
              </a:rPr>
              <a:t>© 2026 KOWO · contact@getkowo.com · getkowo.com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74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438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154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870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6586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256032"/>
            <a:ext cx="11384280" cy="576072"/>
          </a:xfrm>
          <a:prstGeom prst="roundRect">
            <a:avLst>
              <a:gd name="adj" fmla="val 12698"/>
            </a:avLst>
          </a:prstGeom>
          <a:solidFill>
            <a:srgbClr val="F6F1E7">
              <a:alpha val="94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pic>
        <p:nvPicPr>
          <p:cNvPr id="32" name="Image 0" descr="/mnt/data/kowo-institutional-partnership-v2/assets/kowo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384048"/>
            <a:ext cx="292608" cy="292608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960120" y="3566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KOWO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8503920" y="365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23B2B"/>
                </a:solidFill>
              </a:rPr>
              <a:t>Institutional Partnership Brief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658368" y="914400"/>
            <a:ext cx="1783080" cy="347472"/>
          </a:xfrm>
          <a:prstGeom prst="roundRect">
            <a:avLst>
              <a:gd name="adj" fmla="val 13158"/>
            </a:avLst>
          </a:prstGeom>
          <a:solidFill>
            <a:srgbClr val="1C563E"/>
          </a:solidFill>
          <a:ln w="12700">
            <a:solidFill>
              <a:srgbClr val="8DFFD3">
                <a:alpha val="75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68096" y="996696"/>
            <a:ext cx="1563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DFFD3"/>
                </a:solidFill>
              </a:rPr>
              <a:t>06 · VALEUR PARTENAIRE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658368" y="1335024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Pourquoi devenir le partenaire financier historique de KOWO ?</a:t>
            </a:r>
            <a:endParaRPr lang="en-US" sz="3600" dirty="0"/>
          </a:p>
        </p:txBody>
      </p:sp>
      <p:sp>
        <p:nvSpPr>
          <p:cNvPr id="38" name="Text 35"/>
          <p:cNvSpPr/>
          <p:nvPr/>
        </p:nvSpPr>
        <p:spPr>
          <a:xfrm>
            <a:off x="685800" y="2450592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8CF"/>
                </a:solidFill>
              </a:rPr>
              <a:t>KOWO apporte une nouvelle interface d’acquisition, de fidélisation et de digitalisation pour une institution financière.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777240" y="3063240"/>
            <a:ext cx="4572000" cy="804672"/>
          </a:xfrm>
          <a:prstGeom prst="roundRect">
            <a:avLst>
              <a:gd name="adj" fmla="val 9091"/>
            </a:avLst>
          </a:prstGeom>
          <a:solidFill>
            <a:srgbClr val="1C563E"/>
          </a:solidFill>
          <a:ln w="12700">
            <a:solidFill>
              <a:srgbClr val="8DFFD3">
                <a:alpha val="25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78408" y="320954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FFD3"/>
                </a:solidFill>
              </a:rPr>
              <a:t>Acquisition clients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2560320" y="3227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7D8CF"/>
                </a:solidFill>
              </a:rPr>
              <a:t>Accès à de nouveaux utilisateurs via les communautés et la diaspora.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6080760" y="3063240"/>
            <a:ext cx="4572000" cy="804672"/>
          </a:xfrm>
          <a:prstGeom prst="roundRect">
            <a:avLst>
              <a:gd name="adj" fmla="val 9091"/>
            </a:avLst>
          </a:prstGeom>
          <a:solidFill>
            <a:srgbClr val="1C563E"/>
          </a:solidFill>
          <a:ln w="12700">
            <a:solidFill>
              <a:srgbClr val="8DFFD3">
                <a:alpha val="2500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281928" y="320954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FFD3"/>
                </a:solidFill>
              </a:rPr>
              <a:t>Digitalisation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7863840" y="3227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7D8CF"/>
                </a:solidFill>
              </a:rPr>
              <a:t>Modernisation de l’épargne communautaire sans développer toute l’UX en interne.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777240" y="4160520"/>
            <a:ext cx="4572000" cy="804672"/>
          </a:xfrm>
          <a:prstGeom prst="roundRect">
            <a:avLst>
              <a:gd name="adj" fmla="val 9091"/>
            </a:avLst>
          </a:prstGeom>
          <a:solidFill>
            <a:srgbClr val="1C563E"/>
          </a:solidFill>
          <a:ln w="12700">
            <a:solidFill>
              <a:srgbClr val="8DFFD3">
                <a:alpha val="2500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78408" y="430682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FFD3"/>
                </a:solidFill>
              </a:rPr>
              <a:t>Revenus partagés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2560320" y="43251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7D8CF"/>
                </a:solidFill>
              </a:rPr>
              <a:t>Commissions, frais d’usage et nouveaux produits financiers à terme.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6080760" y="4160520"/>
            <a:ext cx="4572000" cy="804672"/>
          </a:xfrm>
          <a:prstGeom prst="roundRect">
            <a:avLst>
              <a:gd name="adj" fmla="val 9091"/>
            </a:avLst>
          </a:prstGeom>
          <a:solidFill>
            <a:srgbClr val="1C563E"/>
          </a:solidFill>
          <a:ln w="12700">
            <a:solidFill>
              <a:srgbClr val="8DFFD3">
                <a:alpha val="2500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281928" y="430682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FFD3"/>
                </a:solidFill>
              </a:rPr>
              <a:t>Confiance</a:t>
            </a:r>
            <a:endParaRPr lang="en-US" sz="1400" dirty="0"/>
          </a:p>
        </p:txBody>
      </p:sp>
      <p:sp>
        <p:nvSpPr>
          <p:cNvPr id="50" name="Text 47"/>
          <p:cNvSpPr/>
          <p:nvPr/>
        </p:nvSpPr>
        <p:spPr>
          <a:xfrm>
            <a:off x="7863840" y="43251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7D8CF"/>
                </a:solidFill>
              </a:rPr>
              <a:t>Une architecture où l’institution porte la partie réglementée.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658368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7AA"/>
                </a:solidFill>
              </a:rPr>
              <a:t>© 2026 KOWO · contact@getkowo.com · getkowo.com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1384280" cy="576072"/>
          </a:xfrm>
          <a:prstGeom prst="roundRect">
            <a:avLst>
              <a:gd name="adj" fmla="val 12698"/>
            </a:avLst>
          </a:prstGeom>
          <a:solidFill>
            <a:srgbClr val="FFFDF8">
              <a:alpha val="94000"/>
            </a:srgbClr>
          </a:solidFill>
          <a:ln w="12700">
            <a:solidFill>
              <a:srgbClr val="DFE7E1">
                <a:alpha val="35000"/>
              </a:srgbClr>
            </a:solidFill>
            <a:prstDash val="solid"/>
          </a:ln>
        </p:spPr>
      </p:sp>
      <p:pic>
        <p:nvPicPr>
          <p:cNvPr id="3" name="Image 0" descr="/mnt/data/kowo-institutional-partnership-v2/assets/kowo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3840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566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KOWO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503920" y="365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86E"/>
                </a:solidFill>
              </a:rPr>
              <a:t>Institutional Partnership Brief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1783080" cy="347472"/>
          </a:xfrm>
          <a:prstGeom prst="roundRect">
            <a:avLst>
              <a:gd name="adj" fmla="val 13158"/>
            </a:avLst>
          </a:prstGeom>
          <a:solidFill>
            <a:srgbClr val="FFFDF8"/>
          </a:solidFill>
          <a:ln w="12700">
            <a:solidFill>
              <a:srgbClr val="DFE7E1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" y="996696"/>
            <a:ext cx="1563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3B2B"/>
                </a:solidFill>
              </a:rPr>
              <a:t>07 · ÉTAT D’AVANCEMENT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58368" y="1335024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E17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KOWO n’est plus une idée.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E17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socle produit et documentaire existe déjà.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85800" y="2450592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B786E"/>
                </a:solidFill>
              </a:rPr>
              <a:t>Le partenariat recherché vise à sécuriser le déploiement financier et réglementaire.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27432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712"/>
                </a:solidFill>
              </a:rPr>
              <a:t>Application mobile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069080" y="2779776"/>
            <a:ext cx="4572000" cy="109728"/>
          </a:xfrm>
          <a:prstGeom prst="roundRect">
            <a:avLst>
              <a:gd name="adj" fmla="val 16667"/>
            </a:avLst>
          </a:prstGeom>
          <a:solidFill>
            <a:srgbClr val="DFE7E1"/>
          </a:solidFill>
          <a:ln w="12700">
            <a:solidFill>
              <a:srgbClr val="DFE7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069080" y="2779776"/>
            <a:ext cx="4343400" cy="109728"/>
          </a:xfrm>
          <a:prstGeom prst="roundRect">
            <a:avLst>
              <a:gd name="adj" fmla="val 16667"/>
            </a:avLst>
          </a:prstGeom>
          <a:solidFill>
            <a:srgbClr val="8DFFD3"/>
          </a:solidFill>
          <a:ln w="12700">
            <a:solidFill>
              <a:srgbClr val="8DFFD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23960" y="27432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B2B"/>
                </a:solidFill>
              </a:rPr>
              <a:t>95%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22960" y="321868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712"/>
                </a:solidFill>
              </a:rPr>
              <a:t>Infrastructure cloud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069080" y="3255264"/>
            <a:ext cx="4572000" cy="109728"/>
          </a:xfrm>
          <a:prstGeom prst="roundRect">
            <a:avLst>
              <a:gd name="adj" fmla="val 16667"/>
            </a:avLst>
          </a:prstGeom>
          <a:solidFill>
            <a:srgbClr val="DFE7E1"/>
          </a:solidFill>
          <a:ln w="12700">
            <a:solidFill>
              <a:srgbClr val="DFE7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069080" y="3255264"/>
            <a:ext cx="4114800" cy="109728"/>
          </a:xfrm>
          <a:prstGeom prst="roundRect">
            <a:avLst>
              <a:gd name="adj" fmla="val 16667"/>
            </a:avLst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823960" y="321868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B2B"/>
                </a:solidFill>
              </a:rPr>
              <a:t>90%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22960" y="369417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712"/>
                </a:solidFill>
              </a:rPr>
              <a:t>Documentation conformité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069080" y="3730752"/>
            <a:ext cx="4572000" cy="109728"/>
          </a:xfrm>
          <a:prstGeom prst="roundRect">
            <a:avLst>
              <a:gd name="adj" fmla="val 16667"/>
            </a:avLst>
          </a:prstGeom>
          <a:solidFill>
            <a:srgbClr val="DFE7E1"/>
          </a:solidFill>
          <a:ln w="12700">
            <a:solidFill>
              <a:srgbClr val="DFE7E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069080" y="3730752"/>
            <a:ext cx="4572000" cy="109728"/>
          </a:xfrm>
          <a:prstGeom prst="roundRect">
            <a:avLst>
              <a:gd name="adj" fmla="val 16667"/>
            </a:avLst>
          </a:prstGeom>
          <a:solidFill>
            <a:srgbClr val="8DFFD3"/>
          </a:solidFill>
          <a:ln w="12700">
            <a:solidFill>
              <a:srgbClr val="8DFFD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823960" y="36941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B2B"/>
                </a:solidFill>
              </a:rPr>
              <a:t>100%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22960" y="41696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712"/>
                </a:solidFill>
              </a:rPr>
              <a:t>Partner Portal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069080" y="4206240"/>
            <a:ext cx="4572000" cy="109728"/>
          </a:xfrm>
          <a:prstGeom prst="roundRect">
            <a:avLst>
              <a:gd name="adj" fmla="val 16667"/>
            </a:avLst>
          </a:prstGeom>
          <a:solidFill>
            <a:srgbClr val="DFE7E1"/>
          </a:solidFill>
          <a:ln w="12700">
            <a:solidFill>
              <a:srgbClr val="DFE7E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069080" y="4206240"/>
            <a:ext cx="4572000" cy="109728"/>
          </a:xfrm>
          <a:prstGeom prst="roundRect">
            <a:avLst>
              <a:gd name="adj" fmla="val 16667"/>
            </a:avLst>
          </a:prstGeom>
          <a:solidFill>
            <a:srgbClr val="8DFFD3"/>
          </a:solidFill>
          <a:ln w="12700">
            <a:solidFill>
              <a:srgbClr val="8DFFD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823960" y="41696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B2B"/>
                </a:solidFill>
              </a:rPr>
              <a:t>100%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22960" y="464515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712"/>
                </a:solidFill>
              </a:rPr>
              <a:t>KYC / OTP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069080" y="4681728"/>
            <a:ext cx="4572000" cy="109728"/>
          </a:xfrm>
          <a:prstGeom prst="roundRect">
            <a:avLst>
              <a:gd name="adj" fmla="val 16667"/>
            </a:avLst>
          </a:prstGeom>
          <a:solidFill>
            <a:srgbClr val="DFE7E1"/>
          </a:solidFill>
          <a:ln w="12700">
            <a:solidFill>
              <a:srgbClr val="DFE7E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069080" y="4681728"/>
            <a:ext cx="3657600" cy="109728"/>
          </a:xfrm>
          <a:prstGeom prst="roundRect">
            <a:avLst>
              <a:gd name="adj" fmla="val 16667"/>
            </a:avLst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823960" y="464515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B2B"/>
                </a:solidFill>
              </a:rPr>
              <a:t>80%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9646920" y="2743200"/>
            <a:ext cx="1737360" cy="2194560"/>
          </a:xfrm>
          <a:prstGeom prst="roundRect">
            <a:avLst>
              <a:gd name="adj" fmla="val 5263"/>
            </a:avLst>
          </a:prstGeom>
          <a:solidFill>
            <a:srgbClr val="FFFDF8"/>
          </a:solidFill>
          <a:ln w="12700">
            <a:solidFill>
              <a:srgbClr val="DFE7E1">
                <a:alpha val="95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857232" y="2944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⚙️</a:t>
            </a:r>
            <a:endParaRPr lang="en-US" sz="1700" dirty="0"/>
          </a:p>
        </p:txBody>
      </p:sp>
      <p:sp>
        <p:nvSpPr>
          <p:cNvPr id="32" name="Text 29"/>
          <p:cNvSpPr/>
          <p:nvPr/>
        </p:nvSpPr>
        <p:spPr>
          <a:xfrm>
            <a:off x="10241280" y="2944368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12"/>
                </a:solidFill>
              </a:rPr>
              <a:t>Stack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9857232" y="3383280"/>
            <a:ext cx="384048" cy="32004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857232" y="3520440"/>
            <a:ext cx="1316736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86E"/>
                </a:solidFill>
              </a:rPr>
              <a:t>Render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86E"/>
                </a:solidFill>
              </a:rPr>
              <a:t>Supabase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86E"/>
                </a:solidFill>
              </a:rPr>
              <a:t>Sumsub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86E"/>
                </a:solidFill>
              </a:rPr>
              <a:t>Twilio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86E"/>
                </a:solidFill>
              </a:rPr>
              <a:t>GitHub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86E"/>
                </a:solidFill>
              </a:rPr>
              <a:t>IONOS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58368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86E"/>
                </a:solidFill>
              </a:rPr>
              <a:t>© 2026 KOWO · contact@getkowo.com · getkowo.com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1384280" cy="576072"/>
          </a:xfrm>
          <a:prstGeom prst="roundRect">
            <a:avLst>
              <a:gd name="adj" fmla="val 12698"/>
            </a:avLst>
          </a:prstGeom>
          <a:solidFill>
            <a:srgbClr val="FFFDF8">
              <a:alpha val="94000"/>
            </a:srgbClr>
          </a:solidFill>
          <a:ln w="12700">
            <a:solidFill>
              <a:srgbClr val="DFE7E1">
                <a:alpha val="35000"/>
              </a:srgbClr>
            </a:solidFill>
            <a:prstDash val="solid"/>
          </a:ln>
        </p:spPr>
      </p:sp>
      <p:pic>
        <p:nvPicPr>
          <p:cNvPr id="3" name="Image 0" descr="/mnt/data/kowo-institutional-partnership-v2/assets/kowo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3840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566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KOWO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503920" y="365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86E"/>
                </a:solidFill>
              </a:rPr>
              <a:t>Institutional Partnership Brief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1783080" cy="347472"/>
          </a:xfrm>
          <a:prstGeom prst="roundRect">
            <a:avLst>
              <a:gd name="adj" fmla="val 13158"/>
            </a:avLst>
          </a:prstGeom>
          <a:solidFill>
            <a:srgbClr val="FFFDF8"/>
          </a:solidFill>
          <a:ln w="12700">
            <a:solidFill>
              <a:srgbClr val="DFE7E1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" y="996696"/>
            <a:ext cx="1563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3B2B"/>
                </a:solidFill>
              </a:rPr>
              <a:t>08 · ARCHITECTURE TECHNIQUE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58368" y="1335024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E17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architecture prête pour l’intégration avec un partenaire réglementé.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85800" y="2450592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B786E"/>
                </a:solidFill>
              </a:rPr>
              <a:t>Les composants sont pensés pour s’interfacer avec une institution financière et un PSP.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274320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FFFDF8"/>
          </a:solidFill>
          <a:ln w="12700">
            <a:solidFill>
              <a:srgbClr val="DFE7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292608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712"/>
                </a:solidFill>
              </a:rPr>
              <a:t>Mobile App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60120" y="32461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B786E"/>
                </a:solidFill>
              </a:rPr>
              <a:t>KOWO Android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6B786E"/>
                </a:solidFill>
              </a:rPr>
              <a:t>UX, groupes, notifications</a:t>
            </a:r>
            <a:endParaRPr lang="en-US" sz="870" dirty="0"/>
          </a:p>
        </p:txBody>
      </p:sp>
      <p:sp>
        <p:nvSpPr>
          <p:cNvPr id="13" name="Shape 10"/>
          <p:cNvSpPr/>
          <p:nvPr/>
        </p:nvSpPr>
        <p:spPr>
          <a:xfrm>
            <a:off x="2487168" y="3310128"/>
            <a:ext cx="347472" cy="0"/>
          </a:xfrm>
          <a:prstGeom prst="line">
            <a:avLst/>
          </a:prstGeom>
          <a:noFill/>
          <a:ln w="12700">
            <a:solidFill>
              <a:srgbClr val="FFC323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926080" y="274320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FFFDF8"/>
          </a:solidFill>
          <a:ln w="12700">
            <a:solidFill>
              <a:srgbClr val="DFE7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63240" y="292608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712"/>
                </a:solidFill>
              </a:rPr>
              <a:t>Backend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063240" y="32461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B786E"/>
                </a:solidFill>
              </a:rPr>
              <a:t>Render API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6B786E"/>
                </a:solidFill>
              </a:rPr>
              <a:t>Business rules &amp; orchestration</a:t>
            </a:r>
            <a:endParaRPr lang="en-US" sz="870" dirty="0"/>
          </a:p>
        </p:txBody>
      </p:sp>
      <p:sp>
        <p:nvSpPr>
          <p:cNvPr id="17" name="Shape 14"/>
          <p:cNvSpPr/>
          <p:nvPr/>
        </p:nvSpPr>
        <p:spPr>
          <a:xfrm>
            <a:off x="4590288" y="3310128"/>
            <a:ext cx="347472" cy="0"/>
          </a:xfrm>
          <a:prstGeom prst="line">
            <a:avLst/>
          </a:prstGeom>
          <a:noFill/>
          <a:ln w="12700">
            <a:solidFill>
              <a:srgbClr val="FFC323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5029200" y="274320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FFFDF8"/>
          </a:solidFill>
          <a:ln w="12700">
            <a:solidFill>
              <a:srgbClr val="DFE7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66360" y="292608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712"/>
                </a:solidFill>
              </a:rPr>
              <a:t>Data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166360" y="32461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B786E"/>
                </a:solidFill>
              </a:rPr>
              <a:t>Supabase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6B786E"/>
                </a:solidFill>
              </a:rPr>
              <a:t>Users, groups, histories</a:t>
            </a:r>
            <a:endParaRPr lang="en-US" sz="870" dirty="0"/>
          </a:p>
        </p:txBody>
      </p:sp>
      <p:sp>
        <p:nvSpPr>
          <p:cNvPr id="21" name="Shape 18"/>
          <p:cNvSpPr/>
          <p:nvPr/>
        </p:nvSpPr>
        <p:spPr>
          <a:xfrm>
            <a:off x="6693408" y="3310128"/>
            <a:ext cx="347472" cy="0"/>
          </a:xfrm>
          <a:prstGeom prst="line">
            <a:avLst/>
          </a:prstGeom>
          <a:noFill/>
          <a:ln w="12700">
            <a:solidFill>
              <a:srgbClr val="FFC323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7132320" y="274320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FFFDF8"/>
          </a:solidFill>
          <a:ln w="12700">
            <a:solidFill>
              <a:srgbClr val="DFE7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269480" y="292608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712"/>
                </a:solidFill>
              </a:rPr>
              <a:t>Security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269480" y="32461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B786E"/>
                </a:solidFill>
              </a:rPr>
              <a:t>Sumsub + Twilio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6B786E"/>
                </a:solidFill>
              </a:rPr>
              <a:t>KYC &amp; OTP</a:t>
            </a:r>
            <a:endParaRPr lang="en-US" sz="870" dirty="0"/>
          </a:p>
        </p:txBody>
      </p:sp>
      <p:sp>
        <p:nvSpPr>
          <p:cNvPr id="25" name="Shape 22"/>
          <p:cNvSpPr/>
          <p:nvPr/>
        </p:nvSpPr>
        <p:spPr>
          <a:xfrm>
            <a:off x="8796528" y="3310128"/>
            <a:ext cx="347472" cy="0"/>
          </a:xfrm>
          <a:prstGeom prst="line">
            <a:avLst/>
          </a:prstGeom>
          <a:noFill/>
          <a:ln w="12700">
            <a:solidFill>
              <a:srgbClr val="FFC323"/>
            </a:solidFill>
            <a:prstDash val="solid"/>
            <a:headEnd type="none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9235440" y="274320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372600" y="292608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Partner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9372600" y="32461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7D8CF"/>
                </a:solidFill>
              </a:rPr>
              <a:t>Institution + PSP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7D8CF"/>
                </a:solidFill>
              </a:rPr>
              <a:t>Wallets &amp; payouts</a:t>
            </a:r>
            <a:endParaRPr lang="en-US" sz="870" dirty="0"/>
          </a:p>
        </p:txBody>
      </p:sp>
      <p:sp>
        <p:nvSpPr>
          <p:cNvPr id="29" name="Text 26"/>
          <p:cNvSpPr/>
          <p:nvPr/>
        </p:nvSpPr>
        <p:spPr>
          <a:xfrm>
            <a:off x="1280160" y="512064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2B"/>
                </a:solidFill>
              </a:rPr>
              <a:t>Objectif : éviter que KOWO ne devienne détenteur des fonds. La technologie orchestre, le partenaire réglementé détient et exécute.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58368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86E"/>
                </a:solidFill>
              </a:rPr>
              <a:t>© 2026 KOWO · contact@getkowo.com · getkowo.com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1384280" cy="576072"/>
          </a:xfrm>
          <a:prstGeom prst="roundRect">
            <a:avLst>
              <a:gd name="adj" fmla="val 12698"/>
            </a:avLst>
          </a:prstGeom>
          <a:solidFill>
            <a:srgbClr val="FFFDF8">
              <a:alpha val="94000"/>
            </a:srgbClr>
          </a:solidFill>
          <a:ln w="12700">
            <a:solidFill>
              <a:srgbClr val="DFE7E1">
                <a:alpha val="35000"/>
              </a:srgbClr>
            </a:solidFill>
            <a:prstDash val="solid"/>
          </a:ln>
        </p:spPr>
      </p:sp>
      <p:pic>
        <p:nvPicPr>
          <p:cNvPr id="3" name="Image 0" descr="/mnt/data/kowo-institutional-partnership-v2/assets/kowo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3840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566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KOWO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503920" y="365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86E"/>
                </a:solidFill>
              </a:rPr>
              <a:t>Institutional Partnership Brief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1783080" cy="347472"/>
          </a:xfrm>
          <a:prstGeom prst="roundRect">
            <a:avLst>
              <a:gd name="adj" fmla="val 13158"/>
            </a:avLst>
          </a:prstGeom>
          <a:solidFill>
            <a:srgbClr val="FFFDF8"/>
          </a:solidFill>
          <a:ln w="12700">
            <a:solidFill>
              <a:srgbClr val="DFE7E1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" y="996696"/>
            <a:ext cx="1563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3B2B"/>
                </a:solidFill>
              </a:rPr>
              <a:t>09 · SIGNAL MARCHÉ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58368" y="1335024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E17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 acteurs comparables confirment la demande.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85800" y="2450592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B786E"/>
                </a:solidFill>
              </a:rPr>
              <a:t>Les premières solutions d’épargne numérique en Afrique de l’Ouest valident l’existence d’un besoin utilisateur fort.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914400" y="2788920"/>
            <a:ext cx="2926080" cy="1417320"/>
          </a:xfrm>
          <a:prstGeom prst="roundRect">
            <a:avLst>
              <a:gd name="adj" fmla="val 6452"/>
            </a:avLst>
          </a:prstGeom>
          <a:solidFill>
            <a:srgbClr val="FFFDF8"/>
          </a:solidFill>
          <a:ln w="12700">
            <a:solidFill>
              <a:srgbClr val="DFE7E1">
                <a:alpha val="9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24712" y="29900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📊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508760" y="2990088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12"/>
                </a:solidFill>
              </a:rPr>
              <a:t>Ce que le marché montre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124712" y="3429000"/>
            <a:ext cx="384048" cy="32004"/>
          </a:xfrm>
          <a:prstGeom prst="rect">
            <a:avLst/>
          </a:prstGeom>
          <a:solidFill>
            <a:srgbClr val="8DFFD3"/>
          </a:solidFill>
          <a:ln w="12700">
            <a:solidFill>
              <a:srgbClr val="8DFFD3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24712" y="3566160"/>
            <a:ext cx="250545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86E"/>
                </a:solidFill>
              </a:rPr>
              <a:t>Les utilisateurs adoptent déjà des solutions digitales autour de l’épargne, des objectifs financiers et des communautés.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617720" y="2788920"/>
            <a:ext cx="2926080" cy="1417320"/>
          </a:xfrm>
          <a:prstGeom prst="roundRect">
            <a:avLst>
              <a:gd name="adj" fmla="val 6452"/>
            </a:avLst>
          </a:prstGeom>
          <a:solidFill>
            <a:srgbClr val="FFFDF8"/>
          </a:solidFill>
          <a:ln w="12700">
            <a:solidFill>
              <a:srgbClr val="DFE7E1">
                <a:alpha val="9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28032" y="29900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🌍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212080" y="2990088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12"/>
                </a:solidFill>
              </a:rPr>
              <a:t>Ce que KOWO ajoute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828032" y="3429000"/>
            <a:ext cx="384048" cy="32004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28032" y="3566160"/>
            <a:ext cx="250545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86E"/>
                </a:solidFill>
              </a:rPr>
              <a:t>Une approche centrée sur les communautés, la diaspora, la documentation partenaire et l’architecture réglementaire.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321040" y="2788920"/>
            <a:ext cx="2926080" cy="1417320"/>
          </a:xfrm>
          <a:prstGeom prst="roundRect">
            <a:avLst>
              <a:gd name="adj" fmla="val 6452"/>
            </a:avLst>
          </a:prstGeom>
          <a:solidFill>
            <a:srgbClr val="FFFDF8"/>
          </a:solidFill>
          <a:ln w="12700">
            <a:solidFill>
              <a:srgbClr val="DFE7E1">
                <a:alpha val="9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531352" y="29900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🤝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915400" y="2990088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12"/>
                </a:solidFill>
              </a:rPr>
              <a:t>Ce que le partenaire gagne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8531352" y="3429000"/>
            <a:ext cx="384048" cy="32004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531352" y="3566160"/>
            <a:ext cx="250545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86E"/>
                </a:solidFill>
              </a:rPr>
              <a:t>Une interface de croissance, de collecte digitale et de distribution de services financiers sous cadre réglementé.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58368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86E"/>
                </a:solidFill>
              </a:rPr>
              <a:t>© 2026 KOWO · contact@getkowo.com · getkowo.com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74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438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154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870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6586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256032"/>
            <a:ext cx="11384280" cy="576072"/>
          </a:xfrm>
          <a:prstGeom prst="roundRect">
            <a:avLst>
              <a:gd name="adj" fmla="val 12698"/>
            </a:avLst>
          </a:prstGeom>
          <a:solidFill>
            <a:srgbClr val="F6F1E7">
              <a:alpha val="94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pic>
        <p:nvPicPr>
          <p:cNvPr id="32" name="Image 0" descr="/mnt/data/kowo-institutional-partnership-v2/assets/kowo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384048"/>
            <a:ext cx="292608" cy="292608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960120" y="3566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KOWO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8503920" y="365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23B2B"/>
                </a:solidFill>
              </a:rPr>
              <a:t>Institutional Partnership Brief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658368" y="914400"/>
            <a:ext cx="1783080" cy="347472"/>
          </a:xfrm>
          <a:prstGeom prst="roundRect">
            <a:avLst>
              <a:gd name="adj" fmla="val 13158"/>
            </a:avLst>
          </a:prstGeom>
          <a:solidFill>
            <a:srgbClr val="1C563E"/>
          </a:solidFill>
          <a:ln w="12700">
            <a:solidFill>
              <a:srgbClr val="8DFFD3">
                <a:alpha val="75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68096" y="996696"/>
            <a:ext cx="1563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DFFD3"/>
                </a:solidFill>
              </a:rPr>
              <a:t>10 · PILOTE PROPOSÉ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658368" y="1335024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Commencer petit, contrôler les risques, prouver la valeur.</a:t>
            </a:r>
            <a:endParaRPr lang="en-US" sz="3600" dirty="0"/>
          </a:p>
        </p:txBody>
      </p:sp>
      <p:sp>
        <p:nvSpPr>
          <p:cNvPr id="38" name="Text 35"/>
          <p:cNvSpPr/>
          <p:nvPr/>
        </p:nvSpPr>
        <p:spPr>
          <a:xfrm>
            <a:off x="685800" y="2450592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8CF"/>
                </a:solidFill>
              </a:rPr>
              <a:t>Un pilote encadré permet de tester les flux, la conformité et l’adoption avant extension.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822960" y="342900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8DFFD3"/>
          </a:solidFill>
          <a:ln w="12700">
            <a:solidFill>
              <a:srgbClr val="8DFFD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87552" y="3611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150F"/>
                </a:solidFill>
              </a:rPr>
              <a:t>1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1389888" y="36393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50F"/>
                </a:solidFill>
              </a:rPr>
              <a:t>Cadrage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1005840" y="39776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7150F"/>
                </a:solidFill>
              </a:rPr>
              <a:t>Validation modèle, responsabilités, documents et objectifs.</a:t>
            </a:r>
            <a:endParaRPr lang="en-US" sz="880" dirty="0"/>
          </a:p>
        </p:txBody>
      </p:sp>
      <p:sp>
        <p:nvSpPr>
          <p:cNvPr id="43" name="Shape 40"/>
          <p:cNvSpPr/>
          <p:nvPr/>
        </p:nvSpPr>
        <p:spPr>
          <a:xfrm>
            <a:off x="3611880" y="342900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1C563E"/>
          </a:solidFill>
          <a:ln w="12700">
            <a:solidFill>
              <a:srgbClr val="1C563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776472" y="3611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DFFD3"/>
                </a:solidFill>
              </a:rPr>
              <a:t>2</a:t>
            </a:r>
            <a:endParaRPr lang="en-US" sz="1800" dirty="0"/>
          </a:p>
        </p:txBody>
      </p:sp>
      <p:sp>
        <p:nvSpPr>
          <p:cNvPr id="45" name="Text 42"/>
          <p:cNvSpPr/>
          <p:nvPr/>
        </p:nvSpPr>
        <p:spPr>
          <a:xfrm>
            <a:off x="4178808" y="36393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Intégration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3794760" y="39776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7D8CF"/>
                </a:solidFill>
              </a:rPr>
              <a:t>API, wallets, KYC, tests de paiement et réconciliation.</a:t>
            </a:r>
            <a:endParaRPr lang="en-US" sz="880" dirty="0"/>
          </a:p>
        </p:txBody>
      </p:sp>
      <p:sp>
        <p:nvSpPr>
          <p:cNvPr id="47" name="Shape 44"/>
          <p:cNvSpPr/>
          <p:nvPr/>
        </p:nvSpPr>
        <p:spPr>
          <a:xfrm>
            <a:off x="6400800" y="342900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1C563E"/>
          </a:solidFill>
          <a:ln w="12700">
            <a:solidFill>
              <a:srgbClr val="1C563E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565392" y="3611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DFFD3"/>
                </a:solidFill>
              </a:rPr>
              <a:t>3</a:t>
            </a:r>
            <a:endParaRPr lang="en-US" sz="1800" dirty="0"/>
          </a:p>
        </p:txBody>
      </p:sp>
      <p:sp>
        <p:nvSpPr>
          <p:cNvPr id="49" name="Text 46"/>
          <p:cNvSpPr/>
          <p:nvPr/>
        </p:nvSpPr>
        <p:spPr>
          <a:xfrm>
            <a:off x="6967728" y="36393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Pilote</a:t>
            </a:r>
            <a:endParaRPr lang="en-US" sz="1400" dirty="0"/>
          </a:p>
        </p:txBody>
      </p:sp>
      <p:sp>
        <p:nvSpPr>
          <p:cNvPr id="50" name="Text 47"/>
          <p:cNvSpPr/>
          <p:nvPr/>
        </p:nvSpPr>
        <p:spPr>
          <a:xfrm>
            <a:off x="6583680" y="39776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7D8CF"/>
                </a:solidFill>
              </a:rPr>
              <a:t>Groupes limités, plafonds de volume, suivi opérationnel.</a:t>
            </a:r>
            <a:endParaRPr lang="en-US" sz="880" dirty="0"/>
          </a:p>
        </p:txBody>
      </p:sp>
      <p:sp>
        <p:nvSpPr>
          <p:cNvPr id="51" name="Shape 48"/>
          <p:cNvSpPr/>
          <p:nvPr/>
        </p:nvSpPr>
        <p:spPr>
          <a:xfrm>
            <a:off x="9189720" y="342900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1C563E"/>
          </a:solidFill>
          <a:ln w="12700">
            <a:solidFill>
              <a:srgbClr val="1C563E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9354312" y="3611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DFFD3"/>
                </a:solidFill>
              </a:rPr>
              <a:t>4</a:t>
            </a:r>
            <a:endParaRPr lang="en-US" sz="1800" dirty="0"/>
          </a:p>
        </p:txBody>
      </p:sp>
      <p:sp>
        <p:nvSpPr>
          <p:cNvPr id="53" name="Text 50"/>
          <p:cNvSpPr/>
          <p:nvPr/>
        </p:nvSpPr>
        <p:spPr>
          <a:xfrm>
            <a:off x="9756648" y="36393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Scale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9372600" y="39776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7D8CF"/>
                </a:solidFill>
              </a:rPr>
              <a:t>Extension progressive selon résultats et validation conformité.</a:t>
            </a:r>
            <a:endParaRPr lang="en-US" sz="880" dirty="0"/>
          </a:p>
        </p:txBody>
      </p:sp>
      <p:sp>
        <p:nvSpPr>
          <p:cNvPr id="55" name="Text 52"/>
          <p:cNvSpPr/>
          <p:nvPr/>
        </p:nvSpPr>
        <p:spPr>
          <a:xfrm>
            <a:off x="658368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7AA"/>
                </a:solidFill>
              </a:rPr>
              <a:t>© 2026 KOWO · contact@getkowo.com · getkowo.com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1384280" cy="576072"/>
          </a:xfrm>
          <a:prstGeom prst="roundRect">
            <a:avLst>
              <a:gd name="adj" fmla="val 12698"/>
            </a:avLst>
          </a:prstGeom>
          <a:solidFill>
            <a:srgbClr val="FFFDF8">
              <a:alpha val="94000"/>
            </a:srgbClr>
          </a:solidFill>
          <a:ln w="12700">
            <a:solidFill>
              <a:srgbClr val="DFE7E1">
                <a:alpha val="35000"/>
              </a:srgbClr>
            </a:solidFill>
            <a:prstDash val="solid"/>
          </a:ln>
        </p:spPr>
      </p:sp>
      <p:pic>
        <p:nvPicPr>
          <p:cNvPr id="3" name="Image 0" descr="/mnt/data/kowo-institutional-partnership-v2/assets/kowo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3840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566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KOWO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503920" y="365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86E"/>
                </a:solidFill>
              </a:rPr>
              <a:t>Institutional Partnership Brief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1783080" cy="347472"/>
          </a:xfrm>
          <a:prstGeom prst="roundRect">
            <a:avLst>
              <a:gd name="adj" fmla="val 13158"/>
            </a:avLst>
          </a:prstGeom>
          <a:solidFill>
            <a:srgbClr val="FFFDF8"/>
          </a:solidFill>
          <a:ln w="12700">
            <a:solidFill>
              <a:srgbClr val="DFE7E1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" y="996696"/>
            <a:ext cx="1563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3B2B"/>
                </a:solidFill>
              </a:rPr>
              <a:t>11 · ROADMAP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58368" y="1335024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E17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trajectoire progressive : Bénin, UEMOA, diaspora.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85800" y="2450592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B786E"/>
                </a:solidFill>
              </a:rPr>
              <a:t>La priorité est de bâtir un modèle conforme et reproductible avant l’expansion.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960120" y="2743200"/>
            <a:ext cx="2834640" cy="1828800"/>
          </a:xfrm>
          <a:prstGeom prst="roundRect">
            <a:avLst>
              <a:gd name="adj" fmla="val 5000"/>
            </a:avLst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88720" y="30632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DFFD3"/>
                </a:solidFill>
              </a:rPr>
              <a:t>2026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88720" y="3611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Partenaire institutionnel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Pilote contrôlé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Premiers groupes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867912" y="3657600"/>
            <a:ext cx="658368" cy="0"/>
          </a:xfrm>
          <a:prstGeom prst="line">
            <a:avLst/>
          </a:prstGeom>
          <a:noFill/>
          <a:ln w="12700">
            <a:solidFill>
              <a:srgbClr val="FFC323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663440" y="2743200"/>
            <a:ext cx="2834640" cy="18288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FE7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92040" y="30632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B2B"/>
                </a:solidFill>
              </a:rPr>
              <a:t>2027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892040" y="3611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E1712"/>
                </a:solidFill>
              </a:rPr>
              <a:t>Extension Bénin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E1712"/>
                </a:solidFill>
              </a:rPr>
              <a:t>Partenariats microfinance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E1712"/>
                </a:solidFill>
              </a:rPr>
              <a:t>Version iOS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571232" y="3657600"/>
            <a:ext cx="658368" cy="0"/>
          </a:xfrm>
          <a:prstGeom prst="line">
            <a:avLst/>
          </a:prstGeom>
          <a:noFill/>
          <a:ln w="12700">
            <a:solidFill>
              <a:srgbClr val="FFC323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8366760" y="2743200"/>
            <a:ext cx="2834640" cy="18288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FE7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95360" y="30632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B2B"/>
                </a:solidFill>
              </a:rPr>
              <a:t>2028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8595360" y="3611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E1712"/>
                </a:solidFill>
              </a:rPr>
              <a:t>UEMOA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E1712"/>
                </a:solidFill>
              </a:rPr>
              <a:t>Diaspora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E1712"/>
                </a:solidFill>
              </a:rPr>
              <a:t>Services financiers via partenaires agréés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58368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86E"/>
                </a:solidFill>
              </a:rPr>
              <a:t>© 2026 KOWO · contact@getkowo.com · getkowo.com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1384280" cy="576072"/>
          </a:xfrm>
          <a:prstGeom prst="roundRect">
            <a:avLst>
              <a:gd name="adj" fmla="val 12698"/>
            </a:avLst>
          </a:prstGeom>
          <a:solidFill>
            <a:srgbClr val="FFFDF8">
              <a:alpha val="94000"/>
            </a:srgbClr>
          </a:solidFill>
          <a:ln w="12700">
            <a:solidFill>
              <a:srgbClr val="DFE7E1">
                <a:alpha val="35000"/>
              </a:srgbClr>
            </a:solidFill>
            <a:prstDash val="solid"/>
          </a:ln>
        </p:spPr>
      </p:sp>
      <p:pic>
        <p:nvPicPr>
          <p:cNvPr id="3" name="Image 0" descr="/mnt/data/kowo-institutional-partnership-v2/assets/kowo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3840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566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KOWO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503920" y="365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86E"/>
                </a:solidFill>
              </a:rPr>
              <a:t>Institutional Partnership Brief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1783080" cy="347472"/>
          </a:xfrm>
          <a:prstGeom prst="roundRect">
            <a:avLst>
              <a:gd name="adj" fmla="val 13158"/>
            </a:avLst>
          </a:prstGeom>
          <a:solidFill>
            <a:srgbClr val="FFFDF8"/>
          </a:solidFill>
          <a:ln w="12700">
            <a:solidFill>
              <a:srgbClr val="DFE7E1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" y="996696"/>
            <a:ext cx="1563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3B2B"/>
                </a:solidFill>
              </a:rPr>
              <a:t>12 · DISCUSSION SOUHAITÉE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58368" y="1335024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E17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 que nous aimerions explorer avec vous.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85800" y="2450592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B786E"/>
                </a:solidFill>
              </a:rPr>
              <a:t>L’objectif est d’identifier ensemble le meilleur cadre de partenariat, sans transférer le risque réglementaire vers KOWO.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27432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DF8"/>
          </a:solidFill>
          <a:ln w="12700">
            <a:solidFill>
              <a:srgbClr val="DFE7E1">
                <a:alpha val="9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33272" y="2944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⚖️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417320" y="294436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12"/>
                </a:solidFill>
              </a:rPr>
              <a:t>Cadre juridique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033272" y="3383280"/>
            <a:ext cx="384048" cy="32004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33272" y="3520440"/>
            <a:ext cx="218541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86E"/>
                </a:solidFill>
              </a:rPr>
              <a:t>Modèle contractuel, responsabilités et limites de rôle.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749040" y="27432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DF8"/>
          </a:solidFill>
          <a:ln w="12700">
            <a:solidFill>
              <a:srgbClr val="DFE7E1">
                <a:alpha val="9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59352" y="2944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💼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343400" y="294436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12"/>
                </a:solidFill>
              </a:rPr>
              <a:t>Wallets / comptes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3959352" y="3383280"/>
            <a:ext cx="384048" cy="32004"/>
          </a:xfrm>
          <a:prstGeom prst="rect">
            <a:avLst/>
          </a:prstGeom>
          <a:solidFill>
            <a:srgbClr val="8DFFD3"/>
          </a:solidFill>
          <a:ln w="12700">
            <a:solidFill>
              <a:srgbClr val="8DFFD3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959352" y="3520440"/>
            <a:ext cx="218541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86E"/>
                </a:solidFill>
              </a:rPr>
              <a:t>Ouverture, tenue, plafonds et règles de fonctionnement.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675120" y="27432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DF8"/>
          </a:solidFill>
          <a:ln w="12700">
            <a:solidFill>
              <a:srgbClr val="DFE7E1">
                <a:alpha val="9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85432" y="2944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🔁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7269480" y="294436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12"/>
                </a:solidFill>
              </a:rPr>
              <a:t>API &amp; flux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885432" y="3383280"/>
            <a:ext cx="384048" cy="32004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85432" y="3520440"/>
            <a:ext cx="218541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86E"/>
                </a:solidFill>
              </a:rPr>
              <a:t>Paiements, webhooks, commissions et réconciliation.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9601200" y="2743200"/>
            <a:ext cx="1783080" cy="1417320"/>
          </a:xfrm>
          <a:prstGeom prst="roundRect">
            <a:avLst>
              <a:gd name="adj" fmla="val 6452"/>
            </a:avLst>
          </a:prstGeom>
          <a:solidFill>
            <a:srgbClr val="FFFDF8"/>
          </a:solidFill>
          <a:ln w="12700">
            <a:solidFill>
              <a:srgbClr val="DFE7E1">
                <a:alpha val="9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811512" y="2944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🚀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10195560" y="294436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12"/>
                </a:solidFill>
              </a:rPr>
              <a:t>Pilote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9811512" y="3383280"/>
            <a:ext cx="384048" cy="32004"/>
          </a:xfrm>
          <a:prstGeom prst="rect">
            <a:avLst/>
          </a:prstGeom>
          <a:solidFill>
            <a:srgbClr val="1C563E"/>
          </a:solidFill>
          <a:ln w="12700">
            <a:solidFill>
              <a:srgbClr val="1C563E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811512" y="3520440"/>
            <a:ext cx="136245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86E"/>
                </a:solidFill>
              </a:rPr>
              <a:t>Périmètre, calendrier et critères de succès.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58368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86E"/>
                </a:solidFill>
              </a:rPr>
              <a:t>© 2026 KOWO · contact@getkowo.com · getkowo.com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74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438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154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870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6586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256032"/>
            <a:ext cx="11384280" cy="576072"/>
          </a:xfrm>
          <a:prstGeom prst="roundRect">
            <a:avLst>
              <a:gd name="adj" fmla="val 12698"/>
            </a:avLst>
          </a:prstGeom>
          <a:solidFill>
            <a:srgbClr val="F6F1E7">
              <a:alpha val="94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pic>
        <p:nvPicPr>
          <p:cNvPr id="32" name="Image 0" descr="/mnt/data/kowo-institutional-partnership-v2/assets/kowo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384048"/>
            <a:ext cx="292608" cy="292608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960120" y="3566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KOWO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8503920" y="365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23B2B"/>
                </a:solidFill>
              </a:rPr>
              <a:t>Institutional Partnership Brief</a:t>
            </a:r>
            <a:endParaRPr lang="en-US" sz="800" dirty="0"/>
          </a:p>
        </p:txBody>
      </p:sp>
      <p:pic>
        <p:nvPicPr>
          <p:cNvPr id="35" name="Image 1" descr="/mnt/data/kowo-institutional-partnership-v2/assets/kowo-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868680" cy="86868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1783080" y="16276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KOWO</a:t>
            </a:r>
            <a:endParaRPr lang="en-US" sz="2400" dirty="0"/>
          </a:p>
        </p:txBody>
      </p:sp>
      <p:sp>
        <p:nvSpPr>
          <p:cNvPr id="37" name="Text 33"/>
          <p:cNvSpPr/>
          <p:nvPr/>
        </p:nvSpPr>
        <p:spPr>
          <a:xfrm>
            <a:off x="822960" y="2606040"/>
            <a:ext cx="5852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Construisons l’épargne communautaire numérique avec un partenaire réglementé de confiance.</a:t>
            </a:r>
            <a:endParaRPr lang="en-US" sz="3100" dirty="0"/>
          </a:p>
        </p:txBody>
      </p:sp>
      <p:sp>
        <p:nvSpPr>
          <p:cNvPr id="38" name="Shape 34"/>
          <p:cNvSpPr/>
          <p:nvPr/>
        </p:nvSpPr>
        <p:spPr>
          <a:xfrm>
            <a:off x="7406640" y="1828800"/>
            <a:ext cx="3474720" cy="2331720"/>
          </a:xfrm>
          <a:prstGeom prst="roundRect">
            <a:avLst>
              <a:gd name="adj" fmla="val 3922"/>
            </a:avLst>
          </a:prstGeom>
          <a:solidFill>
            <a:srgbClr val="1C563E"/>
          </a:solidFill>
          <a:ln w="12700">
            <a:solidFill>
              <a:srgbClr val="8DFFD3">
                <a:alpha val="3000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772668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Fayçol SALAMI</a:t>
            </a:r>
            <a:endParaRPr lang="en-US" sz="1800" dirty="0"/>
          </a:p>
        </p:txBody>
      </p:sp>
      <p:sp>
        <p:nvSpPr>
          <p:cNvPr id="40" name="Text 36"/>
          <p:cNvSpPr/>
          <p:nvPr/>
        </p:nvSpPr>
        <p:spPr>
          <a:xfrm>
            <a:off x="7726680" y="260604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C7D8CF"/>
                </a:solidFill>
              </a:rPr>
              <a:t>Fondateur — KOWO SARL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C7D8CF"/>
                </a:solidFill>
              </a:rPr>
              <a:t>Fondateur — YandaTech EI (France)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C7D8CF"/>
                </a:solidFill>
              </a:rPr>
              <a:t>contact@getkowo.com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C7D8CF"/>
                </a:solidFill>
              </a:rPr>
              <a:t>faycol.salami@getkowo.com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C7D8CF"/>
                </a:solidFill>
              </a:rPr>
              <a:t>www.getkowo.com</a:t>
            </a:r>
            <a:endParaRPr lang="en-US" sz="1230" dirty="0"/>
          </a:p>
        </p:txBody>
      </p:sp>
      <p:sp>
        <p:nvSpPr>
          <p:cNvPr id="41" name="Shape 37"/>
          <p:cNvSpPr/>
          <p:nvPr/>
        </p:nvSpPr>
        <p:spPr>
          <a:xfrm>
            <a:off x="822960" y="5349240"/>
            <a:ext cx="2926080" cy="347472"/>
          </a:xfrm>
          <a:prstGeom prst="roundRect">
            <a:avLst>
              <a:gd name="adj" fmla="val 13158"/>
            </a:avLst>
          </a:prstGeom>
          <a:solidFill>
            <a:srgbClr val="1C563E"/>
          </a:solidFill>
          <a:ln w="12700">
            <a:solidFill>
              <a:srgbClr val="8DFFD3">
                <a:alpha val="75000"/>
              </a:srgbClr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932688" y="5431536"/>
            <a:ext cx="2706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DFFD3"/>
                </a:solidFill>
              </a:rPr>
              <a:t>PARTNER PORTAL · GETKOWO.COM/PARTNERS</a:t>
            </a:r>
            <a:endParaRPr lang="en-US" sz="850" dirty="0"/>
          </a:p>
        </p:txBody>
      </p:sp>
      <p:sp>
        <p:nvSpPr>
          <p:cNvPr id="43" name="Text 39"/>
          <p:cNvSpPr/>
          <p:nvPr/>
        </p:nvSpPr>
        <p:spPr>
          <a:xfrm>
            <a:off x="658368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7AA"/>
                </a:solidFill>
              </a:rPr>
              <a:t>© 2026 KOWO · contact@getkowo.com · getkowo.com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KOWO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KOWO Institutional Partnership Brief v2</dc:title>
  <dc:subject>Institutional Partnership Brief</dc:subject>
  <dc:creator>KOWO</dc:creator>
  <cp:lastModifiedBy>KOWO</cp:lastModifiedBy>
  <cp:revision>1</cp:revision>
  <dcterms:created xsi:type="dcterms:W3CDTF">2026-06-28T18:35:38Z</dcterms:created>
  <dcterms:modified xsi:type="dcterms:W3CDTF">2026-06-28T18:35:38Z</dcterms:modified>
</cp:coreProperties>
</file>