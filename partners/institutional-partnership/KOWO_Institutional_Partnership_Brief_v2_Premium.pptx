
<file path=[Content_Types].xml><?xml version="1.0" encoding="utf-8"?>
<Types xmlns="http://schemas.openxmlformats.org/package/2006/content-types"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090890E-0E50-4350-9AC2-D6921418EA18}" v="549" dt="2026-06-28T19:36:04.3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CCB1A4-7164-4FB7-9602-28F96A9B7EEE}" type="datetimeFigureOut">
              <a:t>28/06/2026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E6D25F-46ED-4C0D-BDB4-DE6BF78EA6E2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38912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5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574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006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722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5438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154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870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6586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6858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20574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34290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8006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61722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256032"/>
            <a:ext cx="11384280" cy="576072"/>
          </a:xfrm>
          <a:prstGeom prst="roundRect">
            <a:avLst>
              <a:gd name="adj" fmla="val 12698"/>
            </a:avLst>
          </a:prstGeom>
          <a:solidFill>
            <a:srgbClr val="F6F1E7">
              <a:alpha val="94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32" name="Image 0" descr="/mnt/data/kowo-institutional-partnership-v2/assets/kowo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384048"/>
            <a:ext cx="292608" cy="29260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960120" y="3566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23B2B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KOWO</a:t>
            </a:r>
            <a:endParaRPr lang="en-US" sz="1000" dirty="0">
              <a:latin typeface="Garamond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8503920" y="3657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23B2B"/>
                </a:solidFill>
                <a:latin typeface="Garamond"/>
              </a:rPr>
              <a:t>Institutional Partnership Brief</a:t>
            </a:r>
            <a:endParaRPr lang="en-US" sz="800" dirty="0">
              <a:latin typeface="Garamond"/>
            </a:endParaRPr>
          </a:p>
        </p:txBody>
      </p:sp>
      <p:pic>
        <p:nvPicPr>
          <p:cNvPr id="35" name="Image 1" descr="/mnt/data/kowo-institutional-partnership-v2/assets/kowo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25880"/>
            <a:ext cx="777240" cy="7772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1600200" y="149961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KOWO</a:t>
            </a:r>
            <a:endParaRPr lang="en-US" sz="2200" dirty="0">
              <a:latin typeface="Garamond"/>
            </a:endParaRPr>
          </a:p>
        </p:txBody>
      </p:sp>
      <p:sp>
        <p:nvSpPr>
          <p:cNvPr id="37" name="Text 33"/>
          <p:cNvSpPr/>
          <p:nvPr/>
        </p:nvSpPr>
        <p:spPr>
          <a:xfrm>
            <a:off x="685800" y="233172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Institutional</a:t>
            </a:r>
            <a:endParaRPr lang="en-US" sz="5000" dirty="0">
              <a:latin typeface="Garamond"/>
            </a:endParaRPr>
          </a:p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Partnership</a:t>
            </a:r>
            <a:endParaRPr lang="en-US" sz="5000" dirty="0">
              <a:latin typeface="Garamond"/>
            </a:endParaRPr>
          </a:p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Brief</a:t>
            </a:r>
            <a:endParaRPr lang="en-US" sz="5000" dirty="0">
              <a:latin typeface="Garamond"/>
            </a:endParaRPr>
          </a:p>
        </p:txBody>
      </p:sp>
      <p:sp>
        <p:nvSpPr>
          <p:cNvPr id="38" name="Text 34"/>
          <p:cNvSpPr/>
          <p:nvPr/>
        </p:nvSpPr>
        <p:spPr>
          <a:xfrm>
            <a:off x="731520" y="4590288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C7D8CF"/>
                </a:solidFill>
                <a:latin typeface="Garamond"/>
              </a:rPr>
              <a:t>Une note de présentation premium destinée aux institutions financières, microfinances, banques et partenaires réglementés.</a:t>
            </a:r>
            <a:endParaRPr lang="en-US" sz="1600" dirty="0">
              <a:latin typeface="Garamond"/>
            </a:endParaRPr>
          </a:p>
        </p:txBody>
      </p:sp>
      <p:sp>
        <p:nvSpPr>
          <p:cNvPr id="39" name="Shape 35"/>
          <p:cNvSpPr/>
          <p:nvPr/>
        </p:nvSpPr>
        <p:spPr>
          <a:xfrm>
            <a:off x="731520" y="5486400"/>
            <a:ext cx="3200400" cy="347472"/>
          </a:xfrm>
          <a:prstGeom prst="roundRect">
            <a:avLst>
              <a:gd name="adj" fmla="val 13158"/>
            </a:avLst>
          </a:prstGeom>
          <a:solidFill>
            <a:srgbClr val="1C563E"/>
          </a:solidFill>
          <a:ln w="12700">
            <a:solidFill>
              <a:srgbClr val="8DFFD3">
                <a:alpha val="75000"/>
              </a:srgbClr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841248" y="5568696"/>
            <a:ext cx="29809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DFFD3"/>
                </a:solidFill>
                <a:latin typeface="Garamond"/>
              </a:rPr>
              <a:t>BUILDING COMMUNITY FINANCE · AFRICA &amp; DIASPORA</a:t>
            </a:r>
            <a:endParaRPr lang="en-US" sz="850" dirty="0">
              <a:latin typeface="Garamond"/>
            </a:endParaRPr>
          </a:p>
        </p:txBody>
      </p:sp>
      <p:sp>
        <p:nvSpPr>
          <p:cNvPr id="41" name="Shape 37"/>
          <p:cNvSpPr/>
          <p:nvPr/>
        </p:nvSpPr>
        <p:spPr>
          <a:xfrm>
            <a:off x="7772400" y="182880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123B2B">
              <a:alpha val="98000"/>
            </a:srgbClr>
          </a:solidFill>
          <a:ln w="12700">
            <a:solidFill>
              <a:srgbClr val="8DFFD3">
                <a:alpha val="30000"/>
              </a:srgbClr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8183880" y="2331720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Garamond"/>
              </a:rPr>
              <a:t>Le bon partenaire financier permet à KOWO de rester une plateforme technologique pendant que les fonds restent portés par un acteur réglementé.</a:t>
            </a:r>
            <a:endParaRPr lang="en-US" sz="1700" dirty="0">
              <a:latin typeface="Garamond"/>
            </a:endParaRPr>
          </a:p>
        </p:txBody>
      </p:sp>
      <p:sp>
        <p:nvSpPr>
          <p:cNvPr id="43" name="Text 39"/>
          <p:cNvSpPr/>
          <p:nvPr/>
        </p:nvSpPr>
        <p:spPr>
          <a:xfrm>
            <a:off x="8183880" y="400507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DFFD3"/>
                </a:solidFill>
                <a:latin typeface="Garamond"/>
              </a:rPr>
              <a:t>Version 2.0 · 2026</a:t>
            </a:r>
            <a:endParaRPr lang="en-US" sz="900" dirty="0">
              <a:latin typeface="Garamond"/>
            </a:endParaRPr>
          </a:p>
        </p:txBody>
      </p:sp>
      <p:sp>
        <p:nvSpPr>
          <p:cNvPr id="44" name="Text 40"/>
          <p:cNvSpPr/>
          <p:nvPr/>
        </p:nvSpPr>
        <p:spPr>
          <a:xfrm>
            <a:off x="658368" y="6473952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7AA"/>
                </a:solidFill>
                <a:latin typeface="Garamond"/>
              </a:rPr>
              <a:t>© 2026 KOWO · contact@getkowo.com · getkowo.com</a:t>
            </a:r>
            <a:endParaRPr lang="en-US" sz="750" dirty="0">
              <a:latin typeface="Garamon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1384280" cy="576072"/>
          </a:xfrm>
          <a:prstGeom prst="roundRect">
            <a:avLst>
              <a:gd name="adj" fmla="val 12698"/>
            </a:avLst>
          </a:prstGeom>
          <a:solidFill>
            <a:srgbClr val="FFFDF8">
              <a:alpha val="94000"/>
            </a:srgbClr>
          </a:solidFill>
          <a:ln w="12700">
            <a:solidFill>
              <a:srgbClr val="DFE7E1">
                <a:alpha val="35000"/>
              </a:srgbClr>
            </a:solidFill>
            <a:prstDash val="solid"/>
          </a:ln>
        </p:spPr>
      </p:sp>
      <p:pic>
        <p:nvPicPr>
          <p:cNvPr id="3" name="Image 0" descr="/mnt/data/kowo-institutional-partnership-v2/assets/kowo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384048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96406" y="42193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23B2B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KOWO</a:t>
            </a:r>
            <a:endParaRPr lang="en-US" sz="1000" dirty="0">
              <a:latin typeface="Garamond"/>
            </a:endParaRPr>
          </a:p>
        </p:txBody>
      </p:sp>
      <p:sp>
        <p:nvSpPr>
          <p:cNvPr id="5" name="Text 2"/>
          <p:cNvSpPr/>
          <p:nvPr/>
        </p:nvSpPr>
        <p:spPr>
          <a:xfrm>
            <a:off x="8503920" y="3657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86E"/>
                </a:solidFill>
                <a:latin typeface="Garamond"/>
              </a:rPr>
              <a:t>Institutional Partnership Brief</a:t>
            </a:r>
            <a:endParaRPr lang="en-US" sz="800" dirty="0">
              <a:latin typeface="Garamond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58368" y="914400"/>
            <a:ext cx="1783080" cy="347472"/>
          </a:xfrm>
          <a:prstGeom prst="roundRect">
            <a:avLst>
              <a:gd name="adj" fmla="val 13158"/>
            </a:avLst>
          </a:prstGeom>
          <a:solidFill>
            <a:srgbClr val="FFFDF8"/>
          </a:solidFill>
          <a:ln w="12700">
            <a:solidFill>
              <a:srgbClr val="DFE7E1">
                <a:alpha val="75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996696"/>
            <a:ext cx="1563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23B2B"/>
                </a:solidFill>
                <a:latin typeface="Garamond"/>
              </a:rPr>
              <a:t>02 · OPPORTUNITÉ</a:t>
            </a:r>
            <a:endParaRPr lang="en-US" sz="850" dirty="0">
              <a:latin typeface="Garamond"/>
            </a:endParaRPr>
          </a:p>
        </p:txBody>
      </p:sp>
      <p:sp>
        <p:nvSpPr>
          <p:cNvPr id="8" name="Text 5"/>
          <p:cNvSpPr/>
          <p:nvPr/>
        </p:nvSpPr>
        <p:spPr>
          <a:xfrm>
            <a:off x="658368" y="1327767"/>
            <a:ext cx="5669280" cy="140280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0E1712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Le marché existe déjà.</a:t>
            </a:r>
            <a:endParaRPr lang="en-US" sz="3600" dirty="0">
              <a:latin typeface="Garamond"/>
            </a:endParaRPr>
          </a:p>
          <a:p>
            <a:pPr marL="0" indent="0">
              <a:buNone/>
            </a:pPr>
            <a:r>
              <a:rPr lang="en-US" sz="3600" b="1" dirty="0">
                <a:solidFill>
                  <a:srgbClr val="0E1712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Il manque une couche technologique de confiance.</a:t>
            </a:r>
            <a:endParaRPr lang="en-US" sz="3600" dirty="0">
              <a:latin typeface="Garamond"/>
            </a:endParaRPr>
          </a:p>
        </p:txBody>
      </p:sp>
      <p:sp>
        <p:nvSpPr>
          <p:cNvPr id="9" name="Text 6"/>
          <p:cNvSpPr/>
          <p:nvPr/>
        </p:nvSpPr>
        <p:spPr>
          <a:xfrm>
            <a:off x="656772" y="3176306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B786E"/>
                </a:solidFill>
                <a:latin typeface="Garamond"/>
              </a:rPr>
              <a:t>Les communautés africaines cotisent, épargnent et financent déjà ensemble. KOWO digitalise ces usages sans se substituer aux institutions réglementées.</a:t>
            </a:r>
            <a:endParaRPr lang="en-US" sz="1500" dirty="0">
              <a:latin typeface="Garamond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6583680" y="1325880"/>
            <a:ext cx="2194560" cy="123444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12700">
            <a:solidFill>
              <a:srgbClr val="DFE7E1">
                <a:alpha val="95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93992" y="15270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Garamond"/>
              </a:rPr>
              <a:t>🤝</a:t>
            </a:r>
            <a:endParaRPr lang="en-US" sz="1700" dirty="0">
              <a:latin typeface="Garamond"/>
            </a:endParaRPr>
          </a:p>
        </p:txBody>
      </p:sp>
      <p:sp>
        <p:nvSpPr>
          <p:cNvPr id="12" name="Text 9"/>
          <p:cNvSpPr/>
          <p:nvPr/>
        </p:nvSpPr>
        <p:spPr>
          <a:xfrm>
            <a:off x="7178040" y="1527048"/>
            <a:ext cx="1399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1712"/>
                </a:solidFill>
                <a:latin typeface="Garamond"/>
              </a:rPr>
              <a:t>Usages existants</a:t>
            </a:r>
            <a:endParaRPr lang="en-US" sz="1500" dirty="0">
              <a:latin typeface="Garamond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6793992" y="1965960"/>
            <a:ext cx="384048" cy="32004"/>
          </a:xfrm>
          <a:prstGeom prst="rect">
            <a:avLst/>
          </a:prstGeom>
          <a:solidFill>
            <a:srgbClr val="8DFFD3"/>
          </a:solidFill>
          <a:ln w="12700">
            <a:solidFill>
              <a:srgbClr val="8DFFD3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93992" y="2103120"/>
            <a:ext cx="1773936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Tontines, associations, caisses communautaires, cotisations familiales et projets collaboratifs.</a:t>
            </a:r>
            <a:endParaRPr lang="en-US" sz="1050" dirty="0">
              <a:latin typeface="Garamond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9098280" y="1325880"/>
            <a:ext cx="2194560" cy="123444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12700">
            <a:solidFill>
              <a:srgbClr val="DFE7E1">
                <a:alpha val="9500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08592" y="15270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Garamond"/>
              </a:rPr>
              <a:t>⚠️</a:t>
            </a:r>
            <a:endParaRPr lang="en-US" sz="1700" dirty="0">
              <a:latin typeface="Garamond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9692640" y="1527048"/>
            <a:ext cx="1399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1712"/>
                </a:solidFill>
                <a:latin typeface="Garamond"/>
              </a:rPr>
              <a:t>Limites actuelles</a:t>
            </a:r>
            <a:endParaRPr lang="en-US" sz="1500" dirty="0">
              <a:latin typeface="Garamond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9308592" y="1965960"/>
            <a:ext cx="384048" cy="32004"/>
          </a:xfrm>
          <a:prstGeom prst="rect">
            <a:avLst/>
          </a:prstGeom>
          <a:solidFill>
            <a:srgbClr val="FFC323"/>
          </a:solidFill>
          <a:ln w="12700">
            <a:solidFill>
              <a:srgbClr val="FFC323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308592" y="2103120"/>
            <a:ext cx="1773936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WhatsApp, Excel, espèces, litiges, manque de traçabilité et faible visibilité des cycles.</a:t>
            </a:r>
            <a:endParaRPr lang="en-US" sz="1050" dirty="0">
              <a:latin typeface="Garamond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6583680" y="2880360"/>
            <a:ext cx="2194560" cy="123444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12700">
            <a:solidFill>
              <a:srgbClr val="DFE7E1">
                <a:alpha val="9500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793992" y="30815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Garamond"/>
              </a:rPr>
              <a:t>📱</a:t>
            </a:r>
            <a:endParaRPr lang="en-US" sz="1700" dirty="0">
              <a:latin typeface="Garamond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7178040" y="3081528"/>
            <a:ext cx="1399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1712"/>
                </a:solidFill>
                <a:latin typeface="Garamond"/>
              </a:rPr>
              <a:t>Solution KOWO</a:t>
            </a:r>
            <a:endParaRPr lang="en-US" sz="1500" dirty="0">
              <a:latin typeface="Garamond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6793992" y="3520440"/>
            <a:ext cx="384048" cy="32004"/>
          </a:xfrm>
          <a:prstGeom prst="rect">
            <a:avLst/>
          </a:prstGeom>
          <a:solidFill>
            <a:srgbClr val="123B2B"/>
          </a:solidFill>
          <a:ln w="12700">
            <a:solidFill>
              <a:srgbClr val="123B2B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793992" y="3657600"/>
            <a:ext cx="1773936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Application mobile, règles du groupe, historique, notifications, reporting et parcours utilisateurs.</a:t>
            </a:r>
            <a:endParaRPr lang="en-US" sz="1050" dirty="0">
              <a:latin typeface="Garamond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9098280" y="2880360"/>
            <a:ext cx="2194560" cy="123444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12700">
            <a:solidFill>
              <a:srgbClr val="DFE7E1">
                <a:alpha val="9500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308592" y="30815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Garamond"/>
              </a:rPr>
              <a:t>🏦</a:t>
            </a:r>
            <a:endParaRPr lang="en-US" sz="1700" dirty="0">
              <a:latin typeface="Garamond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9692640" y="3081528"/>
            <a:ext cx="1399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1712"/>
                </a:solidFill>
                <a:latin typeface="Garamond"/>
              </a:rPr>
              <a:t>Partenaire financier</a:t>
            </a:r>
            <a:endParaRPr lang="en-US" sz="1500" dirty="0">
              <a:latin typeface="Garamond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9308592" y="3520440"/>
            <a:ext cx="384048" cy="32004"/>
          </a:xfrm>
          <a:prstGeom prst="rect">
            <a:avLst/>
          </a:prstGeom>
          <a:solidFill>
            <a:srgbClr val="1C563E"/>
          </a:solidFill>
          <a:ln w="12700">
            <a:solidFill>
              <a:srgbClr val="1C563E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308592" y="3657600"/>
            <a:ext cx="1773936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Comptes, wallets, conservation des fonds, exigences réglementaires et confiance utilisateur.</a:t>
            </a:r>
            <a:endParaRPr lang="en-US" sz="1050" dirty="0">
              <a:latin typeface="Garamond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6583680" y="4800600"/>
            <a:ext cx="4709160" cy="868680"/>
          </a:xfrm>
          <a:prstGeom prst="roundRect">
            <a:avLst>
              <a:gd name="adj" fmla="val 8421"/>
            </a:avLst>
          </a:prstGeom>
          <a:solidFill>
            <a:srgbClr val="123B2B"/>
          </a:solidFill>
          <a:ln w="12700">
            <a:solidFill>
              <a:srgbClr val="123B2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812280" y="5010912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/>
              </a:rPr>
              <a:t>Positionnement : KOWO ne cherche pas à devenir une microfinance, mais à devenir son interface digitale communautaire.</a:t>
            </a:r>
            <a:endParaRPr lang="en-US" sz="1400" dirty="0">
              <a:latin typeface="Garamond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658368" y="6473952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86E"/>
                </a:solidFill>
                <a:latin typeface="Garamond"/>
              </a:rPr>
              <a:t>© 2026 KOWO · contact@getkowo.com · getkowo.com</a:t>
            </a:r>
            <a:endParaRPr lang="en-US" sz="750" dirty="0">
              <a:latin typeface="Garamon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5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123371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71600" y="123371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57400" y="123371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0" y="123371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123371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0" y="123371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00600" y="123371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0" y="123371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72200" y="123371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0" y="123371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543800" y="123371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0" y="123371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15400" y="123371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0" y="123371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87000" y="123371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6586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6858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20574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34290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4238171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923971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61722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256032"/>
            <a:ext cx="11384280" cy="576072"/>
          </a:xfrm>
          <a:prstGeom prst="roundRect">
            <a:avLst>
              <a:gd name="adj" fmla="val 12698"/>
            </a:avLst>
          </a:prstGeom>
          <a:solidFill>
            <a:srgbClr val="F6F1E7">
              <a:alpha val="94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32" name="Image 0" descr="/mnt/data/kowo-institutional-partnership-v2/assets/kowo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384048"/>
            <a:ext cx="292608" cy="29260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960120" y="400159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23B2B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KOWO</a:t>
            </a:r>
            <a:endParaRPr lang="en-US" sz="1000" dirty="0">
              <a:latin typeface="Garamond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8503920" y="3657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23B2B"/>
                </a:solidFill>
                <a:latin typeface="Garamond"/>
              </a:rPr>
              <a:t>Institutional Partnership Brief</a:t>
            </a:r>
            <a:endParaRPr lang="en-US" sz="800" dirty="0">
              <a:latin typeface="Garamond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658368" y="914400"/>
            <a:ext cx="1783080" cy="347472"/>
          </a:xfrm>
          <a:prstGeom prst="roundRect">
            <a:avLst>
              <a:gd name="adj" fmla="val 13158"/>
            </a:avLst>
          </a:prstGeom>
          <a:solidFill>
            <a:srgbClr val="1C563E"/>
          </a:solidFill>
          <a:ln w="12700">
            <a:solidFill>
              <a:srgbClr val="8DFFD3">
                <a:alpha val="75000"/>
              </a:srgbClr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68096" y="996696"/>
            <a:ext cx="1563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DFFD3"/>
                </a:solidFill>
                <a:latin typeface="Garamond"/>
              </a:rPr>
              <a:t>03 · VISION</a:t>
            </a:r>
            <a:endParaRPr lang="en-US" sz="850" dirty="0">
              <a:latin typeface="Garamond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58368" y="1581767"/>
            <a:ext cx="5669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Construire l’infrastructure panafricaine de l’épargne communautaire numérique.</a:t>
            </a:r>
            <a:endParaRPr lang="en-US" sz="3600" dirty="0">
              <a:latin typeface="Garamond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656772" y="2958592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C7D8CF"/>
                </a:solidFill>
                <a:latin typeface="Garamond"/>
              </a:rPr>
              <a:t>Une plateforme pensée pour l’Afrique d’abord, mais naturellement ouverte à la diaspora.</a:t>
            </a:r>
            <a:endParaRPr lang="en-US" sz="1500" dirty="0">
              <a:latin typeface="Garamond"/>
            </a:endParaRPr>
          </a:p>
        </p:txBody>
      </p:sp>
      <p:sp>
        <p:nvSpPr>
          <p:cNvPr id="39" name="Shape 36"/>
          <p:cNvSpPr/>
          <p:nvPr/>
        </p:nvSpPr>
        <p:spPr>
          <a:xfrm>
            <a:off x="914400" y="3780971"/>
            <a:ext cx="2834640" cy="1234440"/>
          </a:xfrm>
          <a:prstGeom prst="roundRect">
            <a:avLst>
              <a:gd name="adj" fmla="val 7407"/>
            </a:avLst>
          </a:prstGeom>
          <a:solidFill>
            <a:srgbClr val="1C563E"/>
          </a:solidFill>
          <a:ln w="12700">
            <a:solidFill>
              <a:srgbClr val="1C563E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143000" y="4009571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aramond"/>
              </a:rPr>
              <a:t>Afrique</a:t>
            </a:r>
            <a:endParaRPr lang="en-US" sz="1900" dirty="0">
              <a:latin typeface="Garamond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1143000" y="4347899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7D8CF"/>
                </a:solidFill>
                <a:latin typeface="Garamond"/>
              </a:rPr>
              <a:t>Marchés locaux, usages communautaires, mobile money</a:t>
            </a:r>
            <a:endParaRPr lang="en-US" sz="1050" dirty="0">
              <a:latin typeface="Garamond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3794760" y="4393619"/>
            <a:ext cx="484632" cy="0"/>
          </a:xfrm>
          <a:prstGeom prst="line">
            <a:avLst/>
          </a:prstGeom>
          <a:noFill/>
          <a:ln w="12700">
            <a:solidFill>
              <a:srgbClr val="FFC323"/>
            </a:solidFill>
            <a:prstDash val="solid"/>
            <a:headEnd type="none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4389120" y="3780971"/>
            <a:ext cx="2834640" cy="1234440"/>
          </a:xfrm>
          <a:prstGeom prst="roundRect">
            <a:avLst>
              <a:gd name="adj" fmla="val 7407"/>
            </a:avLst>
          </a:prstGeom>
          <a:solidFill>
            <a:srgbClr val="8DFFD3"/>
          </a:solidFill>
          <a:ln w="12700">
            <a:solidFill>
              <a:srgbClr val="8DFFD3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4617720" y="4009571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7150F"/>
                </a:solidFill>
                <a:latin typeface="Garamond"/>
              </a:rPr>
              <a:t>Diaspora</a:t>
            </a:r>
            <a:endParaRPr lang="en-US" sz="1900" dirty="0">
              <a:latin typeface="Garamond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4617720" y="4347899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07150F"/>
                </a:solidFill>
                <a:latin typeface="Garamond"/>
              </a:rPr>
              <a:t>Contribution à distance, projets familiaux, confiance</a:t>
            </a:r>
            <a:endParaRPr lang="en-US" sz="1050" dirty="0">
              <a:latin typeface="Garamond"/>
            </a:endParaRPr>
          </a:p>
        </p:txBody>
      </p:sp>
      <p:sp>
        <p:nvSpPr>
          <p:cNvPr id="46" name="Shape 43"/>
          <p:cNvSpPr/>
          <p:nvPr/>
        </p:nvSpPr>
        <p:spPr>
          <a:xfrm>
            <a:off x="7269480" y="4393619"/>
            <a:ext cx="484632" cy="0"/>
          </a:xfrm>
          <a:prstGeom prst="line">
            <a:avLst/>
          </a:prstGeom>
          <a:noFill/>
          <a:ln w="12700">
            <a:solidFill>
              <a:srgbClr val="FFC323"/>
            </a:solidFill>
            <a:prstDash val="solid"/>
            <a:headEnd type="none"/>
            <a:tailEnd type="triangle"/>
          </a:ln>
        </p:spPr>
      </p:sp>
      <p:sp>
        <p:nvSpPr>
          <p:cNvPr id="47" name="Shape 44"/>
          <p:cNvSpPr/>
          <p:nvPr/>
        </p:nvSpPr>
        <p:spPr>
          <a:xfrm>
            <a:off x="7863840" y="3780971"/>
            <a:ext cx="2834640" cy="1234440"/>
          </a:xfrm>
          <a:prstGeom prst="roundRect">
            <a:avLst>
              <a:gd name="adj" fmla="val 7407"/>
            </a:avLst>
          </a:prstGeom>
          <a:solidFill>
            <a:srgbClr val="1C563E"/>
          </a:solidFill>
          <a:ln w="12700">
            <a:solidFill>
              <a:srgbClr val="1C563E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092440" y="4009571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aramond"/>
              </a:rPr>
              <a:t>Institutions</a:t>
            </a:r>
            <a:endParaRPr lang="en-US" sz="1900" dirty="0">
              <a:latin typeface="Garamond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8092440" y="4347899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7D8CF"/>
                </a:solidFill>
                <a:latin typeface="Garamond"/>
              </a:rPr>
              <a:t>Microfinances, banques, EME, PSP et SGI agréés</a:t>
            </a:r>
            <a:endParaRPr lang="en-US" sz="1050" dirty="0">
              <a:latin typeface="Garamond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658368" y="6473952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7AA"/>
                </a:solidFill>
                <a:latin typeface="Garamond"/>
              </a:rPr>
              <a:t>© 2026 KOWO · contact@getkowo.com · getkowo.com</a:t>
            </a:r>
            <a:endParaRPr lang="en-US" sz="750" dirty="0">
              <a:latin typeface="Garamon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1384280" cy="576072"/>
          </a:xfrm>
          <a:prstGeom prst="roundRect">
            <a:avLst>
              <a:gd name="adj" fmla="val 12698"/>
            </a:avLst>
          </a:prstGeom>
          <a:solidFill>
            <a:srgbClr val="FFFDF8">
              <a:alpha val="94000"/>
            </a:srgbClr>
          </a:solidFill>
          <a:ln w="12700">
            <a:solidFill>
              <a:srgbClr val="DFE7E1">
                <a:alpha val="35000"/>
              </a:srgbClr>
            </a:solidFill>
            <a:prstDash val="solid"/>
          </a:ln>
        </p:spPr>
      </p:sp>
      <p:pic>
        <p:nvPicPr>
          <p:cNvPr id="3" name="Image 0" descr="/mnt/data/kowo-institutional-partnership-v2/assets/kowo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384048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0120" y="400159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23B2B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KOWO</a:t>
            </a:r>
            <a:endParaRPr lang="en-US" sz="1000" dirty="0">
              <a:latin typeface="Garamond"/>
            </a:endParaRPr>
          </a:p>
        </p:txBody>
      </p:sp>
      <p:sp>
        <p:nvSpPr>
          <p:cNvPr id="5" name="Text 2"/>
          <p:cNvSpPr/>
          <p:nvPr/>
        </p:nvSpPr>
        <p:spPr>
          <a:xfrm>
            <a:off x="8503920" y="3657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86E"/>
                </a:solidFill>
                <a:latin typeface="Garamond"/>
              </a:rPr>
              <a:t>Institutional Partnership Brief</a:t>
            </a:r>
            <a:endParaRPr lang="en-US" sz="800" dirty="0">
              <a:latin typeface="Garamond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58368" y="914400"/>
            <a:ext cx="1783080" cy="347472"/>
          </a:xfrm>
          <a:prstGeom prst="roundRect">
            <a:avLst>
              <a:gd name="adj" fmla="val 13158"/>
            </a:avLst>
          </a:prstGeom>
          <a:solidFill>
            <a:srgbClr val="FFFDF8"/>
          </a:solidFill>
          <a:ln w="12700">
            <a:solidFill>
              <a:srgbClr val="DFE7E1">
                <a:alpha val="75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996696"/>
            <a:ext cx="1563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23B2B"/>
                </a:solidFill>
                <a:latin typeface="Garamond"/>
              </a:rPr>
              <a:t>04 · MODÈLE CIBLE</a:t>
            </a:r>
            <a:endParaRPr lang="en-US" sz="850" dirty="0">
              <a:latin typeface="Garamond"/>
            </a:endParaRPr>
          </a:p>
        </p:txBody>
      </p:sp>
      <p:sp>
        <p:nvSpPr>
          <p:cNvPr id="8" name="Text 5"/>
          <p:cNvSpPr/>
          <p:nvPr/>
        </p:nvSpPr>
        <p:spPr>
          <a:xfrm>
            <a:off x="680139" y="1335024"/>
            <a:ext cx="660545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0E1712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Le partenaire porte les comptes.</a:t>
            </a:r>
            <a:endParaRPr lang="en-US" sz="3600" dirty="0">
              <a:latin typeface="Garamond"/>
            </a:endParaRPr>
          </a:p>
          <a:p>
            <a:pPr marL="0" indent="0">
              <a:buNone/>
            </a:pPr>
            <a:r>
              <a:rPr lang="en-US" sz="3600" b="1" dirty="0">
                <a:solidFill>
                  <a:srgbClr val="0E1712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KOWO porte l’expérience.</a:t>
            </a:r>
            <a:endParaRPr lang="en-US" sz="3600" dirty="0">
              <a:latin typeface="Garamond"/>
            </a:endParaRPr>
          </a:p>
        </p:txBody>
      </p:sp>
      <p:sp>
        <p:nvSpPr>
          <p:cNvPr id="9" name="Text 6"/>
          <p:cNvSpPr/>
          <p:nvPr/>
        </p:nvSpPr>
        <p:spPr>
          <a:xfrm>
            <a:off x="685800" y="2450592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B786E"/>
                </a:solidFill>
                <a:latin typeface="Garamond"/>
              </a:rPr>
              <a:t>La séparation des rôles est au cœur du modèle recherché.</a:t>
            </a:r>
            <a:endParaRPr lang="en-US" sz="1500" dirty="0">
              <a:latin typeface="Garamond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822960" y="3197497"/>
            <a:ext cx="1828800" cy="1078992"/>
          </a:xfrm>
          <a:prstGeom prst="roundRect">
            <a:avLst>
              <a:gd name="adj" fmla="val 6780"/>
            </a:avLst>
          </a:prstGeom>
          <a:solidFill>
            <a:srgbClr val="FFFDF8"/>
          </a:solidFill>
          <a:ln w="12700">
            <a:solidFill>
              <a:srgbClr val="DFE7E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0120" y="3398665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1712"/>
                </a:solidFill>
                <a:latin typeface="Garamond"/>
              </a:rPr>
              <a:t>Utilisateurs</a:t>
            </a:r>
            <a:endParaRPr lang="en-US" sz="1400" dirty="0">
              <a:latin typeface="Garamond"/>
            </a:endParaRPr>
          </a:p>
        </p:txBody>
      </p:sp>
      <p:sp>
        <p:nvSpPr>
          <p:cNvPr id="12" name="Text 9"/>
          <p:cNvSpPr/>
          <p:nvPr/>
        </p:nvSpPr>
        <p:spPr>
          <a:xfrm>
            <a:off x="960120" y="3700417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B786E"/>
                </a:solidFill>
                <a:latin typeface="Garamond"/>
              </a:rPr>
              <a:t>Familles, associations, groupes, diaspora</a:t>
            </a:r>
            <a:endParaRPr lang="en-US" sz="870" dirty="0">
              <a:latin typeface="Garamond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3200400" y="3197497"/>
            <a:ext cx="1828800" cy="1078992"/>
          </a:xfrm>
          <a:prstGeom prst="roundRect">
            <a:avLst>
              <a:gd name="adj" fmla="val 6780"/>
            </a:avLst>
          </a:prstGeom>
          <a:solidFill>
            <a:srgbClr val="FFFDF8"/>
          </a:solidFill>
          <a:ln w="12700">
            <a:solidFill>
              <a:srgbClr val="DFE7E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337560" y="3398665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1712"/>
                </a:solidFill>
                <a:latin typeface="Garamond"/>
              </a:rPr>
              <a:t>Wallets / comptes</a:t>
            </a:r>
            <a:endParaRPr lang="en-US" sz="1400" dirty="0">
              <a:latin typeface="Garamond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3337560" y="3700417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B786E"/>
                </a:solidFill>
                <a:latin typeface="Garamond"/>
              </a:rPr>
              <a:t>Ouverts chez l’institution partenaire</a:t>
            </a:r>
            <a:endParaRPr lang="en-US" sz="870" dirty="0">
              <a:latin typeface="Garamond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5577840" y="3197497"/>
            <a:ext cx="1828800" cy="1078992"/>
          </a:xfrm>
          <a:prstGeom prst="roundRect">
            <a:avLst>
              <a:gd name="adj" fmla="val 6780"/>
            </a:avLst>
          </a:prstGeom>
          <a:solidFill>
            <a:srgbClr val="123B2B"/>
          </a:solidFill>
          <a:ln w="12700">
            <a:solidFill>
              <a:srgbClr val="123B2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715000" y="3398665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/>
              </a:rPr>
              <a:t>Institution partenaire</a:t>
            </a:r>
            <a:endParaRPr lang="en-US" sz="1400" dirty="0">
              <a:latin typeface="Garamond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5715000" y="3700417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C7D8CF"/>
                </a:solidFill>
                <a:latin typeface="Garamond"/>
              </a:rPr>
              <a:t>Conservation des fonds &amp; conformité</a:t>
            </a:r>
            <a:endParaRPr lang="en-US" sz="870" dirty="0">
              <a:latin typeface="Garamond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955280" y="3197497"/>
            <a:ext cx="1828800" cy="1078992"/>
          </a:xfrm>
          <a:prstGeom prst="roundRect">
            <a:avLst>
              <a:gd name="adj" fmla="val 6780"/>
            </a:avLst>
          </a:prstGeom>
          <a:solidFill>
            <a:srgbClr val="FFFDF8"/>
          </a:solidFill>
          <a:ln w="12700">
            <a:solidFill>
              <a:srgbClr val="DFE7E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92440" y="3398665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1712"/>
                </a:solidFill>
                <a:latin typeface="Garamond"/>
              </a:rPr>
              <a:t>KOWO</a:t>
            </a:r>
            <a:endParaRPr lang="en-US" sz="1400" dirty="0">
              <a:latin typeface="Garamond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92440" y="3700417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B786E"/>
                </a:solidFill>
                <a:latin typeface="Garamond"/>
              </a:rPr>
              <a:t>App, UX, règles, notifications, analytics</a:t>
            </a:r>
            <a:endParaRPr lang="en-US" sz="870" dirty="0">
              <a:latin typeface="Garamond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10058400" y="3197497"/>
            <a:ext cx="1828800" cy="1078992"/>
          </a:xfrm>
          <a:prstGeom prst="roundRect">
            <a:avLst>
              <a:gd name="adj" fmla="val 6780"/>
            </a:avLst>
          </a:prstGeom>
          <a:solidFill>
            <a:srgbClr val="FFFDF8"/>
          </a:solidFill>
          <a:ln w="12700">
            <a:solidFill>
              <a:srgbClr val="DFE7E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195560" y="3398665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1712"/>
                </a:solidFill>
                <a:latin typeface="Garamond"/>
              </a:rPr>
              <a:t>Commission</a:t>
            </a:r>
            <a:endParaRPr lang="en-US" sz="1400" dirty="0">
              <a:latin typeface="Garamond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10195560" y="3700417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B786E"/>
                </a:solidFill>
                <a:latin typeface="Garamond"/>
              </a:rPr>
              <a:t>Revenu de plateforme uniquement</a:t>
            </a:r>
            <a:endParaRPr lang="en-US" sz="870" dirty="0">
              <a:latin typeface="Garamond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2688336" y="3736993"/>
            <a:ext cx="402336" cy="0"/>
          </a:xfrm>
          <a:prstGeom prst="line">
            <a:avLst/>
          </a:prstGeom>
          <a:noFill/>
          <a:ln w="12700">
            <a:solidFill>
              <a:srgbClr val="FFC323"/>
            </a:solidFill>
            <a:prstDash val="solid"/>
            <a:headEnd type="none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5065776" y="3736993"/>
            <a:ext cx="402336" cy="0"/>
          </a:xfrm>
          <a:prstGeom prst="line">
            <a:avLst/>
          </a:prstGeom>
          <a:noFill/>
          <a:ln w="12700">
            <a:solidFill>
              <a:srgbClr val="FFC323"/>
            </a:solidFill>
            <a:prstDash val="solid"/>
            <a:headEnd type="none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7443216" y="3736993"/>
            <a:ext cx="402336" cy="0"/>
          </a:xfrm>
          <a:prstGeom prst="line">
            <a:avLst/>
          </a:prstGeom>
          <a:noFill/>
          <a:ln w="12700">
            <a:solidFill>
              <a:srgbClr val="FFC323"/>
            </a:solidFill>
            <a:prstDash val="solid"/>
            <a:headEnd type="none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9820656" y="3736993"/>
            <a:ext cx="128016" cy="0"/>
          </a:xfrm>
          <a:prstGeom prst="line">
            <a:avLst/>
          </a:prstGeom>
          <a:noFill/>
          <a:ln w="12700">
            <a:solidFill>
              <a:srgbClr val="FFC323"/>
            </a:solidFill>
            <a:prstDash val="solid"/>
            <a:headEnd type="none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1920240" y="4983480"/>
            <a:ext cx="8321040" cy="566928"/>
          </a:xfrm>
          <a:prstGeom prst="roundRect">
            <a:avLst>
              <a:gd name="adj" fmla="val 12903"/>
            </a:avLst>
          </a:prstGeom>
          <a:solidFill>
            <a:srgbClr val="8DFFD3"/>
          </a:solidFill>
          <a:ln w="12700">
            <a:solidFill>
              <a:srgbClr val="8DFFD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2148840" y="5148072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7150F"/>
                </a:solidFill>
                <a:latin typeface="Garamond"/>
              </a:rPr>
              <a:t>Principe clé : les fonds des utilisateurs ne sont pas mélangés aux revenus de KOWO.</a:t>
            </a:r>
            <a:endParaRPr lang="en-US" sz="1300" dirty="0">
              <a:latin typeface="Garamond"/>
            </a:endParaRPr>
          </a:p>
        </p:txBody>
      </p:sp>
      <p:sp>
        <p:nvSpPr>
          <p:cNvPr id="31" name="Text 28"/>
          <p:cNvSpPr/>
          <p:nvPr/>
        </p:nvSpPr>
        <p:spPr>
          <a:xfrm>
            <a:off x="658368" y="6473952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86E"/>
                </a:solidFill>
                <a:latin typeface="Garamond"/>
              </a:rPr>
              <a:t>© 2026 KOWO · contact@getkowo.com · getkowo.com</a:t>
            </a:r>
            <a:endParaRPr lang="en-US" sz="750" dirty="0">
              <a:latin typeface="Garamon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1384280" cy="576072"/>
          </a:xfrm>
          <a:prstGeom prst="roundRect">
            <a:avLst>
              <a:gd name="adj" fmla="val 12698"/>
            </a:avLst>
          </a:prstGeom>
          <a:solidFill>
            <a:srgbClr val="FFFDF8">
              <a:alpha val="94000"/>
            </a:srgbClr>
          </a:solidFill>
          <a:ln w="12700">
            <a:solidFill>
              <a:srgbClr val="DFE7E1">
                <a:alpha val="35000"/>
              </a:srgbClr>
            </a:solidFill>
            <a:prstDash val="solid"/>
          </a:ln>
        </p:spPr>
      </p:sp>
      <p:pic>
        <p:nvPicPr>
          <p:cNvPr id="3" name="Image 0" descr="/mnt/data/kowo-institutional-partnership-v2/assets/kowo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384048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0120" y="4146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23B2B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KOWO</a:t>
            </a:r>
            <a:endParaRPr lang="en-US" sz="1000" dirty="0">
              <a:latin typeface="Garamond"/>
            </a:endParaRPr>
          </a:p>
        </p:txBody>
      </p:sp>
      <p:sp>
        <p:nvSpPr>
          <p:cNvPr id="5" name="Text 2"/>
          <p:cNvSpPr/>
          <p:nvPr/>
        </p:nvSpPr>
        <p:spPr>
          <a:xfrm>
            <a:off x="8503920" y="3657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86E"/>
                </a:solidFill>
                <a:latin typeface="Garamond"/>
              </a:rPr>
              <a:t>Institutional Partnership Brief</a:t>
            </a:r>
            <a:endParaRPr lang="en-US" sz="800" dirty="0">
              <a:latin typeface="Garamond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58368" y="914400"/>
            <a:ext cx="1783080" cy="347472"/>
          </a:xfrm>
          <a:prstGeom prst="roundRect">
            <a:avLst>
              <a:gd name="adj" fmla="val 13158"/>
            </a:avLst>
          </a:prstGeom>
          <a:solidFill>
            <a:srgbClr val="FFFDF8"/>
          </a:solidFill>
          <a:ln w="12700">
            <a:solidFill>
              <a:srgbClr val="DFE7E1">
                <a:alpha val="75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996696"/>
            <a:ext cx="1563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23B2B"/>
                </a:solidFill>
                <a:latin typeface="Garamond"/>
              </a:rPr>
              <a:t>05 · RÉPARTITION DES RÔLES</a:t>
            </a:r>
            <a:endParaRPr lang="en-US" sz="850" dirty="0">
              <a:latin typeface="Garamond"/>
            </a:endParaRPr>
          </a:p>
        </p:txBody>
      </p:sp>
      <p:sp>
        <p:nvSpPr>
          <p:cNvPr id="8" name="Text 5"/>
          <p:cNvSpPr/>
          <p:nvPr/>
        </p:nvSpPr>
        <p:spPr>
          <a:xfrm>
            <a:off x="680139" y="1335024"/>
            <a:ext cx="630790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0E1712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Une collaboration claire, lisible et compatible avec les attentes réglementaires.</a:t>
            </a:r>
            <a:endParaRPr lang="en-US" sz="3600" dirty="0">
              <a:latin typeface="Garamond"/>
            </a:endParaRPr>
          </a:p>
        </p:txBody>
      </p:sp>
      <p:sp>
        <p:nvSpPr>
          <p:cNvPr id="9" name="Text 6"/>
          <p:cNvSpPr/>
          <p:nvPr/>
        </p:nvSpPr>
        <p:spPr>
          <a:xfrm>
            <a:off x="685800" y="2624763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B786E"/>
                </a:solidFill>
                <a:latin typeface="Garamond"/>
              </a:rPr>
              <a:t>Chaque partie reste dans son cœur de métier.</a:t>
            </a:r>
            <a:endParaRPr lang="en-US" sz="1500" dirty="0">
              <a:latin typeface="Garamond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731520" y="3548743"/>
            <a:ext cx="3200400" cy="2148840"/>
          </a:xfrm>
          <a:prstGeom prst="roundRect">
            <a:avLst>
              <a:gd name="adj" fmla="val 4255"/>
            </a:avLst>
          </a:prstGeom>
          <a:solidFill>
            <a:srgbClr val="FFFDF8"/>
          </a:solidFill>
          <a:ln w="12700">
            <a:solidFill>
              <a:srgbClr val="DFE7E1">
                <a:alpha val="95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41832" y="3749911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Garamond"/>
              </a:rPr>
              <a:t>🏦</a:t>
            </a:r>
            <a:endParaRPr lang="en-US" sz="1700" dirty="0">
              <a:latin typeface="Garamond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325880" y="3749911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1712"/>
                </a:solidFill>
                <a:latin typeface="Garamond"/>
              </a:rPr>
              <a:t>Institution partenaire</a:t>
            </a:r>
            <a:endParaRPr lang="en-US" sz="1500" dirty="0">
              <a:latin typeface="Garamond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941832" y="4188823"/>
            <a:ext cx="384048" cy="32004"/>
          </a:xfrm>
          <a:prstGeom prst="rect">
            <a:avLst/>
          </a:prstGeom>
          <a:solidFill>
            <a:srgbClr val="123B2B"/>
          </a:solidFill>
          <a:ln w="12700">
            <a:solidFill>
              <a:srgbClr val="123B2B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41832" y="4325983"/>
            <a:ext cx="2779776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• Ouverture des comptes / wallets</a:t>
            </a:r>
            <a:endParaRPr lang="en-US" sz="1050" dirty="0">
              <a:latin typeface="Garamond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• Conservation des fonds</a:t>
            </a:r>
            <a:endParaRPr lang="en-US" sz="1050" dirty="0">
              <a:latin typeface="Garamond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• Conformité financière</a:t>
            </a:r>
            <a:endParaRPr lang="en-US" sz="1050" dirty="0">
              <a:latin typeface="Garamond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• Obligations réglementaires</a:t>
            </a:r>
            <a:endParaRPr lang="en-US" sz="1050" dirty="0">
              <a:latin typeface="Garamond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• Supervision des opérations</a:t>
            </a:r>
            <a:endParaRPr lang="en-US" sz="1050" dirty="0">
              <a:latin typeface="Garamond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4480560" y="3548743"/>
            <a:ext cx="3200400" cy="2148840"/>
          </a:xfrm>
          <a:prstGeom prst="roundRect">
            <a:avLst>
              <a:gd name="adj" fmla="val 4255"/>
            </a:avLst>
          </a:prstGeom>
          <a:solidFill>
            <a:srgbClr val="FFFDF8"/>
          </a:solidFill>
          <a:ln w="12700">
            <a:solidFill>
              <a:srgbClr val="DFE7E1">
                <a:alpha val="9500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690872" y="3749911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Garamond"/>
              </a:rPr>
              <a:t>📱</a:t>
            </a:r>
            <a:endParaRPr lang="en-US" sz="1700" dirty="0">
              <a:latin typeface="Garamond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5074920" y="3749911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1712"/>
                </a:solidFill>
                <a:latin typeface="Garamond"/>
              </a:rPr>
              <a:t>KOWO</a:t>
            </a:r>
            <a:endParaRPr lang="en-US" sz="1500" dirty="0">
              <a:latin typeface="Garamond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4690872" y="4188823"/>
            <a:ext cx="384048" cy="32004"/>
          </a:xfrm>
          <a:prstGeom prst="rect">
            <a:avLst/>
          </a:prstGeom>
          <a:solidFill>
            <a:srgbClr val="8DFFD3"/>
          </a:solidFill>
          <a:ln w="12700">
            <a:solidFill>
              <a:srgbClr val="8DFFD3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690872" y="4325983"/>
            <a:ext cx="2779776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• Application mobile</a:t>
            </a:r>
            <a:endParaRPr lang="en-US" sz="1050" dirty="0">
              <a:latin typeface="Garamond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• Gestion des communautés</a:t>
            </a:r>
            <a:endParaRPr lang="en-US" sz="1050" dirty="0">
              <a:latin typeface="Garamond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• Interfaces API</a:t>
            </a:r>
            <a:endParaRPr lang="en-US" sz="1050" dirty="0">
              <a:latin typeface="Garamond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• Notifications &amp; historiques</a:t>
            </a:r>
            <a:endParaRPr lang="en-US" sz="1050" dirty="0">
              <a:latin typeface="Garamond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• Support et reporting</a:t>
            </a:r>
            <a:endParaRPr lang="en-US" sz="1050" dirty="0">
              <a:latin typeface="Garamond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8229600" y="3548743"/>
            <a:ext cx="3200400" cy="2148840"/>
          </a:xfrm>
          <a:prstGeom prst="roundRect">
            <a:avLst>
              <a:gd name="adj" fmla="val 4255"/>
            </a:avLst>
          </a:prstGeom>
          <a:solidFill>
            <a:srgbClr val="FFFDF8"/>
          </a:solidFill>
          <a:ln w="12700">
            <a:solidFill>
              <a:srgbClr val="DFE7E1">
                <a:alpha val="9500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439912" y="3749911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Garamond"/>
              </a:rPr>
              <a:t>🔌</a:t>
            </a:r>
            <a:endParaRPr lang="en-US" sz="1700" dirty="0">
              <a:latin typeface="Garamond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8823960" y="3749911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1712"/>
                </a:solidFill>
                <a:latin typeface="Garamond"/>
              </a:rPr>
              <a:t>PSP / rails</a:t>
            </a:r>
            <a:endParaRPr lang="en-US" sz="1500" dirty="0">
              <a:latin typeface="Garamond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8439912" y="4188823"/>
            <a:ext cx="384048" cy="32004"/>
          </a:xfrm>
          <a:prstGeom prst="rect">
            <a:avLst/>
          </a:prstGeom>
          <a:solidFill>
            <a:srgbClr val="FFC323"/>
          </a:solidFill>
          <a:ln w="12700">
            <a:solidFill>
              <a:srgbClr val="FFC323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439912" y="4325983"/>
            <a:ext cx="2779776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• Mobile Money</a:t>
            </a:r>
            <a:endParaRPr lang="en-US" sz="1050" dirty="0">
              <a:latin typeface="Garamond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• Cartes / virements</a:t>
            </a:r>
            <a:endParaRPr lang="en-US" sz="1050" dirty="0">
              <a:latin typeface="Garamond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• Webhooks</a:t>
            </a:r>
            <a:endParaRPr lang="en-US" sz="1050" dirty="0">
              <a:latin typeface="Garamond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• Payouts</a:t>
            </a:r>
            <a:endParaRPr lang="en-US" sz="1050" dirty="0">
              <a:latin typeface="Garamond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• Réconciliation technique</a:t>
            </a:r>
            <a:endParaRPr lang="en-US" sz="1050" dirty="0">
              <a:latin typeface="Garamond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658368" y="6473952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86E"/>
                </a:solidFill>
                <a:latin typeface="Garamond"/>
              </a:rPr>
              <a:t>© 2026 KOWO · contact@getkowo.com · getkowo.com</a:t>
            </a:r>
            <a:endParaRPr lang="en-US" sz="750" dirty="0">
              <a:latin typeface="Garamon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5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370114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71600" y="370114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57400" y="370114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0" y="370114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370114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0" y="370114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00600" y="370114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0" y="370114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72200" y="370114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0" y="370114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543800" y="370114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0" y="370114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15400" y="370114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0" y="370114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87000" y="370114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72800" y="370114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6586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6858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20574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3799114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4484914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5170714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5856514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61722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256032"/>
            <a:ext cx="11384280" cy="576072"/>
          </a:xfrm>
          <a:prstGeom prst="roundRect">
            <a:avLst>
              <a:gd name="adj" fmla="val 12698"/>
            </a:avLst>
          </a:prstGeom>
          <a:solidFill>
            <a:srgbClr val="F6F1E7">
              <a:alpha val="94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32" name="Image 0" descr="/mnt/data/kowo-institutional-partnership-v2/assets/kowo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384048"/>
            <a:ext cx="292608" cy="29260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960120" y="4146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23B2B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KOWO</a:t>
            </a:r>
            <a:endParaRPr lang="en-US" sz="1000" dirty="0">
              <a:latin typeface="Garamond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8503920" y="3657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23B2B"/>
                </a:solidFill>
                <a:latin typeface="Garamond"/>
              </a:rPr>
              <a:t>Institutional Partnership Brief</a:t>
            </a:r>
            <a:endParaRPr lang="en-US" sz="800" dirty="0">
              <a:latin typeface="Garamond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658368" y="914400"/>
            <a:ext cx="1783080" cy="347472"/>
          </a:xfrm>
          <a:prstGeom prst="roundRect">
            <a:avLst>
              <a:gd name="adj" fmla="val 13158"/>
            </a:avLst>
          </a:prstGeom>
          <a:solidFill>
            <a:srgbClr val="1C563E"/>
          </a:solidFill>
          <a:ln w="12700">
            <a:solidFill>
              <a:srgbClr val="8DFFD3">
                <a:alpha val="75000"/>
              </a:srgbClr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68096" y="996696"/>
            <a:ext cx="1563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DFFD3"/>
                </a:solidFill>
                <a:latin typeface="Garamond"/>
              </a:rPr>
              <a:t>06 · VALEUR PARTENAIRE</a:t>
            </a:r>
            <a:endParaRPr lang="en-US" sz="850" dirty="0">
              <a:latin typeface="Garamond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80139" y="1364052"/>
            <a:ext cx="6126480" cy="931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Pourquoi devenir le partenaire financier historique de KOWO ?</a:t>
            </a:r>
            <a:endParaRPr lang="en-US" sz="3600" dirty="0">
              <a:latin typeface="Garamond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685800" y="2450592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C7D8CF"/>
                </a:solidFill>
                <a:latin typeface="Garamond"/>
              </a:rPr>
              <a:t>KOWO apporte une nouvelle interface d’acquisition, de fidélisation et de digitalisation pour une institution financière.</a:t>
            </a:r>
            <a:endParaRPr lang="en-US" sz="1500" dirty="0">
              <a:latin typeface="Garamond"/>
            </a:endParaRPr>
          </a:p>
        </p:txBody>
      </p:sp>
      <p:sp>
        <p:nvSpPr>
          <p:cNvPr id="39" name="Shape 36"/>
          <p:cNvSpPr/>
          <p:nvPr/>
        </p:nvSpPr>
        <p:spPr>
          <a:xfrm>
            <a:off x="777240" y="3433354"/>
            <a:ext cx="4572000" cy="804672"/>
          </a:xfrm>
          <a:prstGeom prst="roundRect">
            <a:avLst>
              <a:gd name="adj" fmla="val 9091"/>
            </a:avLst>
          </a:prstGeom>
          <a:solidFill>
            <a:srgbClr val="1C563E"/>
          </a:solidFill>
          <a:ln w="12700">
            <a:solidFill>
              <a:srgbClr val="8DFFD3">
                <a:alpha val="25000"/>
              </a:srgbClr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978408" y="357965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DFFD3"/>
                </a:solidFill>
                <a:latin typeface="Garamond"/>
              </a:rPr>
              <a:t>Acquisition clients</a:t>
            </a:r>
            <a:endParaRPr lang="en-US" sz="1400" dirty="0">
              <a:latin typeface="Garamond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560320" y="359794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C7D8CF"/>
                </a:solidFill>
                <a:latin typeface="Garamond"/>
              </a:rPr>
              <a:t>Accès à de nouveaux utilisateurs via les communautés et la diaspora.</a:t>
            </a:r>
            <a:endParaRPr lang="en-US" sz="950" dirty="0">
              <a:latin typeface="Garamond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6080760" y="3433354"/>
            <a:ext cx="4572000" cy="804672"/>
          </a:xfrm>
          <a:prstGeom prst="roundRect">
            <a:avLst>
              <a:gd name="adj" fmla="val 9091"/>
            </a:avLst>
          </a:prstGeom>
          <a:solidFill>
            <a:srgbClr val="1C563E"/>
          </a:solidFill>
          <a:ln w="12700">
            <a:solidFill>
              <a:srgbClr val="8DFFD3">
                <a:alpha val="25000"/>
              </a:srgbClr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281928" y="357965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DFFD3"/>
                </a:solidFill>
                <a:latin typeface="Garamond"/>
              </a:rPr>
              <a:t>Digitalisation</a:t>
            </a:r>
            <a:endParaRPr lang="en-US" sz="1400" dirty="0">
              <a:latin typeface="Garamond"/>
            </a:endParaRPr>
          </a:p>
        </p:txBody>
      </p:sp>
      <p:sp>
        <p:nvSpPr>
          <p:cNvPr id="44" name="Text 41"/>
          <p:cNvSpPr/>
          <p:nvPr/>
        </p:nvSpPr>
        <p:spPr>
          <a:xfrm>
            <a:off x="7863840" y="359794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C7D8CF"/>
                </a:solidFill>
                <a:latin typeface="Garamond"/>
              </a:rPr>
              <a:t>Modernisation de l’épargne communautaire sans développer toute l’UX en interne.</a:t>
            </a:r>
            <a:endParaRPr lang="en-US" sz="950" dirty="0">
              <a:latin typeface="Garamond"/>
            </a:endParaRPr>
          </a:p>
        </p:txBody>
      </p:sp>
      <p:sp>
        <p:nvSpPr>
          <p:cNvPr id="45" name="Shape 42"/>
          <p:cNvSpPr/>
          <p:nvPr/>
        </p:nvSpPr>
        <p:spPr>
          <a:xfrm>
            <a:off x="777240" y="4530634"/>
            <a:ext cx="4572000" cy="804672"/>
          </a:xfrm>
          <a:prstGeom prst="roundRect">
            <a:avLst>
              <a:gd name="adj" fmla="val 9091"/>
            </a:avLst>
          </a:prstGeom>
          <a:solidFill>
            <a:srgbClr val="1C563E"/>
          </a:solidFill>
          <a:ln w="12700">
            <a:solidFill>
              <a:srgbClr val="8DFFD3">
                <a:alpha val="25000"/>
              </a:srgbClr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78408" y="467693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DFFD3"/>
                </a:solidFill>
                <a:latin typeface="Garamond"/>
              </a:rPr>
              <a:t>Revenus partagés</a:t>
            </a:r>
            <a:endParaRPr lang="en-US" sz="1400" dirty="0">
              <a:latin typeface="Garamond"/>
            </a:endParaRPr>
          </a:p>
        </p:txBody>
      </p:sp>
      <p:sp>
        <p:nvSpPr>
          <p:cNvPr id="47" name="Text 44"/>
          <p:cNvSpPr/>
          <p:nvPr/>
        </p:nvSpPr>
        <p:spPr>
          <a:xfrm>
            <a:off x="2560320" y="469522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C7D8CF"/>
                </a:solidFill>
                <a:latin typeface="Garamond"/>
              </a:rPr>
              <a:t>Commissions, frais d’usage et nouveaux produits financiers à terme.</a:t>
            </a:r>
            <a:endParaRPr lang="en-US" sz="950" dirty="0">
              <a:latin typeface="Garamond"/>
            </a:endParaRPr>
          </a:p>
        </p:txBody>
      </p:sp>
      <p:sp>
        <p:nvSpPr>
          <p:cNvPr id="48" name="Shape 45"/>
          <p:cNvSpPr/>
          <p:nvPr/>
        </p:nvSpPr>
        <p:spPr>
          <a:xfrm>
            <a:off x="6080760" y="4530634"/>
            <a:ext cx="4572000" cy="804672"/>
          </a:xfrm>
          <a:prstGeom prst="roundRect">
            <a:avLst>
              <a:gd name="adj" fmla="val 9091"/>
            </a:avLst>
          </a:prstGeom>
          <a:solidFill>
            <a:srgbClr val="1C563E"/>
          </a:solidFill>
          <a:ln w="12700">
            <a:solidFill>
              <a:srgbClr val="8DFFD3">
                <a:alpha val="25000"/>
              </a:srgbClr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6281928" y="467693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DFFD3"/>
                </a:solidFill>
                <a:latin typeface="Garamond"/>
              </a:rPr>
              <a:t>Confiance</a:t>
            </a:r>
            <a:endParaRPr lang="en-US" sz="1400" dirty="0">
              <a:latin typeface="Garamond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7863840" y="469522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C7D8CF"/>
                </a:solidFill>
                <a:latin typeface="Garamond"/>
              </a:rPr>
              <a:t>Une architecture où l’institution porte la partie réglementée.</a:t>
            </a:r>
            <a:endParaRPr lang="en-US" sz="950" dirty="0">
              <a:latin typeface="Garamond"/>
            </a:endParaRPr>
          </a:p>
        </p:txBody>
      </p:sp>
      <p:sp>
        <p:nvSpPr>
          <p:cNvPr id="51" name="Text 48"/>
          <p:cNvSpPr/>
          <p:nvPr/>
        </p:nvSpPr>
        <p:spPr>
          <a:xfrm>
            <a:off x="658368" y="6473952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7AA"/>
                </a:solidFill>
                <a:latin typeface="Garamond"/>
              </a:rPr>
              <a:t>© 2026 KOWO · contact@getkowo.com · getkowo.com</a:t>
            </a:r>
            <a:endParaRPr lang="en-US" sz="750" dirty="0">
              <a:latin typeface="Garamon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1384280" cy="576072"/>
          </a:xfrm>
          <a:prstGeom prst="roundRect">
            <a:avLst>
              <a:gd name="adj" fmla="val 12698"/>
            </a:avLst>
          </a:prstGeom>
          <a:solidFill>
            <a:srgbClr val="FFFDF8">
              <a:alpha val="94000"/>
            </a:srgbClr>
          </a:solidFill>
          <a:ln w="12700">
            <a:solidFill>
              <a:srgbClr val="DFE7E1">
                <a:alpha val="35000"/>
              </a:srgbClr>
            </a:solidFill>
            <a:prstDash val="solid"/>
          </a:ln>
        </p:spPr>
      </p:sp>
      <p:pic>
        <p:nvPicPr>
          <p:cNvPr id="3" name="Image 0" descr="/mnt/data/kowo-institutional-partnership-v2/assets/kowo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384048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0120" y="4146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23B2B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KOWO</a:t>
            </a:r>
            <a:endParaRPr lang="en-US" sz="1000" dirty="0">
              <a:latin typeface="Garamond"/>
            </a:endParaRPr>
          </a:p>
        </p:txBody>
      </p:sp>
      <p:sp>
        <p:nvSpPr>
          <p:cNvPr id="5" name="Text 2"/>
          <p:cNvSpPr/>
          <p:nvPr/>
        </p:nvSpPr>
        <p:spPr>
          <a:xfrm>
            <a:off x="8503920" y="3657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86E"/>
                </a:solidFill>
                <a:latin typeface="Garamond"/>
              </a:rPr>
              <a:t>Institutional Partnership Brief</a:t>
            </a:r>
            <a:endParaRPr lang="en-US" sz="800" dirty="0">
              <a:latin typeface="Garamond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58368" y="914400"/>
            <a:ext cx="1783080" cy="347472"/>
          </a:xfrm>
          <a:prstGeom prst="roundRect">
            <a:avLst>
              <a:gd name="adj" fmla="val 13158"/>
            </a:avLst>
          </a:prstGeom>
          <a:solidFill>
            <a:srgbClr val="FFFDF8"/>
          </a:solidFill>
          <a:ln w="12700">
            <a:solidFill>
              <a:srgbClr val="DFE7E1">
                <a:alpha val="75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996696"/>
            <a:ext cx="1563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23B2B"/>
                </a:solidFill>
                <a:latin typeface="Garamond"/>
              </a:rPr>
              <a:t>07 · ÉTAT D’AVANCEMENT</a:t>
            </a:r>
            <a:endParaRPr lang="en-US" sz="850" dirty="0">
              <a:latin typeface="Garamond"/>
            </a:endParaRPr>
          </a:p>
        </p:txBody>
      </p:sp>
      <p:sp>
        <p:nvSpPr>
          <p:cNvPr id="8" name="Text 5"/>
          <p:cNvSpPr/>
          <p:nvPr/>
        </p:nvSpPr>
        <p:spPr>
          <a:xfrm>
            <a:off x="680139" y="1335024"/>
            <a:ext cx="624985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0E1712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KOWO n’est plus une idée.</a:t>
            </a:r>
            <a:endParaRPr lang="en-US" sz="3600" dirty="0">
              <a:latin typeface="Garamond"/>
            </a:endParaRPr>
          </a:p>
          <a:p>
            <a:pPr marL="0" indent="0">
              <a:buNone/>
            </a:pPr>
            <a:r>
              <a:rPr lang="en-US" sz="3600" b="1" dirty="0">
                <a:solidFill>
                  <a:srgbClr val="0E1712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Le socle produit et documentaire existe déjà.</a:t>
            </a:r>
            <a:endParaRPr lang="en-US" sz="3600" dirty="0">
              <a:latin typeface="Garamond"/>
            </a:endParaRPr>
          </a:p>
        </p:txBody>
      </p:sp>
      <p:sp>
        <p:nvSpPr>
          <p:cNvPr id="9" name="Text 6"/>
          <p:cNvSpPr/>
          <p:nvPr/>
        </p:nvSpPr>
        <p:spPr>
          <a:xfrm>
            <a:off x="664029" y="2450592"/>
            <a:ext cx="623969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B786E"/>
                </a:solidFill>
                <a:latin typeface="Garamond"/>
              </a:rPr>
              <a:t>Le partenariat recherché vise à sécuriser le déploiement financier et réglementaire.</a:t>
            </a:r>
            <a:endParaRPr lang="en-US" sz="1500" dirty="0">
              <a:latin typeface="Garamond"/>
            </a:endParaRPr>
          </a:p>
        </p:txBody>
      </p:sp>
      <p:sp>
        <p:nvSpPr>
          <p:cNvPr id="10" name="Text 7"/>
          <p:cNvSpPr/>
          <p:nvPr/>
        </p:nvSpPr>
        <p:spPr>
          <a:xfrm>
            <a:off x="822960" y="32512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1712"/>
                </a:solidFill>
                <a:latin typeface="Garamond"/>
              </a:rPr>
              <a:t>Application mobile</a:t>
            </a:r>
            <a:endParaRPr lang="en-US" sz="1100" dirty="0">
              <a:latin typeface="Garamond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4069080" y="3287776"/>
            <a:ext cx="4572000" cy="109728"/>
          </a:xfrm>
          <a:prstGeom prst="roundRect">
            <a:avLst>
              <a:gd name="adj" fmla="val 16667"/>
            </a:avLst>
          </a:prstGeom>
          <a:solidFill>
            <a:srgbClr val="DFE7E1"/>
          </a:solidFill>
          <a:ln w="12700">
            <a:solidFill>
              <a:srgbClr val="DFE7E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069080" y="3287776"/>
            <a:ext cx="4343400" cy="109728"/>
          </a:xfrm>
          <a:prstGeom prst="roundRect">
            <a:avLst>
              <a:gd name="adj" fmla="val 16667"/>
            </a:avLst>
          </a:prstGeom>
          <a:solidFill>
            <a:srgbClr val="8DFFD3"/>
          </a:solidFill>
          <a:ln w="12700">
            <a:solidFill>
              <a:srgbClr val="8DFFD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23960" y="32512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23B2B"/>
                </a:solidFill>
                <a:latin typeface="Garamond"/>
              </a:rPr>
              <a:t>95%</a:t>
            </a:r>
            <a:endParaRPr lang="en-US" sz="1000" dirty="0">
              <a:latin typeface="Garamond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22960" y="3726688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1712"/>
                </a:solidFill>
                <a:latin typeface="Garamond"/>
              </a:rPr>
              <a:t>Infrastructure cloud</a:t>
            </a:r>
            <a:endParaRPr lang="en-US" sz="1100" dirty="0">
              <a:latin typeface="Garamond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4069080" y="3763264"/>
            <a:ext cx="4572000" cy="109728"/>
          </a:xfrm>
          <a:prstGeom prst="roundRect">
            <a:avLst>
              <a:gd name="adj" fmla="val 16667"/>
            </a:avLst>
          </a:prstGeom>
          <a:solidFill>
            <a:srgbClr val="DFE7E1"/>
          </a:solidFill>
          <a:ln w="12700">
            <a:solidFill>
              <a:srgbClr val="DFE7E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069080" y="3763264"/>
            <a:ext cx="4114800" cy="109728"/>
          </a:xfrm>
          <a:prstGeom prst="roundRect">
            <a:avLst>
              <a:gd name="adj" fmla="val 16667"/>
            </a:avLst>
          </a:prstGeom>
          <a:solidFill>
            <a:srgbClr val="123B2B"/>
          </a:solidFill>
          <a:ln w="12700">
            <a:solidFill>
              <a:srgbClr val="123B2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823960" y="372668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23B2B"/>
                </a:solidFill>
                <a:latin typeface="Garamond"/>
              </a:rPr>
              <a:t>90%</a:t>
            </a:r>
            <a:endParaRPr lang="en-US" sz="1000" dirty="0">
              <a:latin typeface="Garamond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822960" y="4202176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1712"/>
                </a:solidFill>
                <a:latin typeface="Garamond"/>
              </a:rPr>
              <a:t>Documentation conformité</a:t>
            </a:r>
            <a:endParaRPr lang="en-US" sz="1100" dirty="0">
              <a:latin typeface="Garamond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4069080" y="4238752"/>
            <a:ext cx="4572000" cy="109728"/>
          </a:xfrm>
          <a:prstGeom prst="roundRect">
            <a:avLst>
              <a:gd name="adj" fmla="val 16667"/>
            </a:avLst>
          </a:prstGeom>
          <a:solidFill>
            <a:srgbClr val="DFE7E1"/>
          </a:solidFill>
          <a:ln w="12700">
            <a:solidFill>
              <a:srgbClr val="DFE7E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069080" y="4238752"/>
            <a:ext cx="4572000" cy="109728"/>
          </a:xfrm>
          <a:prstGeom prst="roundRect">
            <a:avLst>
              <a:gd name="adj" fmla="val 16667"/>
            </a:avLst>
          </a:prstGeom>
          <a:solidFill>
            <a:srgbClr val="8DFFD3"/>
          </a:solidFill>
          <a:ln w="12700">
            <a:solidFill>
              <a:srgbClr val="8DFFD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823960" y="420217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23B2B"/>
                </a:solidFill>
                <a:latin typeface="Garamond"/>
              </a:rPr>
              <a:t>100%</a:t>
            </a:r>
            <a:endParaRPr lang="en-US" sz="1000" dirty="0">
              <a:latin typeface="Garamond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822960" y="467766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1712"/>
                </a:solidFill>
                <a:latin typeface="Garamond"/>
              </a:rPr>
              <a:t>Partner Portal</a:t>
            </a:r>
            <a:endParaRPr lang="en-US" sz="1100" dirty="0">
              <a:latin typeface="Garamond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4069080" y="4714240"/>
            <a:ext cx="4572000" cy="109728"/>
          </a:xfrm>
          <a:prstGeom prst="roundRect">
            <a:avLst>
              <a:gd name="adj" fmla="val 16667"/>
            </a:avLst>
          </a:prstGeom>
          <a:solidFill>
            <a:srgbClr val="DFE7E1"/>
          </a:solidFill>
          <a:ln w="12700">
            <a:solidFill>
              <a:srgbClr val="DFE7E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069080" y="4714240"/>
            <a:ext cx="4572000" cy="109728"/>
          </a:xfrm>
          <a:prstGeom prst="roundRect">
            <a:avLst>
              <a:gd name="adj" fmla="val 16667"/>
            </a:avLst>
          </a:prstGeom>
          <a:solidFill>
            <a:srgbClr val="8DFFD3"/>
          </a:solidFill>
          <a:ln w="12700">
            <a:solidFill>
              <a:srgbClr val="8DFFD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823960" y="467766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23B2B"/>
                </a:solidFill>
                <a:latin typeface="Garamond"/>
              </a:rPr>
              <a:t>100%</a:t>
            </a:r>
            <a:endParaRPr lang="en-US" sz="1000" dirty="0">
              <a:latin typeface="Garamond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22960" y="515315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1712"/>
                </a:solidFill>
                <a:latin typeface="Garamond"/>
              </a:rPr>
              <a:t>KYC / OTP</a:t>
            </a:r>
            <a:endParaRPr lang="en-US" sz="1100" dirty="0">
              <a:latin typeface="Garamond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4069080" y="5189728"/>
            <a:ext cx="4572000" cy="109728"/>
          </a:xfrm>
          <a:prstGeom prst="roundRect">
            <a:avLst>
              <a:gd name="adj" fmla="val 16667"/>
            </a:avLst>
          </a:prstGeom>
          <a:solidFill>
            <a:srgbClr val="DFE7E1"/>
          </a:solidFill>
          <a:ln w="12700">
            <a:solidFill>
              <a:srgbClr val="DFE7E1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069080" y="5189728"/>
            <a:ext cx="3657600" cy="109728"/>
          </a:xfrm>
          <a:prstGeom prst="roundRect">
            <a:avLst>
              <a:gd name="adj" fmla="val 16667"/>
            </a:avLst>
          </a:prstGeom>
          <a:solidFill>
            <a:srgbClr val="123B2B"/>
          </a:solidFill>
          <a:ln w="12700">
            <a:solidFill>
              <a:srgbClr val="123B2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823960" y="515315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23B2B"/>
                </a:solidFill>
                <a:latin typeface="Garamond"/>
              </a:rPr>
              <a:t>80%</a:t>
            </a:r>
            <a:endParaRPr lang="en-US" sz="1000" dirty="0">
              <a:latin typeface="Garamond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9646920" y="3251200"/>
            <a:ext cx="1737360" cy="2194560"/>
          </a:xfrm>
          <a:prstGeom prst="roundRect">
            <a:avLst>
              <a:gd name="adj" fmla="val 5263"/>
            </a:avLst>
          </a:prstGeom>
          <a:solidFill>
            <a:srgbClr val="FFFDF8"/>
          </a:solidFill>
          <a:ln w="12700">
            <a:solidFill>
              <a:srgbClr val="DFE7E1">
                <a:alpha val="9500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857232" y="34523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Garamond"/>
              </a:rPr>
              <a:t>⚙️</a:t>
            </a:r>
            <a:endParaRPr lang="en-US" sz="1700" dirty="0">
              <a:latin typeface="Garamond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10241280" y="3452368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1712"/>
                </a:solidFill>
                <a:latin typeface="Garamond"/>
              </a:rPr>
              <a:t>Stack</a:t>
            </a:r>
            <a:endParaRPr lang="en-US" sz="1500" dirty="0">
              <a:latin typeface="Garamond"/>
            </a:endParaRPr>
          </a:p>
        </p:txBody>
      </p:sp>
      <p:sp>
        <p:nvSpPr>
          <p:cNvPr id="33" name="Shape 30"/>
          <p:cNvSpPr/>
          <p:nvPr/>
        </p:nvSpPr>
        <p:spPr>
          <a:xfrm>
            <a:off x="9857232" y="3891280"/>
            <a:ext cx="384048" cy="32004"/>
          </a:xfrm>
          <a:prstGeom prst="rect">
            <a:avLst/>
          </a:prstGeom>
          <a:solidFill>
            <a:srgbClr val="FFC323"/>
          </a:solidFill>
          <a:ln w="12700">
            <a:solidFill>
              <a:srgbClr val="FFC323">
                <a:alpha val="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857232" y="4028440"/>
            <a:ext cx="1316736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Render</a:t>
            </a:r>
            <a:endParaRPr lang="en-US" sz="1050" dirty="0">
              <a:latin typeface="Garamond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Supabase</a:t>
            </a:r>
            <a:endParaRPr lang="en-US" sz="1050" dirty="0">
              <a:latin typeface="Garamond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Sumsub</a:t>
            </a:r>
            <a:endParaRPr lang="en-US" sz="1050" dirty="0">
              <a:latin typeface="Garamond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Twilio</a:t>
            </a:r>
            <a:endParaRPr lang="en-US" sz="1050" dirty="0">
              <a:latin typeface="Garamond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GitHub</a:t>
            </a:r>
            <a:endParaRPr lang="en-US" sz="1050" dirty="0">
              <a:latin typeface="Garamond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IONOS</a:t>
            </a:r>
            <a:endParaRPr lang="en-US" sz="1050" dirty="0">
              <a:latin typeface="Garamond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658368" y="6473952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86E"/>
                </a:solidFill>
                <a:latin typeface="Garamond"/>
              </a:rPr>
              <a:t>© 2026 KOWO · contact@getkowo.com · getkowo.com</a:t>
            </a:r>
            <a:endParaRPr lang="en-US" sz="750" dirty="0">
              <a:latin typeface="Garamon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1384280" cy="576072"/>
          </a:xfrm>
          <a:prstGeom prst="roundRect">
            <a:avLst>
              <a:gd name="adj" fmla="val 12698"/>
            </a:avLst>
          </a:prstGeom>
          <a:solidFill>
            <a:srgbClr val="FFFDF8">
              <a:alpha val="94000"/>
            </a:srgbClr>
          </a:solidFill>
          <a:ln w="12700">
            <a:solidFill>
              <a:srgbClr val="DFE7E1">
                <a:alpha val="35000"/>
              </a:srgbClr>
            </a:solidFill>
            <a:prstDash val="solid"/>
          </a:ln>
        </p:spPr>
      </p:sp>
      <p:pic>
        <p:nvPicPr>
          <p:cNvPr id="3" name="Image 0" descr="/mnt/data/kowo-institutional-partnership-v2/assets/kowo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384048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0120" y="4146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23B2B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KOWO</a:t>
            </a:r>
            <a:endParaRPr lang="en-US" sz="1000" dirty="0">
              <a:latin typeface="Garamond"/>
            </a:endParaRPr>
          </a:p>
        </p:txBody>
      </p:sp>
      <p:sp>
        <p:nvSpPr>
          <p:cNvPr id="5" name="Text 2"/>
          <p:cNvSpPr/>
          <p:nvPr/>
        </p:nvSpPr>
        <p:spPr>
          <a:xfrm>
            <a:off x="8503920" y="3657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86E"/>
                </a:solidFill>
                <a:latin typeface="Garamond"/>
              </a:rPr>
              <a:t>Institutional Partnership Brief</a:t>
            </a:r>
            <a:endParaRPr lang="en-US" sz="800" dirty="0">
              <a:latin typeface="Garamond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58368" y="914400"/>
            <a:ext cx="1783080" cy="347472"/>
          </a:xfrm>
          <a:prstGeom prst="roundRect">
            <a:avLst>
              <a:gd name="adj" fmla="val 13158"/>
            </a:avLst>
          </a:prstGeom>
          <a:solidFill>
            <a:srgbClr val="FFFDF8"/>
          </a:solidFill>
          <a:ln w="12700">
            <a:solidFill>
              <a:srgbClr val="DFE7E1">
                <a:alpha val="75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996696"/>
            <a:ext cx="1563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23B2B"/>
                </a:solidFill>
                <a:latin typeface="Garamond"/>
              </a:rPr>
              <a:t>08 · ARCHITECTURE TECHNIQUE</a:t>
            </a:r>
            <a:endParaRPr lang="en-US" sz="850" dirty="0">
              <a:latin typeface="Garamond"/>
            </a:endParaRPr>
          </a:p>
        </p:txBody>
      </p:sp>
      <p:sp>
        <p:nvSpPr>
          <p:cNvPr id="8" name="Text 5"/>
          <p:cNvSpPr/>
          <p:nvPr/>
        </p:nvSpPr>
        <p:spPr>
          <a:xfrm>
            <a:off x="680139" y="1335024"/>
            <a:ext cx="647482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0E1712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Une architecture prête pour l’intégration avec un partenaire réglementé.</a:t>
            </a:r>
            <a:endParaRPr lang="en-US" sz="3600" dirty="0">
              <a:latin typeface="Garamond"/>
            </a:endParaRPr>
          </a:p>
        </p:txBody>
      </p:sp>
      <p:sp>
        <p:nvSpPr>
          <p:cNvPr id="9" name="Text 6"/>
          <p:cNvSpPr/>
          <p:nvPr/>
        </p:nvSpPr>
        <p:spPr>
          <a:xfrm>
            <a:off x="685800" y="2450592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B786E"/>
                </a:solidFill>
                <a:latin typeface="Garamond"/>
              </a:rPr>
              <a:t>Les composants sont pensés pour s’interfacer avec une institution financière et un PSP.</a:t>
            </a:r>
            <a:endParaRPr lang="en-US" sz="1500" dirty="0">
              <a:latin typeface="Garamond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822960" y="3098800"/>
            <a:ext cx="1600200" cy="1143000"/>
          </a:xfrm>
          <a:prstGeom prst="roundRect">
            <a:avLst>
              <a:gd name="adj" fmla="val 6400"/>
            </a:avLst>
          </a:prstGeom>
          <a:solidFill>
            <a:srgbClr val="FFFDF8"/>
          </a:solidFill>
          <a:ln w="12700">
            <a:solidFill>
              <a:srgbClr val="DFE7E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0120" y="3281680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1712"/>
                </a:solidFill>
                <a:latin typeface="Garamond"/>
              </a:rPr>
              <a:t>Mobile App</a:t>
            </a:r>
            <a:endParaRPr lang="en-US" sz="1250" dirty="0">
              <a:latin typeface="Garamond"/>
            </a:endParaRPr>
          </a:p>
        </p:txBody>
      </p:sp>
      <p:sp>
        <p:nvSpPr>
          <p:cNvPr id="12" name="Text 9"/>
          <p:cNvSpPr/>
          <p:nvPr/>
        </p:nvSpPr>
        <p:spPr>
          <a:xfrm>
            <a:off x="960120" y="360172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B786E"/>
                </a:solidFill>
                <a:latin typeface="Garamond"/>
              </a:rPr>
              <a:t>KOWO Android</a:t>
            </a:r>
            <a:endParaRPr lang="en-US" sz="870" dirty="0">
              <a:latin typeface="Garamond"/>
            </a:endParaRPr>
          </a:p>
          <a:p>
            <a:pPr marL="0" indent="0">
              <a:buNone/>
            </a:pPr>
            <a:r>
              <a:rPr lang="en-US" sz="870" dirty="0">
                <a:solidFill>
                  <a:srgbClr val="6B786E"/>
                </a:solidFill>
                <a:latin typeface="Garamond"/>
              </a:rPr>
              <a:t>UX, groupes, notifications</a:t>
            </a:r>
            <a:endParaRPr lang="en-US" sz="870" dirty="0">
              <a:latin typeface="Garamond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2487168" y="3665728"/>
            <a:ext cx="347472" cy="0"/>
          </a:xfrm>
          <a:prstGeom prst="line">
            <a:avLst/>
          </a:prstGeom>
          <a:noFill/>
          <a:ln w="12700">
            <a:solidFill>
              <a:srgbClr val="FFC323"/>
            </a:solidFill>
            <a:prstDash val="solid"/>
            <a:headEnd type="none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2926080" y="3098800"/>
            <a:ext cx="1600200" cy="1143000"/>
          </a:xfrm>
          <a:prstGeom prst="roundRect">
            <a:avLst>
              <a:gd name="adj" fmla="val 6400"/>
            </a:avLst>
          </a:prstGeom>
          <a:solidFill>
            <a:srgbClr val="FFFDF8"/>
          </a:solidFill>
          <a:ln w="12700">
            <a:solidFill>
              <a:srgbClr val="DFE7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063240" y="3281680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1712"/>
                </a:solidFill>
                <a:latin typeface="Garamond"/>
              </a:rPr>
              <a:t>Backend</a:t>
            </a:r>
            <a:endParaRPr lang="en-US" sz="1250" dirty="0">
              <a:latin typeface="Garamond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3063240" y="360172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B786E"/>
                </a:solidFill>
                <a:latin typeface="Garamond"/>
              </a:rPr>
              <a:t>Render API</a:t>
            </a:r>
            <a:endParaRPr lang="en-US" sz="870" dirty="0">
              <a:latin typeface="Garamond"/>
            </a:endParaRPr>
          </a:p>
          <a:p>
            <a:pPr marL="0" indent="0">
              <a:buNone/>
            </a:pPr>
            <a:r>
              <a:rPr lang="en-US" sz="870" dirty="0">
                <a:solidFill>
                  <a:srgbClr val="6B786E"/>
                </a:solidFill>
                <a:latin typeface="Garamond"/>
              </a:rPr>
              <a:t>Business rules &amp; orchestration</a:t>
            </a:r>
            <a:endParaRPr lang="en-US" sz="870" dirty="0">
              <a:latin typeface="Garamond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4590288" y="3665728"/>
            <a:ext cx="347472" cy="0"/>
          </a:xfrm>
          <a:prstGeom prst="line">
            <a:avLst/>
          </a:prstGeom>
          <a:noFill/>
          <a:ln w="12700">
            <a:solidFill>
              <a:srgbClr val="FFC323"/>
            </a:solidFill>
            <a:prstDash val="solid"/>
            <a:headEnd type="none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5029200" y="3098800"/>
            <a:ext cx="1600200" cy="1143000"/>
          </a:xfrm>
          <a:prstGeom prst="roundRect">
            <a:avLst>
              <a:gd name="adj" fmla="val 6400"/>
            </a:avLst>
          </a:prstGeom>
          <a:solidFill>
            <a:srgbClr val="FFFDF8"/>
          </a:solidFill>
          <a:ln w="12700">
            <a:solidFill>
              <a:srgbClr val="DFE7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166360" y="3281680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1712"/>
                </a:solidFill>
                <a:latin typeface="Garamond"/>
              </a:rPr>
              <a:t>Data</a:t>
            </a:r>
            <a:endParaRPr lang="en-US" sz="1250" dirty="0">
              <a:latin typeface="Garamond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5166360" y="360172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B786E"/>
                </a:solidFill>
                <a:latin typeface="Garamond"/>
              </a:rPr>
              <a:t>Supabase</a:t>
            </a:r>
            <a:endParaRPr lang="en-US" sz="870" dirty="0">
              <a:latin typeface="Garamond"/>
            </a:endParaRPr>
          </a:p>
          <a:p>
            <a:pPr marL="0" indent="0">
              <a:buNone/>
            </a:pPr>
            <a:r>
              <a:rPr lang="en-US" sz="870" dirty="0">
                <a:solidFill>
                  <a:srgbClr val="6B786E"/>
                </a:solidFill>
                <a:latin typeface="Garamond"/>
              </a:rPr>
              <a:t>Users, groups, histories</a:t>
            </a:r>
            <a:endParaRPr lang="en-US" sz="870" dirty="0">
              <a:latin typeface="Garamond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6693408" y="3665728"/>
            <a:ext cx="347472" cy="0"/>
          </a:xfrm>
          <a:prstGeom prst="line">
            <a:avLst/>
          </a:prstGeom>
          <a:noFill/>
          <a:ln w="12700">
            <a:solidFill>
              <a:srgbClr val="FFC323"/>
            </a:solidFill>
            <a:prstDash val="solid"/>
            <a:headEnd type="none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7132320" y="3098800"/>
            <a:ext cx="1600200" cy="1143000"/>
          </a:xfrm>
          <a:prstGeom prst="roundRect">
            <a:avLst>
              <a:gd name="adj" fmla="val 6400"/>
            </a:avLst>
          </a:prstGeom>
          <a:solidFill>
            <a:srgbClr val="FFFDF8"/>
          </a:solidFill>
          <a:ln w="12700">
            <a:solidFill>
              <a:srgbClr val="DFE7E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269480" y="3281680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1712"/>
                </a:solidFill>
                <a:latin typeface="Garamond"/>
              </a:rPr>
              <a:t>Security</a:t>
            </a:r>
            <a:endParaRPr lang="en-US" sz="1250" dirty="0">
              <a:latin typeface="Garamond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7269480" y="360172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B786E"/>
                </a:solidFill>
                <a:latin typeface="Garamond"/>
              </a:rPr>
              <a:t>Sumsub + Twilio</a:t>
            </a:r>
            <a:endParaRPr lang="en-US" sz="870" dirty="0">
              <a:latin typeface="Garamond"/>
            </a:endParaRPr>
          </a:p>
          <a:p>
            <a:pPr marL="0" indent="0">
              <a:buNone/>
            </a:pPr>
            <a:r>
              <a:rPr lang="en-US" sz="870" dirty="0">
                <a:solidFill>
                  <a:srgbClr val="6B786E"/>
                </a:solidFill>
                <a:latin typeface="Garamond"/>
              </a:rPr>
              <a:t>KYC &amp; OTP</a:t>
            </a:r>
            <a:endParaRPr lang="en-US" sz="870" dirty="0">
              <a:latin typeface="Garamond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8796528" y="3665728"/>
            <a:ext cx="347472" cy="0"/>
          </a:xfrm>
          <a:prstGeom prst="line">
            <a:avLst/>
          </a:prstGeom>
          <a:noFill/>
          <a:ln w="12700">
            <a:solidFill>
              <a:srgbClr val="FFC323"/>
            </a:solidFill>
            <a:prstDash val="solid"/>
            <a:headEnd type="none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9235440" y="3098800"/>
            <a:ext cx="1600200" cy="1143000"/>
          </a:xfrm>
          <a:prstGeom prst="roundRect">
            <a:avLst>
              <a:gd name="adj" fmla="val 6400"/>
            </a:avLst>
          </a:prstGeom>
          <a:solidFill>
            <a:srgbClr val="123B2B"/>
          </a:solidFill>
          <a:ln w="12700">
            <a:solidFill>
              <a:srgbClr val="123B2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372600" y="3281680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Garamond"/>
              </a:rPr>
              <a:t>Partner</a:t>
            </a:r>
            <a:endParaRPr lang="en-US" sz="1250" dirty="0">
              <a:latin typeface="Garamond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9372600" y="360172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C7D8CF"/>
                </a:solidFill>
                <a:latin typeface="Garamond"/>
              </a:rPr>
              <a:t>Institution + PSP</a:t>
            </a:r>
            <a:endParaRPr lang="en-US" sz="870" dirty="0">
              <a:latin typeface="Garamond"/>
            </a:endParaRPr>
          </a:p>
          <a:p>
            <a:pPr marL="0" indent="0">
              <a:buNone/>
            </a:pPr>
            <a:r>
              <a:rPr lang="en-US" sz="870" dirty="0">
                <a:solidFill>
                  <a:srgbClr val="C7D8CF"/>
                </a:solidFill>
                <a:latin typeface="Garamond"/>
              </a:rPr>
              <a:t>Wallets &amp; payouts</a:t>
            </a:r>
            <a:endParaRPr lang="en-US" sz="870" dirty="0">
              <a:latin typeface="Garamond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1280160" y="512064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3B2B"/>
                </a:solidFill>
                <a:latin typeface="Garamond"/>
              </a:rPr>
              <a:t>Objectif : éviter que KOWO ne devienne détenteur des fonds. La technologie orchestre, le partenaire réglementé détient et exécute.</a:t>
            </a:r>
            <a:endParaRPr lang="en-US" sz="1400" dirty="0">
              <a:latin typeface="Garamond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658368" y="6473952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86E"/>
                </a:solidFill>
                <a:latin typeface="Garamond"/>
              </a:rPr>
              <a:t>© 2026 KOWO · contact@getkowo.com · getkowo.com</a:t>
            </a:r>
            <a:endParaRPr lang="en-US" sz="750" dirty="0">
              <a:latin typeface="Garamond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1384280" cy="576072"/>
          </a:xfrm>
          <a:prstGeom prst="roundRect">
            <a:avLst>
              <a:gd name="adj" fmla="val 12698"/>
            </a:avLst>
          </a:prstGeom>
          <a:solidFill>
            <a:srgbClr val="FFFDF8">
              <a:alpha val="94000"/>
            </a:srgbClr>
          </a:solidFill>
          <a:ln w="12700">
            <a:solidFill>
              <a:srgbClr val="DFE7E1">
                <a:alpha val="35000"/>
              </a:srgbClr>
            </a:solidFill>
            <a:prstDash val="solid"/>
          </a:ln>
        </p:spPr>
      </p:sp>
      <p:pic>
        <p:nvPicPr>
          <p:cNvPr id="3" name="Image 0" descr="/mnt/data/kowo-institutional-partnership-v2/assets/kowo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384048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0120" y="400159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23B2B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KOWO</a:t>
            </a:r>
            <a:endParaRPr lang="en-US" sz="1000" dirty="0">
              <a:latin typeface="Garamond"/>
            </a:endParaRPr>
          </a:p>
        </p:txBody>
      </p:sp>
      <p:sp>
        <p:nvSpPr>
          <p:cNvPr id="5" name="Text 2"/>
          <p:cNvSpPr/>
          <p:nvPr/>
        </p:nvSpPr>
        <p:spPr>
          <a:xfrm>
            <a:off x="8503920" y="3657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86E"/>
                </a:solidFill>
                <a:latin typeface="Garamond"/>
              </a:rPr>
              <a:t>Institutional Partnership Brief</a:t>
            </a:r>
            <a:endParaRPr lang="en-US" sz="800" dirty="0">
              <a:latin typeface="Garamond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58368" y="914400"/>
            <a:ext cx="1783080" cy="347472"/>
          </a:xfrm>
          <a:prstGeom prst="roundRect">
            <a:avLst>
              <a:gd name="adj" fmla="val 13158"/>
            </a:avLst>
          </a:prstGeom>
          <a:solidFill>
            <a:srgbClr val="FFFDF8"/>
          </a:solidFill>
          <a:ln w="12700">
            <a:solidFill>
              <a:srgbClr val="DFE7E1">
                <a:alpha val="75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996696"/>
            <a:ext cx="1563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23B2B"/>
                </a:solidFill>
                <a:latin typeface="Garamond"/>
              </a:rPr>
              <a:t>09 · SIGNAL MARCHÉ</a:t>
            </a:r>
            <a:endParaRPr lang="en-US" sz="850" dirty="0">
              <a:latin typeface="Garamond"/>
            </a:endParaRPr>
          </a:p>
        </p:txBody>
      </p:sp>
      <p:sp>
        <p:nvSpPr>
          <p:cNvPr id="8" name="Text 5"/>
          <p:cNvSpPr/>
          <p:nvPr/>
        </p:nvSpPr>
        <p:spPr>
          <a:xfrm>
            <a:off x="658368" y="1335024"/>
            <a:ext cx="5669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0E1712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Des acteurs comparables confirment la demande.</a:t>
            </a:r>
            <a:endParaRPr lang="en-US" sz="3600" dirty="0">
              <a:latin typeface="Garamond"/>
            </a:endParaRPr>
          </a:p>
        </p:txBody>
      </p:sp>
      <p:sp>
        <p:nvSpPr>
          <p:cNvPr id="9" name="Text 6"/>
          <p:cNvSpPr/>
          <p:nvPr/>
        </p:nvSpPr>
        <p:spPr>
          <a:xfrm>
            <a:off x="685800" y="2450592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B786E"/>
                </a:solidFill>
                <a:latin typeface="Garamond"/>
              </a:rPr>
              <a:t>Les premières solutions d’épargne numérique en Afrique de l’Ouest valident l’existence d’un besoin utilisateur fort.</a:t>
            </a:r>
            <a:endParaRPr lang="en-US" sz="1500" dirty="0">
              <a:latin typeface="Garamond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914400" y="3384006"/>
            <a:ext cx="2926080" cy="1417320"/>
          </a:xfrm>
          <a:prstGeom prst="roundRect">
            <a:avLst>
              <a:gd name="adj" fmla="val 6452"/>
            </a:avLst>
          </a:prstGeom>
          <a:solidFill>
            <a:srgbClr val="FFFDF8"/>
          </a:solidFill>
          <a:ln w="12700">
            <a:solidFill>
              <a:srgbClr val="DFE7E1">
                <a:alpha val="95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24712" y="358517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Garamond"/>
              </a:rPr>
              <a:t>📊</a:t>
            </a:r>
            <a:endParaRPr lang="en-US" sz="1700" dirty="0">
              <a:latin typeface="Garamond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508760" y="3585174"/>
            <a:ext cx="2130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1712"/>
                </a:solidFill>
                <a:latin typeface="Garamond"/>
              </a:rPr>
              <a:t>Ce que le marché montre</a:t>
            </a:r>
            <a:endParaRPr lang="en-US" sz="1500" dirty="0">
              <a:latin typeface="Garamond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1124712" y="4024086"/>
            <a:ext cx="384048" cy="32004"/>
          </a:xfrm>
          <a:prstGeom prst="rect">
            <a:avLst/>
          </a:prstGeom>
          <a:solidFill>
            <a:srgbClr val="8DFFD3"/>
          </a:solidFill>
          <a:ln w="12700">
            <a:solidFill>
              <a:srgbClr val="8DFFD3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24712" y="4161246"/>
            <a:ext cx="250545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Les utilisateurs adoptent déjà des solutions digitales autour de l’épargne, des objectifs financiers et des communautés.</a:t>
            </a:r>
            <a:endParaRPr lang="en-US" sz="1050" dirty="0">
              <a:latin typeface="Garamond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4617720" y="3384006"/>
            <a:ext cx="2926080" cy="1417320"/>
          </a:xfrm>
          <a:prstGeom prst="roundRect">
            <a:avLst>
              <a:gd name="adj" fmla="val 6452"/>
            </a:avLst>
          </a:prstGeom>
          <a:solidFill>
            <a:srgbClr val="FFFDF8"/>
          </a:solidFill>
          <a:ln w="12700">
            <a:solidFill>
              <a:srgbClr val="DFE7E1">
                <a:alpha val="9500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28032" y="358517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Garamond"/>
              </a:rPr>
              <a:t>🌍</a:t>
            </a:r>
            <a:endParaRPr lang="en-US" sz="1700" dirty="0">
              <a:latin typeface="Garamond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5212080" y="3585174"/>
            <a:ext cx="2130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1712"/>
                </a:solidFill>
                <a:latin typeface="Garamond"/>
              </a:rPr>
              <a:t>Ce que KOWO ajoute</a:t>
            </a:r>
            <a:endParaRPr lang="en-US" sz="1500" dirty="0">
              <a:latin typeface="Garamond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4828032" y="4024086"/>
            <a:ext cx="384048" cy="32004"/>
          </a:xfrm>
          <a:prstGeom prst="rect">
            <a:avLst/>
          </a:prstGeom>
          <a:solidFill>
            <a:srgbClr val="123B2B"/>
          </a:solidFill>
          <a:ln w="12700">
            <a:solidFill>
              <a:srgbClr val="123B2B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28032" y="4161246"/>
            <a:ext cx="250545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Une approche centrée sur les communautés, la diaspora, la documentation partenaire et l’architecture réglementaire.</a:t>
            </a:r>
            <a:endParaRPr lang="en-US" sz="1050" dirty="0">
              <a:latin typeface="Garamond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8321040" y="3384006"/>
            <a:ext cx="2926080" cy="1417320"/>
          </a:xfrm>
          <a:prstGeom prst="roundRect">
            <a:avLst>
              <a:gd name="adj" fmla="val 6452"/>
            </a:avLst>
          </a:prstGeom>
          <a:solidFill>
            <a:srgbClr val="FFFDF8"/>
          </a:solidFill>
          <a:ln w="12700">
            <a:solidFill>
              <a:srgbClr val="DFE7E1">
                <a:alpha val="9500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531352" y="358517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Garamond"/>
              </a:rPr>
              <a:t>🤝</a:t>
            </a:r>
            <a:endParaRPr lang="en-US" sz="1700" dirty="0">
              <a:latin typeface="Garamond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8915400" y="3585174"/>
            <a:ext cx="2130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1712"/>
                </a:solidFill>
                <a:latin typeface="Garamond"/>
              </a:rPr>
              <a:t>Ce que le partenaire gagne</a:t>
            </a:r>
            <a:endParaRPr lang="en-US" sz="1500" dirty="0">
              <a:latin typeface="Garamond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8531352" y="4024086"/>
            <a:ext cx="384048" cy="32004"/>
          </a:xfrm>
          <a:prstGeom prst="rect">
            <a:avLst/>
          </a:prstGeom>
          <a:solidFill>
            <a:srgbClr val="FFC323"/>
          </a:solidFill>
          <a:ln w="12700">
            <a:solidFill>
              <a:srgbClr val="FFC323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531352" y="4161246"/>
            <a:ext cx="250545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Une interface de croissance, de collecte digitale et de distribution de services financiers sous cadre réglementé.</a:t>
            </a:r>
            <a:endParaRPr lang="en-US" sz="1050" dirty="0">
              <a:latin typeface="Garamond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658368" y="6473952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86E"/>
                </a:solidFill>
                <a:latin typeface="Garamond"/>
              </a:rPr>
              <a:t>© 2026 KOWO · contact@getkowo.com · getkowo.com</a:t>
            </a:r>
            <a:endParaRPr lang="en-US" sz="750" dirty="0">
              <a:latin typeface="Garamond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5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574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006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722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5438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154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870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6586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6858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20574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34290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8006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61722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256032"/>
            <a:ext cx="11384280" cy="576072"/>
          </a:xfrm>
          <a:prstGeom prst="roundRect">
            <a:avLst>
              <a:gd name="adj" fmla="val 12698"/>
            </a:avLst>
          </a:prstGeom>
          <a:solidFill>
            <a:srgbClr val="F6F1E7">
              <a:alpha val="94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32" name="Image 0" descr="/mnt/data/kowo-institutional-partnership-v2/assets/kowo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384048"/>
            <a:ext cx="292608" cy="29260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960120" y="400159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23B2B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KOWO</a:t>
            </a:r>
            <a:endParaRPr lang="en-US" sz="1000" dirty="0">
              <a:latin typeface="Garamond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8503920" y="3657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23B2B"/>
                </a:solidFill>
                <a:latin typeface="Garamond"/>
              </a:rPr>
              <a:t>Institutional Partnership Brief</a:t>
            </a:r>
            <a:endParaRPr lang="en-US" sz="800" dirty="0">
              <a:latin typeface="Garamond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658368" y="914400"/>
            <a:ext cx="1783080" cy="347472"/>
          </a:xfrm>
          <a:prstGeom prst="roundRect">
            <a:avLst>
              <a:gd name="adj" fmla="val 13158"/>
            </a:avLst>
          </a:prstGeom>
          <a:solidFill>
            <a:srgbClr val="1C563E"/>
          </a:solidFill>
          <a:ln w="12700">
            <a:solidFill>
              <a:srgbClr val="8DFFD3">
                <a:alpha val="75000"/>
              </a:srgbClr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68096" y="996696"/>
            <a:ext cx="1563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DFFD3"/>
                </a:solidFill>
                <a:latin typeface="Garamond"/>
              </a:rPr>
              <a:t>10 · PILOTE PROPOSÉ</a:t>
            </a:r>
            <a:endParaRPr lang="en-US" sz="850" dirty="0">
              <a:latin typeface="Garamond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58368" y="1335024"/>
            <a:ext cx="5669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Commencer petit, contrôler les risques, prouver la valeur.</a:t>
            </a:r>
            <a:endParaRPr lang="en-US" sz="3600" dirty="0">
              <a:latin typeface="Garamond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685800" y="2450592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C7D8CF"/>
                </a:solidFill>
                <a:latin typeface="Garamond"/>
              </a:rPr>
              <a:t>Un pilote encadré permet de tester les flux, la conformité et l’adoption avant extension.</a:t>
            </a:r>
            <a:endParaRPr lang="en-US" sz="1500" dirty="0">
              <a:latin typeface="Garamond"/>
            </a:endParaRPr>
          </a:p>
        </p:txBody>
      </p:sp>
      <p:sp>
        <p:nvSpPr>
          <p:cNvPr id="39" name="Shape 36"/>
          <p:cNvSpPr/>
          <p:nvPr/>
        </p:nvSpPr>
        <p:spPr>
          <a:xfrm>
            <a:off x="822960" y="3429000"/>
            <a:ext cx="2240280" cy="1234440"/>
          </a:xfrm>
          <a:prstGeom prst="roundRect">
            <a:avLst>
              <a:gd name="adj" fmla="val 5926"/>
            </a:avLst>
          </a:prstGeom>
          <a:solidFill>
            <a:srgbClr val="8DFFD3"/>
          </a:solidFill>
          <a:ln w="12700">
            <a:solidFill>
              <a:srgbClr val="8DFFD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987552" y="36118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7150F"/>
                </a:solidFill>
                <a:latin typeface="Garamond"/>
              </a:rPr>
              <a:t>1</a:t>
            </a:r>
            <a:endParaRPr lang="en-US" sz="1800" dirty="0">
              <a:latin typeface="Garamond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1389888" y="363931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7150F"/>
                </a:solidFill>
                <a:latin typeface="Garamond"/>
              </a:rPr>
              <a:t>Cadrage</a:t>
            </a:r>
            <a:endParaRPr lang="en-US" sz="1400" dirty="0">
              <a:latin typeface="Garamond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1005840" y="397764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7150F"/>
                </a:solidFill>
                <a:latin typeface="Garamond"/>
              </a:rPr>
              <a:t>Validation modèle, responsabilités, documents et objectifs.</a:t>
            </a:r>
            <a:endParaRPr lang="en-US" sz="880" dirty="0">
              <a:latin typeface="Garamond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3611880" y="3429000"/>
            <a:ext cx="2240280" cy="1234440"/>
          </a:xfrm>
          <a:prstGeom prst="roundRect">
            <a:avLst>
              <a:gd name="adj" fmla="val 5926"/>
            </a:avLst>
          </a:prstGeom>
          <a:solidFill>
            <a:srgbClr val="1C563E"/>
          </a:solidFill>
          <a:ln w="12700">
            <a:solidFill>
              <a:srgbClr val="1C563E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3776472" y="36118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DFFD3"/>
                </a:solidFill>
                <a:latin typeface="Garamond"/>
              </a:rPr>
              <a:t>2</a:t>
            </a:r>
            <a:endParaRPr lang="en-US" sz="1800" dirty="0">
              <a:latin typeface="Garamond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4178808" y="363931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/>
              </a:rPr>
              <a:t>Intégration</a:t>
            </a:r>
            <a:endParaRPr lang="en-US" sz="1400" dirty="0">
              <a:latin typeface="Garamond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3794760" y="397764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C7D8CF"/>
                </a:solidFill>
                <a:latin typeface="Garamond"/>
              </a:rPr>
              <a:t>API, wallets, KYC, tests de paiement et réconciliation.</a:t>
            </a:r>
            <a:endParaRPr lang="en-US" sz="880" dirty="0">
              <a:latin typeface="Garamond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6400800" y="3429000"/>
            <a:ext cx="2240280" cy="1234440"/>
          </a:xfrm>
          <a:prstGeom prst="roundRect">
            <a:avLst>
              <a:gd name="adj" fmla="val 5926"/>
            </a:avLst>
          </a:prstGeom>
          <a:solidFill>
            <a:srgbClr val="1C563E"/>
          </a:solidFill>
          <a:ln w="12700">
            <a:solidFill>
              <a:srgbClr val="1C563E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565392" y="36118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DFFD3"/>
                </a:solidFill>
                <a:latin typeface="Garamond"/>
              </a:rPr>
              <a:t>3</a:t>
            </a:r>
            <a:endParaRPr lang="en-US" sz="1800" dirty="0">
              <a:latin typeface="Garamond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6967728" y="363931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/>
              </a:rPr>
              <a:t>Pilote</a:t>
            </a:r>
            <a:endParaRPr lang="en-US" sz="1400" dirty="0">
              <a:latin typeface="Garamond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6583680" y="397764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C7D8CF"/>
                </a:solidFill>
                <a:latin typeface="Garamond"/>
              </a:rPr>
              <a:t>Groupes limités, plafonds de volume, suivi opérationnel.</a:t>
            </a:r>
            <a:endParaRPr lang="en-US" sz="880" dirty="0">
              <a:latin typeface="Garamond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9189720" y="3429000"/>
            <a:ext cx="2240280" cy="1234440"/>
          </a:xfrm>
          <a:prstGeom prst="roundRect">
            <a:avLst>
              <a:gd name="adj" fmla="val 5926"/>
            </a:avLst>
          </a:prstGeom>
          <a:solidFill>
            <a:srgbClr val="1C563E"/>
          </a:solidFill>
          <a:ln w="12700">
            <a:solidFill>
              <a:srgbClr val="1C563E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9354312" y="36118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DFFD3"/>
                </a:solidFill>
                <a:latin typeface="Garamond"/>
              </a:rPr>
              <a:t>4</a:t>
            </a:r>
            <a:endParaRPr lang="en-US" sz="1800" dirty="0">
              <a:latin typeface="Garamond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9756648" y="363931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/>
              </a:rPr>
              <a:t>Scale</a:t>
            </a:r>
            <a:endParaRPr lang="en-US" sz="1400" dirty="0">
              <a:latin typeface="Garamond"/>
            </a:endParaRPr>
          </a:p>
        </p:txBody>
      </p:sp>
      <p:sp>
        <p:nvSpPr>
          <p:cNvPr id="54" name="Text 51"/>
          <p:cNvSpPr/>
          <p:nvPr/>
        </p:nvSpPr>
        <p:spPr>
          <a:xfrm>
            <a:off x="9372600" y="397764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C7D8CF"/>
                </a:solidFill>
                <a:latin typeface="Garamond"/>
              </a:rPr>
              <a:t>Extension progressive selon résultats et validation conformité.</a:t>
            </a:r>
            <a:endParaRPr lang="en-US" sz="880" dirty="0">
              <a:latin typeface="Garamond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658368" y="6473952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7AA"/>
                </a:solidFill>
                <a:latin typeface="Garamond"/>
              </a:rPr>
              <a:t>© 2026 KOWO · contact@getkowo.com · getkowo.com</a:t>
            </a:r>
            <a:endParaRPr lang="en-US" sz="750" dirty="0">
              <a:latin typeface="Garamond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1384280" cy="576072"/>
          </a:xfrm>
          <a:prstGeom prst="roundRect">
            <a:avLst>
              <a:gd name="adj" fmla="val 12698"/>
            </a:avLst>
          </a:prstGeom>
          <a:solidFill>
            <a:srgbClr val="FFFDF8">
              <a:alpha val="94000"/>
            </a:srgbClr>
          </a:solidFill>
          <a:ln w="12700">
            <a:solidFill>
              <a:srgbClr val="DFE7E1">
                <a:alpha val="35000"/>
              </a:srgbClr>
            </a:solidFill>
            <a:prstDash val="solid"/>
          </a:ln>
        </p:spPr>
      </p:sp>
      <p:pic>
        <p:nvPicPr>
          <p:cNvPr id="3" name="Image 0" descr="/mnt/data/kowo-institutional-partnership-v2/assets/kowo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384048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0120" y="400159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23B2B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KOWO</a:t>
            </a:r>
            <a:endParaRPr lang="en-US" sz="1000" dirty="0">
              <a:latin typeface="Garamond"/>
            </a:endParaRPr>
          </a:p>
        </p:txBody>
      </p:sp>
      <p:sp>
        <p:nvSpPr>
          <p:cNvPr id="5" name="Text 2"/>
          <p:cNvSpPr/>
          <p:nvPr/>
        </p:nvSpPr>
        <p:spPr>
          <a:xfrm>
            <a:off x="8503920" y="3657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86E"/>
                </a:solidFill>
                <a:latin typeface="Garamond"/>
              </a:rPr>
              <a:t>Institutional Partnership Brief</a:t>
            </a:r>
            <a:endParaRPr lang="en-US" sz="800" dirty="0">
              <a:latin typeface="Garamond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58368" y="914400"/>
            <a:ext cx="1783080" cy="347472"/>
          </a:xfrm>
          <a:prstGeom prst="roundRect">
            <a:avLst>
              <a:gd name="adj" fmla="val 13158"/>
            </a:avLst>
          </a:prstGeom>
          <a:solidFill>
            <a:srgbClr val="FFFDF8"/>
          </a:solidFill>
          <a:ln w="12700">
            <a:solidFill>
              <a:srgbClr val="DFE7E1">
                <a:alpha val="75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996696"/>
            <a:ext cx="1563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23B2B"/>
                </a:solidFill>
                <a:latin typeface="Garamond"/>
              </a:rPr>
              <a:t>11 · ROADMAP</a:t>
            </a:r>
            <a:endParaRPr lang="en-US" sz="850" dirty="0">
              <a:latin typeface="Garamond"/>
            </a:endParaRPr>
          </a:p>
        </p:txBody>
      </p:sp>
      <p:sp>
        <p:nvSpPr>
          <p:cNvPr id="8" name="Text 5"/>
          <p:cNvSpPr/>
          <p:nvPr/>
        </p:nvSpPr>
        <p:spPr>
          <a:xfrm>
            <a:off x="658368" y="1335024"/>
            <a:ext cx="5669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0E1712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Une trajectoire progressive : Bénin, UEMOA, diaspora.</a:t>
            </a:r>
            <a:endParaRPr lang="en-US" sz="3600" dirty="0">
              <a:latin typeface="Garamond"/>
            </a:endParaRPr>
          </a:p>
        </p:txBody>
      </p:sp>
      <p:sp>
        <p:nvSpPr>
          <p:cNvPr id="9" name="Text 6"/>
          <p:cNvSpPr/>
          <p:nvPr/>
        </p:nvSpPr>
        <p:spPr>
          <a:xfrm>
            <a:off x="685800" y="2450592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B786E"/>
                </a:solidFill>
                <a:latin typeface="Garamond"/>
              </a:rPr>
              <a:t>La priorité est de bâtir un modèle conforme et reproductible avant l’expansion.</a:t>
            </a:r>
            <a:endParaRPr lang="en-US" sz="1500" dirty="0">
              <a:latin typeface="Garamond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960120" y="3323771"/>
            <a:ext cx="2834640" cy="1828800"/>
          </a:xfrm>
          <a:prstGeom prst="roundRect">
            <a:avLst>
              <a:gd name="adj" fmla="val 5000"/>
            </a:avLst>
          </a:prstGeom>
          <a:solidFill>
            <a:srgbClr val="123B2B"/>
          </a:solidFill>
          <a:ln w="12700">
            <a:solidFill>
              <a:srgbClr val="123B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88720" y="3643811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8DFFD3"/>
                </a:solidFill>
                <a:latin typeface="Garamond"/>
              </a:rPr>
              <a:t>2026</a:t>
            </a:r>
            <a:endParaRPr lang="en-US" sz="2200" dirty="0">
              <a:latin typeface="Garamond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188720" y="4192451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Garamond"/>
              </a:rPr>
              <a:t>Partenaire institutionnel</a:t>
            </a:r>
            <a:endParaRPr lang="en-US" sz="1250" dirty="0">
              <a:latin typeface="Garamond"/>
            </a:endParaRPr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Garamond"/>
              </a:rPr>
              <a:t>Pilote contrôlé</a:t>
            </a:r>
            <a:endParaRPr lang="en-US" sz="1250" dirty="0">
              <a:latin typeface="Garamond"/>
            </a:endParaRPr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Garamond"/>
              </a:rPr>
              <a:t>Premiers groupes</a:t>
            </a:r>
            <a:endParaRPr lang="en-US" sz="1250" dirty="0">
              <a:latin typeface="Garamond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3867912" y="4238171"/>
            <a:ext cx="658368" cy="0"/>
          </a:xfrm>
          <a:prstGeom prst="line">
            <a:avLst/>
          </a:prstGeom>
          <a:noFill/>
          <a:ln w="12700">
            <a:solidFill>
              <a:srgbClr val="FFC323"/>
            </a:solidFill>
            <a:prstDash val="solid"/>
            <a:headEnd type="none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663440" y="3323771"/>
            <a:ext cx="2834640" cy="1828800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12700">
            <a:solidFill>
              <a:srgbClr val="DFE7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892040" y="3643811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3B2B"/>
                </a:solidFill>
                <a:latin typeface="Garamond"/>
              </a:rPr>
              <a:t>2027</a:t>
            </a:r>
            <a:endParaRPr lang="en-US" sz="2200" dirty="0">
              <a:latin typeface="Garamond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4892040" y="4192451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E1712"/>
                </a:solidFill>
                <a:latin typeface="Garamond"/>
              </a:rPr>
              <a:t>Extension Bénin</a:t>
            </a:r>
            <a:endParaRPr lang="en-US" sz="1250" dirty="0">
              <a:latin typeface="Garamond"/>
            </a:endParaRPr>
          </a:p>
          <a:p>
            <a:pPr marL="0" indent="0">
              <a:buNone/>
            </a:pPr>
            <a:r>
              <a:rPr lang="en-US" sz="1250" dirty="0">
                <a:solidFill>
                  <a:srgbClr val="0E1712"/>
                </a:solidFill>
                <a:latin typeface="Garamond"/>
              </a:rPr>
              <a:t>Partenariats microfinance</a:t>
            </a:r>
            <a:endParaRPr lang="en-US" sz="1250" dirty="0">
              <a:latin typeface="Garamond"/>
            </a:endParaRPr>
          </a:p>
          <a:p>
            <a:pPr marL="0" indent="0">
              <a:buNone/>
            </a:pPr>
            <a:r>
              <a:rPr lang="en-US" sz="1250" dirty="0">
                <a:solidFill>
                  <a:srgbClr val="0E1712"/>
                </a:solidFill>
                <a:latin typeface="Garamond"/>
              </a:rPr>
              <a:t>Version iOS</a:t>
            </a:r>
            <a:endParaRPr lang="en-US" sz="1250" dirty="0">
              <a:latin typeface="Garamond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7571232" y="4238171"/>
            <a:ext cx="658368" cy="0"/>
          </a:xfrm>
          <a:prstGeom prst="line">
            <a:avLst/>
          </a:prstGeom>
          <a:noFill/>
          <a:ln w="12700">
            <a:solidFill>
              <a:srgbClr val="FFC323"/>
            </a:solidFill>
            <a:prstDash val="solid"/>
            <a:headEnd type="none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8366760" y="3323771"/>
            <a:ext cx="2834640" cy="1828800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12700">
            <a:solidFill>
              <a:srgbClr val="DFE7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595360" y="3643811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3B2B"/>
                </a:solidFill>
                <a:latin typeface="Garamond"/>
              </a:rPr>
              <a:t>2028</a:t>
            </a:r>
            <a:endParaRPr lang="en-US" sz="2200" dirty="0">
              <a:latin typeface="Garamond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595360" y="4192451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E1712"/>
                </a:solidFill>
                <a:latin typeface="Garamond"/>
              </a:rPr>
              <a:t>UEMOA</a:t>
            </a:r>
            <a:endParaRPr lang="en-US" sz="1250" dirty="0">
              <a:latin typeface="Garamond"/>
            </a:endParaRPr>
          </a:p>
          <a:p>
            <a:pPr marL="0" indent="0">
              <a:buNone/>
            </a:pPr>
            <a:r>
              <a:rPr lang="en-US" sz="1250" dirty="0">
                <a:solidFill>
                  <a:srgbClr val="0E1712"/>
                </a:solidFill>
                <a:latin typeface="Garamond"/>
              </a:rPr>
              <a:t>Diaspora</a:t>
            </a:r>
            <a:endParaRPr lang="en-US" sz="1250" dirty="0">
              <a:latin typeface="Garamond"/>
            </a:endParaRPr>
          </a:p>
          <a:p>
            <a:pPr marL="0" indent="0">
              <a:buNone/>
            </a:pPr>
            <a:r>
              <a:rPr lang="en-US" sz="1250" dirty="0">
                <a:solidFill>
                  <a:srgbClr val="0E1712"/>
                </a:solidFill>
                <a:latin typeface="Garamond"/>
              </a:rPr>
              <a:t>Services financiers via partenaires agréés</a:t>
            </a:r>
            <a:endParaRPr lang="en-US" sz="1250" dirty="0">
              <a:latin typeface="Garamond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658368" y="6473952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86E"/>
                </a:solidFill>
                <a:latin typeface="Garamond"/>
              </a:rPr>
              <a:t>© 2026 KOWO · contact@getkowo.com · getkowo.com</a:t>
            </a:r>
            <a:endParaRPr lang="en-US" sz="750" dirty="0">
              <a:latin typeface="Garamond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1384280" cy="576072"/>
          </a:xfrm>
          <a:prstGeom prst="roundRect">
            <a:avLst>
              <a:gd name="adj" fmla="val 12698"/>
            </a:avLst>
          </a:prstGeom>
          <a:solidFill>
            <a:srgbClr val="FFFDF8">
              <a:alpha val="94000"/>
            </a:srgbClr>
          </a:solidFill>
          <a:ln w="12700">
            <a:solidFill>
              <a:srgbClr val="DFE7E1">
                <a:alpha val="35000"/>
              </a:srgbClr>
            </a:solidFill>
            <a:prstDash val="solid"/>
          </a:ln>
        </p:spPr>
      </p:sp>
      <p:pic>
        <p:nvPicPr>
          <p:cNvPr id="3" name="Image 0" descr="/mnt/data/kowo-institutional-partnership-v2/assets/kowo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384048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0120" y="39290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23B2B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KOWO</a:t>
            </a:r>
            <a:endParaRPr lang="en-US" sz="1000" dirty="0">
              <a:latin typeface="Garamond"/>
            </a:endParaRPr>
          </a:p>
        </p:txBody>
      </p:sp>
      <p:sp>
        <p:nvSpPr>
          <p:cNvPr id="5" name="Text 2"/>
          <p:cNvSpPr/>
          <p:nvPr/>
        </p:nvSpPr>
        <p:spPr>
          <a:xfrm>
            <a:off x="8503920" y="3657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86E"/>
                </a:solidFill>
                <a:latin typeface="Garamond"/>
              </a:rPr>
              <a:t>Institutional Partnership Brief</a:t>
            </a:r>
            <a:endParaRPr lang="en-US" sz="800" dirty="0">
              <a:latin typeface="Garamond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58368" y="914400"/>
            <a:ext cx="1783080" cy="347472"/>
          </a:xfrm>
          <a:prstGeom prst="roundRect">
            <a:avLst>
              <a:gd name="adj" fmla="val 13158"/>
            </a:avLst>
          </a:prstGeom>
          <a:solidFill>
            <a:srgbClr val="FFFDF8"/>
          </a:solidFill>
          <a:ln w="12700">
            <a:solidFill>
              <a:srgbClr val="DFE7E1">
                <a:alpha val="75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996696"/>
            <a:ext cx="1563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23B2B"/>
                </a:solidFill>
                <a:latin typeface="Garamond"/>
              </a:rPr>
              <a:t>12 · DISCUSSION SOUHAITÉE</a:t>
            </a:r>
            <a:endParaRPr lang="en-US" sz="850" dirty="0">
              <a:latin typeface="Garamond"/>
            </a:endParaRPr>
          </a:p>
        </p:txBody>
      </p:sp>
      <p:sp>
        <p:nvSpPr>
          <p:cNvPr id="8" name="Text 5"/>
          <p:cNvSpPr/>
          <p:nvPr/>
        </p:nvSpPr>
        <p:spPr>
          <a:xfrm>
            <a:off x="658368" y="1335024"/>
            <a:ext cx="5669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0E1712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Ce que nous aimerions explorer avec vous.</a:t>
            </a:r>
            <a:endParaRPr lang="en-US" sz="3600" dirty="0">
              <a:latin typeface="Garamond"/>
            </a:endParaRPr>
          </a:p>
        </p:txBody>
      </p:sp>
      <p:sp>
        <p:nvSpPr>
          <p:cNvPr id="9" name="Text 6"/>
          <p:cNvSpPr/>
          <p:nvPr/>
        </p:nvSpPr>
        <p:spPr>
          <a:xfrm>
            <a:off x="685800" y="2450592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B786E"/>
                </a:solidFill>
                <a:latin typeface="Garamond"/>
              </a:rPr>
              <a:t>L’objectif est d’identifier ensemble le meilleur cadre de partenariat, sans transférer le risque réglementaire vers KOWO.</a:t>
            </a:r>
            <a:endParaRPr lang="en-US" sz="1500" dirty="0">
              <a:latin typeface="Garamond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822960" y="3381829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FFFDF8"/>
          </a:solidFill>
          <a:ln w="12700">
            <a:solidFill>
              <a:srgbClr val="DFE7E1">
                <a:alpha val="95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33272" y="3582997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Garamond"/>
              </a:rPr>
              <a:t>⚖️</a:t>
            </a:r>
            <a:endParaRPr lang="en-US" sz="1700" dirty="0">
              <a:latin typeface="Garamond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417320" y="3582997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1712"/>
                </a:solidFill>
                <a:latin typeface="Garamond"/>
              </a:rPr>
              <a:t>Cadre juridique</a:t>
            </a:r>
            <a:endParaRPr lang="en-US" sz="1500" dirty="0">
              <a:latin typeface="Garamond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1033272" y="4021909"/>
            <a:ext cx="384048" cy="32004"/>
          </a:xfrm>
          <a:prstGeom prst="rect">
            <a:avLst/>
          </a:prstGeom>
          <a:solidFill>
            <a:srgbClr val="123B2B"/>
          </a:solidFill>
          <a:ln w="12700">
            <a:solidFill>
              <a:srgbClr val="123B2B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33272" y="4159069"/>
            <a:ext cx="218541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Modèle contractuel, responsabilités et limites de rôle.</a:t>
            </a:r>
            <a:endParaRPr lang="en-US" sz="1050" dirty="0">
              <a:latin typeface="Garamond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749040" y="3381829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FFFDF8"/>
          </a:solidFill>
          <a:ln w="12700">
            <a:solidFill>
              <a:srgbClr val="DFE7E1">
                <a:alpha val="9500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959352" y="3582997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Garamond"/>
              </a:rPr>
              <a:t>💼</a:t>
            </a:r>
            <a:endParaRPr lang="en-US" sz="1700" dirty="0">
              <a:latin typeface="Garamond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4343400" y="3582997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1712"/>
                </a:solidFill>
                <a:latin typeface="Garamond"/>
              </a:rPr>
              <a:t>Wallets / comptes</a:t>
            </a:r>
            <a:endParaRPr lang="en-US" sz="1500" dirty="0">
              <a:latin typeface="Garamond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3959352" y="4021909"/>
            <a:ext cx="384048" cy="32004"/>
          </a:xfrm>
          <a:prstGeom prst="rect">
            <a:avLst/>
          </a:prstGeom>
          <a:solidFill>
            <a:srgbClr val="8DFFD3"/>
          </a:solidFill>
          <a:ln w="12700">
            <a:solidFill>
              <a:srgbClr val="8DFFD3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959352" y="4159069"/>
            <a:ext cx="218541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Ouverture, tenue, plafonds et règles de fonctionnement.</a:t>
            </a:r>
            <a:endParaRPr lang="en-US" sz="1050" dirty="0">
              <a:latin typeface="Garamond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6675120" y="3381829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FFFDF8"/>
          </a:solidFill>
          <a:ln w="12700">
            <a:solidFill>
              <a:srgbClr val="DFE7E1">
                <a:alpha val="9500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885432" y="3582997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Garamond"/>
              </a:rPr>
              <a:t>🔁</a:t>
            </a:r>
            <a:endParaRPr lang="en-US" sz="1700" dirty="0">
              <a:latin typeface="Garamond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7269480" y="3582997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1712"/>
                </a:solidFill>
                <a:latin typeface="Garamond"/>
              </a:rPr>
              <a:t>API &amp; flux</a:t>
            </a:r>
            <a:endParaRPr lang="en-US" sz="1500" dirty="0">
              <a:latin typeface="Garamond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6885432" y="4021909"/>
            <a:ext cx="384048" cy="32004"/>
          </a:xfrm>
          <a:prstGeom prst="rect">
            <a:avLst/>
          </a:prstGeom>
          <a:solidFill>
            <a:srgbClr val="FFC323"/>
          </a:solidFill>
          <a:ln w="12700">
            <a:solidFill>
              <a:srgbClr val="FFC323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885432" y="4159069"/>
            <a:ext cx="218541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Paiements, webhooks, commissions et réconciliation.</a:t>
            </a:r>
            <a:endParaRPr lang="en-US" sz="1050" dirty="0">
              <a:latin typeface="Garamond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9601200" y="3381829"/>
            <a:ext cx="1783080" cy="1417320"/>
          </a:xfrm>
          <a:prstGeom prst="roundRect">
            <a:avLst>
              <a:gd name="adj" fmla="val 6452"/>
            </a:avLst>
          </a:prstGeom>
          <a:solidFill>
            <a:srgbClr val="FFFDF8"/>
          </a:solidFill>
          <a:ln w="12700">
            <a:solidFill>
              <a:srgbClr val="DFE7E1">
                <a:alpha val="9500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811512" y="3582997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Garamond"/>
              </a:rPr>
              <a:t>🚀</a:t>
            </a:r>
            <a:endParaRPr lang="en-US" sz="1700" dirty="0">
              <a:latin typeface="Garamond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10195560" y="3582997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1712"/>
                </a:solidFill>
                <a:latin typeface="Garamond"/>
              </a:rPr>
              <a:t>Pilote</a:t>
            </a:r>
            <a:endParaRPr lang="en-US" sz="1500" dirty="0">
              <a:latin typeface="Garamond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9811512" y="4021909"/>
            <a:ext cx="384048" cy="32004"/>
          </a:xfrm>
          <a:prstGeom prst="rect">
            <a:avLst/>
          </a:prstGeom>
          <a:solidFill>
            <a:srgbClr val="1C563E"/>
          </a:solidFill>
          <a:ln w="12700">
            <a:solidFill>
              <a:srgbClr val="1C563E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811512" y="4159069"/>
            <a:ext cx="136245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B786E"/>
                </a:solidFill>
                <a:latin typeface="Garamond"/>
              </a:rPr>
              <a:t>Périmètre, calendrier et critères de succès.</a:t>
            </a:r>
            <a:endParaRPr lang="en-US" sz="1050" dirty="0">
              <a:latin typeface="Garamond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658368" y="6473952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86E"/>
                </a:solidFill>
                <a:latin typeface="Garamond"/>
              </a:rPr>
              <a:t>© 2026 KOWO · contact@getkowo.com · getkowo.com</a:t>
            </a:r>
            <a:endParaRPr lang="en-US" sz="750" dirty="0">
              <a:latin typeface="Garamond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5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574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006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722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5438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154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870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658600" y="0"/>
            <a:ext cx="0" cy="6858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6858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20574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34290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8006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61722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256032"/>
            <a:ext cx="11384280" cy="576072"/>
          </a:xfrm>
          <a:prstGeom prst="roundRect">
            <a:avLst>
              <a:gd name="adj" fmla="val 12698"/>
            </a:avLst>
          </a:prstGeom>
          <a:solidFill>
            <a:srgbClr val="F6F1E7">
              <a:alpha val="94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32" name="Image 0" descr="/mnt/data/kowo-institutional-partnership-v2/assets/kowo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384048"/>
            <a:ext cx="292608" cy="29260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960120" y="39290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23B2B"/>
                </a:solidFill>
                <a:latin typeface="Garamond"/>
                <a:ea typeface="Aptos Display" pitchFamily="34" charset="-122"/>
                <a:cs typeface="Aptos Display" pitchFamily="34" charset="-120"/>
              </a:rPr>
              <a:t>KOWO</a:t>
            </a:r>
            <a:endParaRPr lang="en-US" sz="1000" dirty="0">
              <a:latin typeface="Garamond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8503920" y="3657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23B2B"/>
                </a:solidFill>
                <a:latin typeface="Garamond"/>
              </a:rPr>
              <a:t>Institutional Partnership Brief</a:t>
            </a:r>
            <a:endParaRPr lang="en-US" sz="800" dirty="0">
              <a:latin typeface="Garamond"/>
            </a:endParaRPr>
          </a:p>
        </p:txBody>
      </p:sp>
      <p:pic>
        <p:nvPicPr>
          <p:cNvPr id="35" name="Image 1" descr="/mnt/data/kowo-institutional-partnership-v2/assets/kowo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17320"/>
            <a:ext cx="868680" cy="86868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1848394" y="1721975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aramond"/>
              </a:rPr>
              <a:t>KOWO</a:t>
            </a:r>
            <a:endParaRPr lang="en-US" sz="2400" dirty="0">
              <a:latin typeface="Garamond"/>
            </a:endParaRPr>
          </a:p>
        </p:txBody>
      </p:sp>
      <p:sp>
        <p:nvSpPr>
          <p:cNvPr id="37" name="Text 33"/>
          <p:cNvSpPr/>
          <p:nvPr/>
        </p:nvSpPr>
        <p:spPr>
          <a:xfrm>
            <a:off x="822960" y="2606040"/>
            <a:ext cx="5852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Garamond"/>
              </a:rPr>
              <a:t>Construisons l’épargne communautaire numérique avec un partenaire réglementé de confiance.</a:t>
            </a:r>
            <a:endParaRPr lang="en-US" sz="3100" dirty="0">
              <a:latin typeface="Garamond"/>
            </a:endParaRPr>
          </a:p>
        </p:txBody>
      </p:sp>
      <p:sp>
        <p:nvSpPr>
          <p:cNvPr id="38" name="Shape 34"/>
          <p:cNvSpPr/>
          <p:nvPr/>
        </p:nvSpPr>
        <p:spPr>
          <a:xfrm>
            <a:off x="7406640" y="1828800"/>
            <a:ext cx="3474720" cy="2331720"/>
          </a:xfrm>
          <a:prstGeom prst="roundRect">
            <a:avLst>
              <a:gd name="adj" fmla="val 3922"/>
            </a:avLst>
          </a:prstGeom>
          <a:solidFill>
            <a:srgbClr val="1C563E"/>
          </a:solidFill>
          <a:ln w="12700">
            <a:solidFill>
              <a:srgbClr val="8DFFD3">
                <a:alpha val="30000"/>
              </a:srgbClr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772668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aramond"/>
              </a:rPr>
              <a:t>Fayçol SALAMI</a:t>
            </a:r>
            <a:endParaRPr lang="en-US" sz="1800" dirty="0">
              <a:latin typeface="Garamond"/>
            </a:endParaRPr>
          </a:p>
        </p:txBody>
      </p:sp>
      <p:sp>
        <p:nvSpPr>
          <p:cNvPr id="40" name="Text 36"/>
          <p:cNvSpPr/>
          <p:nvPr/>
        </p:nvSpPr>
        <p:spPr>
          <a:xfrm>
            <a:off x="7726680" y="260604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C7D8CF"/>
                </a:solidFill>
                <a:latin typeface="Garamond"/>
              </a:rPr>
              <a:t>Fondateur — KOWO SARL</a:t>
            </a:r>
            <a:endParaRPr lang="en-US" sz="1230" dirty="0">
              <a:latin typeface="Garamond"/>
            </a:endParaRPr>
          </a:p>
          <a:p>
            <a:pPr marL="0" indent="0">
              <a:buNone/>
            </a:pPr>
            <a:r>
              <a:rPr lang="en-US" sz="1230" dirty="0">
                <a:solidFill>
                  <a:srgbClr val="C7D8CF"/>
                </a:solidFill>
                <a:latin typeface="Garamond"/>
              </a:rPr>
              <a:t>Fondateur — YandaTech EI (France)</a:t>
            </a:r>
            <a:endParaRPr lang="en-US" sz="1230" dirty="0">
              <a:latin typeface="Garamond"/>
            </a:endParaRPr>
          </a:p>
          <a:p>
            <a:pPr marL="0" indent="0">
              <a:buNone/>
            </a:pPr>
            <a:endParaRPr lang="en-US" sz="1230" dirty="0">
              <a:latin typeface="Garamond"/>
            </a:endParaRPr>
          </a:p>
          <a:p>
            <a:pPr marL="0" indent="0">
              <a:buNone/>
            </a:pPr>
            <a:r>
              <a:rPr lang="en-US" sz="1230" dirty="0">
                <a:solidFill>
                  <a:srgbClr val="C7D8CF"/>
                </a:solidFill>
                <a:latin typeface="Garamond"/>
              </a:rPr>
              <a:t>contact@getkowo.com</a:t>
            </a:r>
            <a:endParaRPr lang="en-US" sz="1230" dirty="0">
              <a:latin typeface="Garamond"/>
            </a:endParaRPr>
          </a:p>
          <a:p>
            <a:pPr marL="0" indent="0">
              <a:buNone/>
            </a:pPr>
            <a:r>
              <a:rPr lang="en-US" sz="1230" dirty="0">
                <a:solidFill>
                  <a:srgbClr val="C7D8CF"/>
                </a:solidFill>
                <a:latin typeface="Garamond"/>
              </a:rPr>
              <a:t>faycol.salami@getkowo.com</a:t>
            </a:r>
            <a:endParaRPr lang="en-US" sz="1230" dirty="0">
              <a:latin typeface="Garamond"/>
            </a:endParaRPr>
          </a:p>
          <a:p>
            <a:pPr marL="0" indent="0">
              <a:buNone/>
            </a:pPr>
            <a:r>
              <a:rPr lang="en-US" sz="1230" dirty="0">
                <a:solidFill>
                  <a:srgbClr val="C7D8CF"/>
                </a:solidFill>
                <a:latin typeface="Garamond"/>
              </a:rPr>
              <a:t>www.getkowo.com</a:t>
            </a:r>
            <a:endParaRPr lang="en-US" sz="1230" dirty="0">
              <a:latin typeface="Garamond"/>
            </a:endParaRPr>
          </a:p>
        </p:txBody>
      </p:sp>
      <p:sp>
        <p:nvSpPr>
          <p:cNvPr id="41" name="Shape 37"/>
          <p:cNvSpPr/>
          <p:nvPr/>
        </p:nvSpPr>
        <p:spPr>
          <a:xfrm>
            <a:off x="822960" y="5349240"/>
            <a:ext cx="2926080" cy="347472"/>
          </a:xfrm>
          <a:prstGeom prst="roundRect">
            <a:avLst>
              <a:gd name="adj" fmla="val 13158"/>
            </a:avLst>
          </a:prstGeom>
          <a:solidFill>
            <a:srgbClr val="1C563E"/>
          </a:solidFill>
          <a:ln w="12700">
            <a:solidFill>
              <a:srgbClr val="8DFFD3">
                <a:alpha val="75000"/>
              </a:srgbClr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932688" y="5431536"/>
            <a:ext cx="2706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DFFD3"/>
                </a:solidFill>
                <a:latin typeface="Garamond"/>
              </a:rPr>
              <a:t>PARTNER PORTAL · GETKOWO.COM/PARTNERS</a:t>
            </a:r>
            <a:endParaRPr lang="en-US" sz="850" dirty="0">
              <a:latin typeface="Garamond"/>
            </a:endParaRPr>
          </a:p>
        </p:txBody>
      </p:sp>
      <p:sp>
        <p:nvSpPr>
          <p:cNvPr id="43" name="Text 39"/>
          <p:cNvSpPr/>
          <p:nvPr/>
        </p:nvSpPr>
        <p:spPr>
          <a:xfrm>
            <a:off x="658368" y="6473952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7AA"/>
                </a:solidFill>
                <a:latin typeface="Garamond"/>
              </a:rPr>
              <a:t>© 2026 KOWO · contact@getkowo.com · getkowo.com</a:t>
            </a:r>
            <a:endParaRPr lang="en-US" sz="750" dirty="0">
              <a:latin typeface="Garamon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Grand écran</PresentationFormat>
  <Paragraphs>0</Paragraphs>
  <Slides>13</Slides>
  <Notes>13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4" baseType="lpstr"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KOWO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KOWO Institutional Partnership Brief v2</dc:title>
  <dc:subject>Institutional Partnership Brief</dc:subject>
  <dc:creator>KOWO</dc:creator>
  <cp:lastModifiedBy>KOWO</cp:lastModifiedBy>
  <cp:revision>57</cp:revision>
  <dcterms:created xsi:type="dcterms:W3CDTF">2026-06-28T18:35:38Z</dcterms:created>
  <dcterms:modified xsi:type="dcterms:W3CDTF">2026-06-28T19:44:39Z</dcterms:modified>
</cp:coreProperties>
</file>